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in one sentence: finding the cheapest mix of solar PV, battery and supercapacitor that keeps a DC microgrid reliable over 20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parts quickly; spend most of the time on methodology and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a microgrid: local sources, storage and loads acting as one unit behind a single connection point. A university campus like IIT Guwahati is a classic example. Storage is the part this project focuses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classify: by bus (AC or DC) and by operating mode. This work studies a DC microgrid where storage alone must meet the reliability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figure: solar is a midday hump, load is nearly flat. Storage covers the hourly gap; fast fluctuations are a second, different problem — this sets up the case for two storage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devices are complementary. Batteries store a lot of energy cheaply but suffer from frequent cycling; supercapacitors deliver fast power and survive huge numbers of cycles but are expensive per kWh.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filter is the heart of a HESS. The cut-off frequency decides who does what — and therefore how big the supercapacitor must be and how hard the battery works. That trade-off is exactly what the optimiser explores.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Kumar et al. is the anchor paper: same site, same department, battery-only storage in HOMER. The HESS papers are about control rather than lifetime cost. Verify volume/page details of the three HESS papers before the final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gap in one breath, then the four objectives. Objective 4 — co-optimising the split frequency with the sizes — is the novel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unit connects to one DC bus through its own converter. The four sizing decisions are visible here: number of PV modules, battery energy, supercapacitor strings, and the filter cut-off inside the EMS. Fill in your bus voltage.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Solar data are hourly GHI and 2 m temperature from NASA POWER for 2023. The load shape is digitised from Fig. 5 of Kumar et al. Both come from the same location, which is why other public load datasets were rejected. Mention any scaling you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two raw inputs the simulator consumes. A heatmap (hour vs day of year) works well for GHI if you have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PV, battery and converter costs trace to CERC 2016 as used in Kumar et al. The real discount rate removes inflation because cash flows are in constant rupees. Fill in the supercapacitor datasheet and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simulator is the foundation: think of it as a function from a design to its cost and reliability. XGBoost is only there for speed. PSO searches the design space; the grid search checks that PSO finds the right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 the equations to match exactly what your simulator implements (derating, temperature model, charge/discharge efficiencies). The simulator is a function: give it a design, it returns LPSP and the SoC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timescale mismatch you resolved: hourly data cannot see transients, so the SC is sized analytically from a worst-case event, and its benefit enters the cost model through reduced battery wear.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cycles hurt far more than shallow ones; rainflow counting captures that from an irregular SoC signal. Mention the cycle-life data source you used for the lead-acid battery.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Nominal discount 10.70 % and inflation 5.71 % from CERC give a real rate of 4.72 %, used because all costs are in constant rupees. NPC is the single number the optimiser minimises.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decision variables, one objective, one reliability constraint. Fill in your bounds and PSO settings. The grid search is the trust check for PSO.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XGBoost as a speed tool, not an accuracy upgrade: the simulator is the ground truth, and the final optimum is always re-checked with the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trusting any optimum, show the simulator behaves physically. Replace the checks listed with the exact ones you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comparison. All three cases meet LPSP ≤ 1 %; the question is which does it most cheaply. Sanity-check NPC/LCOE against Kumar et al.’s off-grid range (LCOE about 12–18 Rs/kWh) if your system is islanded.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that PSO lands on (or below) the grid-search optimum, and how many evaluations each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supercapacitor absorbs the spike while battery power stays smooth. Right: a smoother SoC trace in Case C means fewer, shallower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supercapacitor pays for itself: fewer cycles, later replacements, lower replacement cost in NPC.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the money go, and how robust is the optimum? A U-shaped NPC curve over f_c is the visual proof that co-optimising the split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This one sentence is what the panel should remember. Replace the brackets with your Case A vs Case C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what was achieved and an honest scope note: no hardware in this 10-week project, so control and hardware validation are natural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volume, issue and page numbers for [4]–[6] on IEEE Xplore or the publisher site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Likely ones: why lead-acid not Li-ion, how the SC was priced, how the worst-case transient was chosen, and how accurate the surrogate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419100"/>
            <a:ext cx="9525000" cy="363207"/>
          </a:xfrm>
          <a:prstGeom prst="rect">
            <a:avLst/>
          </a:prstGeom>
          <a:noFill/>
          <a:ln/>
        </p:spPr>
        <p:txBody>
          <a:bodyPr wrap="square" lIns="0" tIns="0" rIns="0" bIns="0" rtlCol="0" anchor="t"/>
          <a:lstStyle>
            <a:lvl1pPr algn="l" indent="0" marL="0">
              <a:lnSpc>
                <a:spcPct val="115000"/>
              </a:lnSpc>
              <a:buNone/>
              <a:defRPr lang="en-US" sz="2600" dirty="0">
                <a:solidFill>
                  <a:srgbClr val="13233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609600" y="1087107"/>
            <a:ext cx="10769600" cy="4958093"/>
          </a:xfrm>
          <a:prstGeom prst="rect">
            <a:avLst/>
          </a:prstGeom>
          <a:noFill/>
          <a:ln/>
        </p:spPr>
        <p:txBody>
          <a:bodyPr wrap="square" lIns="0" tIns="0" rIns="0" bIns="0" rtlCol="0" anchor="t"/>
          <a:lstStyle>
            <a:lvl1pPr algn="l" indent="0" marL="0">
              <a:lnSpc>
                <a:spcPct val="140000"/>
              </a:lnSpc>
              <a:buNone/>
              <a:defRPr lang="en-US" sz="1600" dirty="0">
                <a:solidFill>
                  <a:srgbClr val="1323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419100"/>
            <a:ext cx="9525000" cy="363207"/>
          </a:xfrm>
          <a:prstGeom prst="rect">
            <a:avLst/>
          </a:prstGeom>
          <a:noFill/>
          <a:ln/>
        </p:spPr>
        <p:txBody>
          <a:bodyPr wrap="square" lIns="0" tIns="0" rIns="0" bIns="0" rtlCol="0" anchor="t"/>
          <a:lstStyle>
            <a:lvl1pPr algn="l" indent="0" marL="0">
              <a:lnSpc>
                <a:spcPct val="115000"/>
              </a:lnSpc>
              <a:buNone/>
              <a:defRPr lang="en-US" sz="2600" dirty="0">
                <a:solidFill>
                  <a:srgbClr val="13233A"/>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609600" y="1087107"/>
            <a:ext cx="10769600" cy="4958093"/>
          </a:xfrm>
          <a:prstGeom prst="rect">
            <a:avLst/>
          </a:prstGeom>
          <a:noFill/>
          <a:ln/>
        </p:spPr>
        <p:txBody>
          <a:bodyPr wrap="square" lIns="0" tIns="0" rIns="0" bIns="0" rtlCol="0" anchor="t"/>
          <a:lstStyle>
            <a:lvl1pPr algn="l" indent="0" marL="0">
              <a:lnSpc>
                <a:spcPct val="140000"/>
              </a:lnSpc>
              <a:buNone/>
              <a:defRPr lang="en-US" sz="1600" dirty="0">
                <a:solidFill>
                  <a:srgbClr val="1323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762000"/>
          </a:xfrm>
          <a:prstGeom prst="rect">
            <a:avLst/>
          </a:prstGeom>
          <a:solidFill>
            <a:srgbClr val="13233A"/>
          </a:solidFill>
          <a:ln/>
        </p:spPr>
      </p:sp>
      <p:sp>
        <p:nvSpPr>
          <p:cNvPr id="3" name="Shape 1"/>
          <p:cNvSpPr/>
          <p:nvPr/>
        </p:nvSpPr>
        <p:spPr>
          <a:xfrm>
            <a:off x="0" y="762000"/>
            <a:ext cx="12192000" cy="38100"/>
          </a:xfrm>
          <a:prstGeom prst="rect">
            <a:avLst/>
          </a:prstGeom>
          <a:solidFill>
            <a:srgbClr val="E8A33D"/>
          </a:solidFill>
          <a:ln/>
        </p:spPr>
      </p:sp>
      <p:sp>
        <p:nvSpPr>
          <p:cNvPr id="4" name="Text 2"/>
          <p:cNvSpPr/>
          <p:nvPr/>
        </p:nvSpPr>
        <p:spPr>
          <a:xfrm>
            <a:off x="654304" y="152400"/>
            <a:ext cx="10883392" cy="292100"/>
          </a:xfrm>
          <a:prstGeom prst="rect">
            <a:avLst/>
          </a:prstGeom>
          <a:noFill/>
          <a:ln/>
        </p:spPr>
        <p:txBody>
          <a:bodyPr wrap="square" lIns="0" tIns="0" rIns="0" bIns="0" rtlCol="0" anchor="t">
            <a:normAutofit/>
          </a:bodyPr>
          <a:lstStyle/>
          <a:p>
            <a:pPr algn="ctr" indent="0" marL="0">
              <a:lnSpc>
                <a:spcPts val="2100"/>
              </a:lnSpc>
              <a:buNone/>
            </a:pPr>
            <a:r>
              <a:rPr lang="en-US" sz="1500" b="1" spc="50" kern="0" dirty="0">
                <a:solidFill>
                  <a:srgbClr val="FFFFFF"/>
                </a:solidFill>
                <a:latin typeface="IBM Plex Sans" pitchFamily="34" charset="0"/>
                <a:ea typeface="IBM Plex Sans" pitchFamily="34" charset="-122"/>
                <a:cs typeface="IBM Plex Sans" pitchFamily="34" charset="-120"/>
              </a:rPr>
              <a:t>Indian Institute of Technology Guwahati</a:t>
            </a:r>
            <a:endParaRPr lang="en-US" sz="1500" dirty="0"/>
          </a:p>
        </p:txBody>
      </p:sp>
      <p:sp>
        <p:nvSpPr>
          <p:cNvPr id="5" name="Text 3"/>
          <p:cNvSpPr/>
          <p:nvPr/>
        </p:nvSpPr>
        <p:spPr>
          <a:xfrm>
            <a:off x="654304" y="431800"/>
            <a:ext cx="1088339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9D4DF"/>
                </a:solidFill>
                <a:latin typeface="IBM Plex Sans" pitchFamily="34" charset="0"/>
                <a:ea typeface="IBM Plex Sans" pitchFamily="34" charset="-122"/>
                <a:cs typeface="IBM Plex Sans" pitchFamily="34" charset="-120"/>
              </a:rPr>
              <a:t>Department of Energy Engineering</a:t>
            </a:r>
            <a:endParaRPr lang="en-US" sz="1200" dirty="0"/>
          </a:p>
        </p:txBody>
      </p:sp>
      <p:sp>
        <p:nvSpPr>
          <p:cNvPr id="6" name="Shape 4"/>
          <p:cNvSpPr/>
          <p:nvPr/>
        </p:nvSpPr>
        <p:spPr>
          <a:xfrm>
            <a:off x="5626100" y="1123950"/>
            <a:ext cx="939800" cy="939800"/>
          </a:xfrm>
          <a:prstGeom prst="roundRect">
            <a:avLst>
              <a:gd name="adj" fmla="val 50000"/>
            </a:avLst>
          </a:prstGeom>
          <a:solidFill>
            <a:srgbClr val="F2F4F7"/>
          </a:solidFill>
          <a:ln w="12700">
            <a:solidFill>
              <a:srgbClr val="8A9AAB"/>
            </a:solidFill>
            <a:prstDash val="dash"/>
          </a:ln>
        </p:spPr>
      </p:sp>
      <p:sp>
        <p:nvSpPr>
          <p:cNvPr id="7" name="Text 5"/>
          <p:cNvSpPr/>
          <p:nvPr/>
        </p:nvSpPr>
        <p:spPr>
          <a:xfrm>
            <a:off x="3778647" y="2648612"/>
            <a:ext cx="4634706" cy="256514"/>
          </a:xfrm>
          <a:prstGeom prst="rect">
            <a:avLst/>
          </a:prstGeom>
          <a:noFill/>
          <a:ln/>
        </p:spPr>
        <p:txBody>
          <a:bodyPr wrap="square" lIns="0" tIns="0" rIns="0" bIns="0" rtlCol="0" anchor="t">
            <a:normAutofit/>
          </a:bodyPr>
          <a:lstStyle/>
          <a:p>
            <a:pPr algn="ctr" indent="0" marL="0">
              <a:lnSpc>
                <a:spcPts val="1820"/>
              </a:lnSpc>
              <a:buNone/>
            </a:pPr>
            <a:r>
              <a:rPr lang="en-US" sz="1300" b="1" spc="150" kern="0" dirty="0">
                <a:solidFill>
                  <a:srgbClr val="2E6F95"/>
                </a:solidFill>
                <a:latin typeface="IBM Plex Sans" pitchFamily="34" charset="0"/>
                <a:ea typeface="IBM Plex Sans" pitchFamily="34" charset="-122"/>
                <a:cs typeface="IBM Plex Sans" pitchFamily="34" charset="-120"/>
              </a:rPr>
              <a:t>B.TECH PROJECT · FINAL PRESENTATION</a:t>
            </a:r>
            <a:endParaRPr lang="en-US" sz="1300" dirty="0"/>
          </a:p>
        </p:txBody>
      </p:sp>
      <p:sp>
        <p:nvSpPr>
          <p:cNvPr id="8" name="Text 6"/>
          <p:cNvSpPr/>
          <p:nvPr>
            <p:ph type="title"/>
          </p:nvPr>
        </p:nvSpPr>
        <p:spPr>
          <a:xfrm>
            <a:off x="1190625" y="3006725"/>
            <a:ext cx="9810750" cy="1106355"/>
          </a:xfrm>
          <a:prstGeom prst="rect">
            <a:avLst/>
          </a:prstGeom>
          <a:noFill/>
          <a:ln/>
        </p:spPr>
        <p:txBody>
          <a:bodyPr wrap="square" lIns="0" tIns="0" rIns="0" bIns="0" rtlCol="0" anchor="t">
            <a:normAutofit/>
          </a:bodyPr>
          <a:lstStyle/>
          <a:p>
            <a:pPr algn="ctr" indent="0" marL="0">
              <a:lnSpc>
                <a:spcPts val="4256"/>
              </a:lnSpc>
              <a:buNone/>
            </a:pPr>
            <a:r>
              <a:rPr lang="en-US" sz="3800" b="1" i="0" dirty="0">
                <a:solidFill>
                  <a:srgbClr val="13233A"/>
                </a:solidFill>
                <a:latin typeface="IBM Plex Sans" pitchFamily="34" charset="0"/>
                <a:ea typeface="IBM Plex Sans" pitchFamily="34" charset="-122"/>
                <a:cs typeface="IBM Plex Sans" pitchFamily="34" charset="-120"/>
              </a:rPr>
              <a:t>Hybrid Energy Storage Application in Microgrid</a:t>
            </a:r>
            <a:endParaRPr lang="en-US" sz="3800" dirty="0"/>
          </a:p>
        </p:txBody>
      </p:sp>
      <p:sp>
        <p:nvSpPr>
          <p:cNvPr id="9" name="Text 7"/>
          <p:cNvSpPr/>
          <p:nvPr/>
        </p:nvSpPr>
        <p:spPr>
          <a:xfrm>
            <a:off x="1517650" y="4214680"/>
            <a:ext cx="9156700" cy="299707"/>
          </a:xfrm>
          <a:prstGeom prst="rect">
            <a:avLst/>
          </a:prstGeom>
          <a:noFill/>
          <a:ln/>
        </p:spPr>
        <p:txBody>
          <a:bodyPr wrap="square" lIns="0" tIns="0" rIns="0" bIns="0" rtlCol="0" anchor="t">
            <a:normAutofit/>
          </a:bodyPr>
          <a:lstStyle/>
          <a:p>
            <a:pPr algn="ctr"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Optimal cost sizing of a PV–battery–supercapacitor HESS for a DC microgrid</a:t>
            </a:r>
            <a:endParaRPr lang="en-US" sz="1600" dirty="0"/>
          </a:p>
        </p:txBody>
      </p:sp>
      <p:sp>
        <p:nvSpPr>
          <p:cNvPr id="10" name="Shape 8"/>
          <p:cNvSpPr/>
          <p:nvPr/>
        </p:nvSpPr>
        <p:spPr>
          <a:xfrm>
            <a:off x="2286000" y="5073783"/>
            <a:ext cx="7620000" cy="0"/>
          </a:xfrm>
          <a:prstGeom prst="line">
            <a:avLst/>
          </a:prstGeom>
          <a:noFill/>
          <a:ln w="12700">
            <a:solidFill>
              <a:srgbClr val="D5DBE1"/>
            </a:solidFill>
            <a:prstDash val="solid"/>
          </a:ln>
        </p:spPr>
      </p:sp>
      <p:sp>
        <p:nvSpPr>
          <p:cNvPr id="11" name="Text 9"/>
          <p:cNvSpPr/>
          <p:nvPr/>
        </p:nvSpPr>
        <p:spPr>
          <a:xfrm>
            <a:off x="3309065" y="5257933"/>
            <a:ext cx="1459071" cy="238720"/>
          </a:xfrm>
          <a:prstGeom prst="rect">
            <a:avLst/>
          </a:prstGeom>
          <a:noFill/>
          <a:ln/>
        </p:spPr>
        <p:txBody>
          <a:bodyPr wrap="square" lIns="0" tIns="0" rIns="0" bIns="0" rtlCol="0" anchor="t">
            <a:normAutofit/>
          </a:bodyPr>
          <a:lstStyle/>
          <a:p>
            <a:pPr algn="ctr" indent="0" marL="0">
              <a:lnSpc>
                <a:spcPts val="1680"/>
              </a:lnSpc>
              <a:buNone/>
            </a:pPr>
            <a:r>
              <a:rPr lang="en-US" sz="1200" spc="100" kern="0" dirty="0">
                <a:solidFill>
                  <a:srgbClr val="5F6B78"/>
                </a:solidFill>
                <a:latin typeface="IBM Plex Sans" pitchFamily="34" charset="0"/>
                <a:ea typeface="IBM Plex Sans" pitchFamily="34" charset="-122"/>
                <a:cs typeface="IBM Plex Sans" pitchFamily="34" charset="-120"/>
              </a:rPr>
              <a:t>PRESENTED BY</a:t>
            </a:r>
            <a:endParaRPr lang="en-US" sz="1200" dirty="0"/>
          </a:p>
        </p:txBody>
      </p:sp>
      <p:sp>
        <p:nvSpPr>
          <p:cNvPr id="12" name="Text 10"/>
          <p:cNvSpPr/>
          <p:nvPr/>
        </p:nvSpPr>
        <p:spPr>
          <a:xfrm>
            <a:off x="3559023" y="5509353"/>
            <a:ext cx="959088" cy="309827"/>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3233A"/>
                </a:solidFill>
                <a:latin typeface="IBM Plex Sans" pitchFamily="34" charset="0"/>
                <a:ea typeface="IBM Plex Sans" pitchFamily="34" charset="-122"/>
                <a:cs typeface="IBM Plex Sans" pitchFamily="34" charset="-120"/>
              </a:rPr>
              <a:t>Amit Raj</a:t>
            </a:r>
            <a:endParaRPr lang="en-US" sz="1600" dirty="0"/>
          </a:p>
        </p:txBody>
      </p:sp>
      <p:sp>
        <p:nvSpPr>
          <p:cNvPr id="13" name="Text 11"/>
          <p:cNvSpPr/>
          <p:nvPr/>
        </p:nvSpPr>
        <p:spPr>
          <a:xfrm>
            <a:off x="3537585" y="5831880"/>
            <a:ext cx="100203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Roll No. [__]</a:t>
            </a:r>
            <a:endParaRPr lang="en-US" sz="1200" dirty="0"/>
          </a:p>
        </p:txBody>
      </p:sp>
      <p:sp>
        <p:nvSpPr>
          <p:cNvPr id="14" name="Text 12"/>
          <p:cNvSpPr/>
          <p:nvPr/>
        </p:nvSpPr>
        <p:spPr>
          <a:xfrm>
            <a:off x="6886900" y="5257933"/>
            <a:ext cx="2532936" cy="238720"/>
          </a:xfrm>
          <a:prstGeom prst="rect">
            <a:avLst/>
          </a:prstGeom>
          <a:noFill/>
          <a:ln/>
        </p:spPr>
        <p:txBody>
          <a:bodyPr wrap="square" lIns="0" tIns="0" rIns="0" bIns="0" rtlCol="0" anchor="t">
            <a:normAutofit/>
          </a:bodyPr>
          <a:lstStyle/>
          <a:p>
            <a:pPr algn="ctr" indent="0" marL="0">
              <a:lnSpc>
                <a:spcPts val="1680"/>
              </a:lnSpc>
              <a:buNone/>
            </a:pPr>
            <a:r>
              <a:rPr lang="en-US" sz="1200" spc="100" kern="0" dirty="0">
                <a:solidFill>
                  <a:srgbClr val="5F6B78"/>
                </a:solidFill>
                <a:latin typeface="IBM Plex Sans" pitchFamily="34" charset="0"/>
                <a:ea typeface="IBM Plex Sans" pitchFamily="34" charset="-122"/>
                <a:cs typeface="IBM Plex Sans" pitchFamily="34" charset="-120"/>
              </a:rPr>
              <a:t>UNDER THE GUIDANCE OF</a:t>
            </a:r>
            <a:endParaRPr lang="en-US" sz="1200" dirty="0"/>
          </a:p>
        </p:txBody>
      </p:sp>
      <p:sp>
        <p:nvSpPr>
          <p:cNvPr id="15" name="Text 13"/>
          <p:cNvSpPr/>
          <p:nvPr/>
        </p:nvSpPr>
        <p:spPr>
          <a:xfrm>
            <a:off x="7277504" y="5509353"/>
            <a:ext cx="1751727" cy="309827"/>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3233A"/>
                </a:solidFill>
                <a:latin typeface="IBM Plex Sans" pitchFamily="34" charset="0"/>
                <a:ea typeface="IBM Plex Sans" pitchFamily="34" charset="-122"/>
                <a:cs typeface="IBM Plex Sans" pitchFamily="34" charset="-120"/>
              </a:rPr>
              <a:t>Kuldeep Kumar</a:t>
            </a:r>
            <a:endParaRPr lang="en-US" sz="1600" dirty="0"/>
          </a:p>
        </p:txBody>
      </p:sp>
      <p:sp>
        <p:nvSpPr>
          <p:cNvPr id="16" name="Text 14"/>
          <p:cNvSpPr/>
          <p:nvPr/>
        </p:nvSpPr>
        <p:spPr>
          <a:xfrm>
            <a:off x="7592934" y="5831880"/>
            <a:ext cx="112093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[Month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ROADMAP</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Outline of the talk</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Shape 5"/>
          <p:cNvSpPr/>
          <p:nvPr/>
        </p:nvSpPr>
        <p:spPr>
          <a:xfrm>
            <a:off x="615950" y="1276350"/>
            <a:ext cx="3509433" cy="1627981"/>
          </a:xfrm>
          <a:prstGeom prst="roundRect">
            <a:avLst>
              <a:gd name="adj" fmla="val 5071"/>
            </a:avLst>
          </a:prstGeom>
          <a:solidFill>
            <a:srgbClr val="FBFBF8"/>
          </a:solidFill>
          <a:ln w="12700">
            <a:solidFill>
              <a:srgbClr val="D5DBE1"/>
            </a:solidFill>
            <a:prstDash val="solid"/>
          </a:ln>
        </p:spPr>
      </p:sp>
      <p:sp>
        <p:nvSpPr>
          <p:cNvPr id="8" name="Text 6"/>
          <p:cNvSpPr/>
          <p:nvPr/>
        </p:nvSpPr>
        <p:spPr>
          <a:xfrm>
            <a:off x="825500" y="1485900"/>
            <a:ext cx="3183043" cy="360627"/>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E6F95"/>
                </a:solidFill>
                <a:latin typeface="Source Serif 4" pitchFamily="18" charset="0"/>
                <a:ea typeface="Source Serif 4" pitchFamily="18" charset="-122"/>
                <a:cs typeface="Source Serif 4" pitchFamily="18" charset="-120"/>
              </a:rPr>
              <a:t>01</a:t>
            </a:r>
            <a:endParaRPr lang="en-US" sz="2400" dirty="0"/>
          </a:p>
        </p:txBody>
      </p:sp>
      <p:sp>
        <p:nvSpPr>
          <p:cNvPr id="9" name="Text 7"/>
          <p:cNvSpPr/>
          <p:nvPr/>
        </p:nvSpPr>
        <p:spPr>
          <a:xfrm>
            <a:off x="825500" y="1897328"/>
            <a:ext cx="318304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33A"/>
                </a:solidFill>
                <a:latin typeface="IBM Plex Sans" pitchFamily="34" charset="0"/>
                <a:ea typeface="IBM Plex Sans" pitchFamily="34" charset="-122"/>
                <a:cs typeface="IBM Plex Sans" pitchFamily="34" charset="-120"/>
              </a:rPr>
              <a:t>Background</a:t>
            </a:r>
            <a:endParaRPr lang="en-US" sz="1700" dirty="0"/>
          </a:p>
        </p:txBody>
      </p:sp>
      <p:sp>
        <p:nvSpPr>
          <p:cNvPr id="10" name="Text 8"/>
          <p:cNvSpPr/>
          <p:nvPr/>
        </p:nvSpPr>
        <p:spPr>
          <a:xfrm>
            <a:off x="825500" y="2232554"/>
            <a:ext cx="3183043"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Microgrids, why they need storage, battery vs supercapacitor</a:t>
            </a:r>
            <a:endParaRPr lang="en-US" sz="1300" dirty="0"/>
          </a:p>
        </p:txBody>
      </p:sp>
      <p:sp>
        <p:nvSpPr>
          <p:cNvPr id="11" name="Shape 9"/>
          <p:cNvSpPr/>
          <p:nvPr/>
        </p:nvSpPr>
        <p:spPr>
          <a:xfrm>
            <a:off x="4341283" y="1276350"/>
            <a:ext cx="3509433" cy="1627981"/>
          </a:xfrm>
          <a:prstGeom prst="roundRect">
            <a:avLst>
              <a:gd name="adj" fmla="val 5071"/>
            </a:avLst>
          </a:prstGeom>
          <a:solidFill>
            <a:srgbClr val="FBFBF8"/>
          </a:solidFill>
          <a:ln w="12700">
            <a:solidFill>
              <a:srgbClr val="D5DBE1"/>
            </a:solidFill>
            <a:prstDash val="solid"/>
          </a:ln>
        </p:spPr>
      </p:sp>
      <p:sp>
        <p:nvSpPr>
          <p:cNvPr id="12" name="Text 10"/>
          <p:cNvSpPr/>
          <p:nvPr/>
        </p:nvSpPr>
        <p:spPr>
          <a:xfrm>
            <a:off x="4550833" y="1485900"/>
            <a:ext cx="3183043" cy="360627"/>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E6F95"/>
                </a:solidFill>
                <a:latin typeface="Source Serif 4" pitchFamily="18" charset="0"/>
                <a:ea typeface="Source Serif 4" pitchFamily="18" charset="-122"/>
                <a:cs typeface="Source Serif 4" pitchFamily="18" charset="-120"/>
              </a:rPr>
              <a:t>02</a:t>
            </a:r>
            <a:endParaRPr lang="en-US" sz="2400" dirty="0"/>
          </a:p>
        </p:txBody>
      </p:sp>
      <p:sp>
        <p:nvSpPr>
          <p:cNvPr id="13" name="Text 11"/>
          <p:cNvSpPr/>
          <p:nvPr/>
        </p:nvSpPr>
        <p:spPr>
          <a:xfrm>
            <a:off x="4550833" y="1897328"/>
            <a:ext cx="318304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33A"/>
                </a:solidFill>
                <a:latin typeface="IBM Plex Sans" pitchFamily="34" charset="0"/>
                <a:ea typeface="IBM Plex Sans" pitchFamily="34" charset="-122"/>
                <a:cs typeface="IBM Plex Sans" pitchFamily="34" charset="-120"/>
              </a:rPr>
              <a:t>Problem</a:t>
            </a:r>
            <a:endParaRPr lang="en-US" sz="1700" dirty="0"/>
          </a:p>
        </p:txBody>
      </p:sp>
      <p:sp>
        <p:nvSpPr>
          <p:cNvPr id="14" name="Text 12"/>
          <p:cNvSpPr/>
          <p:nvPr/>
        </p:nvSpPr>
        <p:spPr>
          <a:xfrm>
            <a:off x="4550833" y="2232554"/>
            <a:ext cx="3183043"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Literature, research gap, objectives and system architecture</a:t>
            </a:r>
            <a:endParaRPr lang="en-US" sz="1300" dirty="0"/>
          </a:p>
        </p:txBody>
      </p:sp>
      <p:sp>
        <p:nvSpPr>
          <p:cNvPr id="15" name="Shape 13"/>
          <p:cNvSpPr/>
          <p:nvPr/>
        </p:nvSpPr>
        <p:spPr>
          <a:xfrm>
            <a:off x="8066617" y="1276350"/>
            <a:ext cx="3509433" cy="1627981"/>
          </a:xfrm>
          <a:prstGeom prst="roundRect">
            <a:avLst>
              <a:gd name="adj" fmla="val 5071"/>
            </a:avLst>
          </a:prstGeom>
          <a:solidFill>
            <a:srgbClr val="FBFBF8"/>
          </a:solidFill>
          <a:ln w="12700">
            <a:solidFill>
              <a:srgbClr val="D5DBE1"/>
            </a:solidFill>
            <a:prstDash val="solid"/>
          </a:ln>
        </p:spPr>
      </p:sp>
      <p:sp>
        <p:nvSpPr>
          <p:cNvPr id="16" name="Text 14"/>
          <p:cNvSpPr/>
          <p:nvPr/>
        </p:nvSpPr>
        <p:spPr>
          <a:xfrm>
            <a:off x="8276167" y="1485900"/>
            <a:ext cx="3183043" cy="360627"/>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E6F95"/>
                </a:solidFill>
                <a:latin typeface="Source Serif 4" pitchFamily="18" charset="0"/>
                <a:ea typeface="Source Serif 4" pitchFamily="18" charset="-122"/>
                <a:cs typeface="Source Serif 4" pitchFamily="18" charset="-120"/>
              </a:rPr>
              <a:t>03</a:t>
            </a:r>
            <a:endParaRPr lang="en-US" sz="2400" dirty="0"/>
          </a:p>
        </p:txBody>
      </p:sp>
      <p:sp>
        <p:nvSpPr>
          <p:cNvPr id="17" name="Text 15"/>
          <p:cNvSpPr/>
          <p:nvPr/>
        </p:nvSpPr>
        <p:spPr>
          <a:xfrm>
            <a:off x="8276167" y="1897328"/>
            <a:ext cx="318304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33A"/>
                </a:solidFill>
                <a:latin typeface="IBM Plex Sans" pitchFamily="34" charset="0"/>
                <a:ea typeface="IBM Plex Sans" pitchFamily="34" charset="-122"/>
                <a:cs typeface="IBM Plex Sans" pitchFamily="34" charset="-120"/>
              </a:rPr>
              <a:t>Data</a:t>
            </a:r>
            <a:endParaRPr lang="en-US" sz="1700" dirty="0"/>
          </a:p>
        </p:txBody>
      </p:sp>
      <p:sp>
        <p:nvSpPr>
          <p:cNvPr id="18" name="Text 16"/>
          <p:cNvSpPr/>
          <p:nvPr/>
        </p:nvSpPr>
        <p:spPr>
          <a:xfrm>
            <a:off x="8276167" y="2232554"/>
            <a:ext cx="3183043"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IIT Guwahati solar resource, campus load and cost inputs</a:t>
            </a:r>
            <a:endParaRPr lang="en-US" sz="1300" dirty="0"/>
          </a:p>
        </p:txBody>
      </p:sp>
      <p:sp>
        <p:nvSpPr>
          <p:cNvPr id="19" name="Shape 17"/>
          <p:cNvSpPr/>
          <p:nvPr/>
        </p:nvSpPr>
        <p:spPr>
          <a:xfrm>
            <a:off x="615950" y="3120231"/>
            <a:ext cx="3509433" cy="1627981"/>
          </a:xfrm>
          <a:prstGeom prst="roundRect">
            <a:avLst>
              <a:gd name="adj" fmla="val 5071"/>
            </a:avLst>
          </a:prstGeom>
          <a:solidFill>
            <a:srgbClr val="FBFBF8"/>
          </a:solidFill>
          <a:ln w="12700">
            <a:solidFill>
              <a:srgbClr val="D5DBE1"/>
            </a:solidFill>
            <a:prstDash val="solid"/>
          </a:ln>
        </p:spPr>
      </p:sp>
      <p:sp>
        <p:nvSpPr>
          <p:cNvPr id="20" name="Text 18"/>
          <p:cNvSpPr/>
          <p:nvPr/>
        </p:nvSpPr>
        <p:spPr>
          <a:xfrm>
            <a:off x="825500" y="3329781"/>
            <a:ext cx="3183043" cy="360627"/>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E6F95"/>
                </a:solidFill>
                <a:latin typeface="Source Serif 4" pitchFamily="18" charset="0"/>
                <a:ea typeface="Source Serif 4" pitchFamily="18" charset="-122"/>
                <a:cs typeface="Source Serif 4" pitchFamily="18" charset="-120"/>
              </a:rPr>
              <a:t>04</a:t>
            </a:r>
            <a:endParaRPr lang="en-US" sz="2400" dirty="0"/>
          </a:p>
        </p:txBody>
      </p:sp>
      <p:sp>
        <p:nvSpPr>
          <p:cNvPr id="21" name="Text 19"/>
          <p:cNvSpPr/>
          <p:nvPr/>
        </p:nvSpPr>
        <p:spPr>
          <a:xfrm>
            <a:off x="825500" y="3741209"/>
            <a:ext cx="318304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33A"/>
                </a:solidFill>
                <a:latin typeface="IBM Plex Sans" pitchFamily="34" charset="0"/>
                <a:ea typeface="IBM Plex Sans" pitchFamily="34" charset="-122"/>
                <a:cs typeface="IBM Plex Sans" pitchFamily="34" charset="-120"/>
              </a:rPr>
              <a:t>Methodology</a:t>
            </a:r>
            <a:endParaRPr lang="en-US" sz="1700" dirty="0"/>
          </a:p>
        </p:txBody>
      </p:sp>
      <p:sp>
        <p:nvSpPr>
          <p:cNvPr id="22" name="Text 20"/>
          <p:cNvSpPr/>
          <p:nvPr/>
        </p:nvSpPr>
        <p:spPr>
          <a:xfrm>
            <a:off x="825500" y="4076436"/>
            <a:ext cx="3183043"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Simulator, degradation, NPC, PSO and the XGBoost surrogate</a:t>
            </a:r>
            <a:endParaRPr lang="en-US" sz="1300" dirty="0"/>
          </a:p>
        </p:txBody>
      </p:sp>
      <p:sp>
        <p:nvSpPr>
          <p:cNvPr id="23" name="Shape 21"/>
          <p:cNvSpPr/>
          <p:nvPr/>
        </p:nvSpPr>
        <p:spPr>
          <a:xfrm>
            <a:off x="4341283" y="3120231"/>
            <a:ext cx="3509433" cy="1627981"/>
          </a:xfrm>
          <a:prstGeom prst="roundRect">
            <a:avLst>
              <a:gd name="adj" fmla="val 5071"/>
            </a:avLst>
          </a:prstGeom>
          <a:solidFill>
            <a:srgbClr val="FBFBF8"/>
          </a:solidFill>
          <a:ln w="12700">
            <a:solidFill>
              <a:srgbClr val="D5DBE1"/>
            </a:solidFill>
            <a:prstDash val="solid"/>
          </a:ln>
        </p:spPr>
      </p:sp>
      <p:sp>
        <p:nvSpPr>
          <p:cNvPr id="24" name="Text 22"/>
          <p:cNvSpPr/>
          <p:nvPr/>
        </p:nvSpPr>
        <p:spPr>
          <a:xfrm>
            <a:off x="4550833" y="3329781"/>
            <a:ext cx="3183043" cy="360627"/>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E6F95"/>
                </a:solidFill>
                <a:latin typeface="Source Serif 4" pitchFamily="18" charset="0"/>
                <a:ea typeface="Source Serif 4" pitchFamily="18" charset="-122"/>
                <a:cs typeface="Source Serif 4" pitchFamily="18" charset="-120"/>
              </a:rPr>
              <a:t>05</a:t>
            </a:r>
            <a:endParaRPr lang="en-US" sz="2400" dirty="0"/>
          </a:p>
        </p:txBody>
      </p:sp>
      <p:sp>
        <p:nvSpPr>
          <p:cNvPr id="25" name="Text 23"/>
          <p:cNvSpPr/>
          <p:nvPr/>
        </p:nvSpPr>
        <p:spPr>
          <a:xfrm>
            <a:off x="4550833" y="3741209"/>
            <a:ext cx="318304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33A"/>
                </a:solidFill>
                <a:latin typeface="IBM Plex Sans" pitchFamily="34" charset="0"/>
                <a:ea typeface="IBM Plex Sans" pitchFamily="34" charset="-122"/>
                <a:cs typeface="IBM Plex Sans" pitchFamily="34" charset="-120"/>
              </a:rPr>
              <a:t>Results</a:t>
            </a:r>
            <a:endParaRPr lang="en-US" sz="1700" dirty="0"/>
          </a:p>
        </p:txBody>
      </p:sp>
      <p:sp>
        <p:nvSpPr>
          <p:cNvPr id="26" name="Text 24"/>
          <p:cNvSpPr/>
          <p:nvPr/>
        </p:nvSpPr>
        <p:spPr>
          <a:xfrm>
            <a:off x="4550833" y="4076436"/>
            <a:ext cx="3183043"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Cases A, B and C compared on cost, reliability and battery life</a:t>
            </a:r>
            <a:endParaRPr lang="en-US" sz="1300" dirty="0"/>
          </a:p>
        </p:txBody>
      </p:sp>
      <p:sp>
        <p:nvSpPr>
          <p:cNvPr id="27" name="Shape 25"/>
          <p:cNvSpPr/>
          <p:nvPr/>
        </p:nvSpPr>
        <p:spPr>
          <a:xfrm>
            <a:off x="8066617" y="3120231"/>
            <a:ext cx="3509433" cy="1627981"/>
          </a:xfrm>
          <a:prstGeom prst="roundRect">
            <a:avLst>
              <a:gd name="adj" fmla="val 5071"/>
            </a:avLst>
          </a:prstGeom>
          <a:solidFill>
            <a:srgbClr val="FBFBF8"/>
          </a:solidFill>
          <a:ln w="12700">
            <a:solidFill>
              <a:srgbClr val="D5DBE1"/>
            </a:solidFill>
            <a:prstDash val="solid"/>
          </a:ln>
        </p:spPr>
      </p:sp>
      <p:sp>
        <p:nvSpPr>
          <p:cNvPr id="28" name="Text 26"/>
          <p:cNvSpPr/>
          <p:nvPr/>
        </p:nvSpPr>
        <p:spPr>
          <a:xfrm>
            <a:off x="8276167" y="3329781"/>
            <a:ext cx="3183043" cy="360627"/>
          </a:xfrm>
          <a:prstGeom prst="rect">
            <a:avLst/>
          </a:prstGeom>
          <a:noFill/>
          <a:ln/>
        </p:spPr>
        <p:txBody>
          <a:bodyPr wrap="square" lIns="0" tIns="0" rIns="0" bIns="0" rtlCol="0" anchor="t">
            <a:normAutofit/>
          </a:bodyPr>
          <a:lstStyle/>
          <a:p>
            <a:pPr algn="l" indent="0" marL="0">
              <a:lnSpc>
                <a:spcPts val="2640"/>
              </a:lnSpc>
              <a:buNone/>
            </a:pPr>
            <a:r>
              <a:rPr lang="en-US" sz="2400" b="1" dirty="0">
                <a:solidFill>
                  <a:srgbClr val="2E6F95"/>
                </a:solidFill>
                <a:latin typeface="Source Serif 4" pitchFamily="18" charset="0"/>
                <a:ea typeface="Source Serif 4" pitchFamily="18" charset="-122"/>
                <a:cs typeface="Source Serif 4" pitchFamily="18" charset="-120"/>
              </a:rPr>
              <a:t>06</a:t>
            </a:r>
            <a:endParaRPr lang="en-US" sz="2400" dirty="0"/>
          </a:p>
        </p:txBody>
      </p:sp>
      <p:sp>
        <p:nvSpPr>
          <p:cNvPr id="29" name="Text 27"/>
          <p:cNvSpPr/>
          <p:nvPr/>
        </p:nvSpPr>
        <p:spPr>
          <a:xfrm>
            <a:off x="8276167" y="3741209"/>
            <a:ext cx="3183043"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33A"/>
                </a:solidFill>
                <a:latin typeface="IBM Plex Sans" pitchFamily="34" charset="0"/>
                <a:ea typeface="IBM Plex Sans" pitchFamily="34" charset="-122"/>
                <a:cs typeface="IBM Plex Sans" pitchFamily="34" charset="-120"/>
              </a:rPr>
              <a:t>Conclusion</a:t>
            </a:r>
            <a:endParaRPr lang="en-US" sz="1700" dirty="0"/>
          </a:p>
        </p:txBody>
      </p:sp>
      <p:sp>
        <p:nvSpPr>
          <p:cNvPr id="30" name="Text 28"/>
          <p:cNvSpPr/>
          <p:nvPr/>
        </p:nvSpPr>
        <p:spPr>
          <a:xfrm>
            <a:off x="8276167" y="4076436"/>
            <a:ext cx="318304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Key findings, limitations and future work</a:t>
            </a:r>
            <a:endParaRPr lang="en-US" sz="1300" dirty="0"/>
          </a:p>
        </p:txBody>
      </p:sp>
      <p:sp>
        <p:nvSpPr>
          <p:cNvPr id="31" name="Shape 29"/>
          <p:cNvSpPr/>
          <p:nvPr/>
        </p:nvSpPr>
        <p:spPr>
          <a:xfrm>
            <a:off x="609600" y="6210300"/>
            <a:ext cx="10972800" cy="12700"/>
          </a:xfrm>
          <a:prstGeom prst="rect">
            <a:avLst/>
          </a:prstGeom>
          <a:solidFill>
            <a:srgbClr val="D5DBE1"/>
          </a:solidFill>
          <a:ln/>
        </p:spPr>
      </p:sp>
      <p:sp>
        <p:nvSpPr>
          <p:cNvPr id="32" name="Text 30"/>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33" name="Text 31"/>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2 / 30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INTRODUCTION</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What is a microgrid?</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Text 5"/>
          <p:cNvSpPr/>
          <p:nvPr/>
        </p:nvSpPr>
        <p:spPr>
          <a:xfrm>
            <a:off x="609600" y="1270000"/>
            <a:ext cx="3662680" cy="13589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3233A"/>
                </a:solidFill>
                <a:latin typeface="IBM Plex Sans" pitchFamily="34" charset="0"/>
                <a:ea typeface="IBM Plex Sans" pitchFamily="34" charset="-122"/>
                <a:cs typeface="IBM Plex Sans" pitchFamily="34" charset="-120"/>
              </a:rPr>
              <a:t>A microgrid is a </a:t>
            </a:r>
            <a:r>
              <a:rPr lang="en-US" sz="1500" b="1" dirty="0">
                <a:solidFill>
                  <a:srgbClr val="13233A"/>
                </a:solidFill>
                <a:latin typeface="IBM Plex Sans" pitchFamily="34" charset="0"/>
                <a:ea typeface="IBM Plex Sans" pitchFamily="34" charset="-122"/>
                <a:cs typeface="IBM Plex Sans" pitchFamily="34" charset="-120"/>
              </a:rPr>
              <a:t>local group of generators, storage and loads</a:t>
            </a:r>
            <a:r>
              <a:rPr lang="en-US" sz="1500" dirty="0">
                <a:solidFill>
                  <a:srgbClr val="13233A"/>
                </a:solidFill>
                <a:latin typeface="IBM Plex Sans" pitchFamily="34" charset="0"/>
                <a:ea typeface="IBM Plex Sans" pitchFamily="34" charset="-122"/>
                <a:cs typeface="IBM Plex Sans" pitchFamily="34" charset="-120"/>
              </a:rPr>
              <a:t> that works as one controllable unit — connected to the main grid or running on its own (islanded).</a:t>
            </a:r>
            <a:endParaRPr lang="en-US" sz="1500" dirty="0"/>
          </a:p>
        </p:txBody>
      </p:sp>
      <p:sp>
        <p:nvSpPr>
          <p:cNvPr id="8" name="Text 6"/>
          <p:cNvSpPr/>
          <p:nvPr/>
        </p:nvSpPr>
        <p:spPr>
          <a:xfrm>
            <a:off x="694944" y="2806700"/>
            <a:ext cx="3569716" cy="1180968"/>
          </a:xfrm>
          <a:prstGeom prst="rect">
            <a:avLst/>
          </a:prstGeom>
          <a:noFill/>
          <a:ln/>
        </p:spPr>
        <p:txBody>
          <a:bodyPr wrap="square" lIns="0" tIns="0" rIns="0" bIns="0" rtlCol="0" anchor="t">
            <a:normAutofit/>
          </a:bodyPr>
          <a:lstStyle/>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Generation sits close to the load</a:t>
            </a:r>
            <a:endParaRPr lang="en-US" sz="1300" dirty="0"/>
          </a:p>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Storage smooths supply–demand mismatch</a:t>
            </a:r>
            <a:endParaRPr lang="en-US" sz="1300" dirty="0"/>
          </a:p>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A controller (EMS) dispatches every unit</a:t>
            </a:r>
            <a:endParaRPr lang="en-US" sz="1300" dirty="0"/>
          </a:p>
          <a:p>
            <a:pPr algn="l" marL="168656" indent="-168656">
              <a:lnSpc>
                <a:spcPts val="1820"/>
              </a:lnSpc>
              <a:buSzPct val="100000"/>
              <a:buChar char="•"/>
            </a:pPr>
            <a:r>
              <a:rPr lang="en-US" sz="1300" dirty="0">
                <a:solidFill>
                  <a:srgbClr val="4A5568"/>
                </a:solidFill>
                <a:latin typeface="IBM Plex Sans" pitchFamily="34" charset="0"/>
                <a:ea typeface="IBM Plex Sans" pitchFamily="34" charset="-122"/>
                <a:cs typeface="IBM Plex Sans" pitchFamily="34" charset="-120"/>
              </a:rPr>
              <a:t>Disconnects at the point of common coupling (PCC) during grid faults</a:t>
            </a:r>
            <a:endParaRPr lang="en-US" sz="1300" dirty="0"/>
          </a:p>
        </p:txBody>
      </p:sp>
      <p:sp>
        <p:nvSpPr>
          <p:cNvPr id="9" name="Shape 7"/>
          <p:cNvSpPr/>
          <p:nvPr/>
        </p:nvSpPr>
        <p:spPr>
          <a:xfrm>
            <a:off x="7264665" y="1270000"/>
            <a:ext cx="1625071" cy="482600"/>
          </a:xfrm>
          <a:prstGeom prst="roundRect">
            <a:avLst>
              <a:gd name="adj" fmla="val 15789"/>
            </a:avLst>
          </a:prstGeom>
          <a:solidFill>
            <a:srgbClr val="13233A"/>
          </a:solidFill>
          <a:ln/>
        </p:spPr>
      </p:sp>
      <p:pic>
        <p:nvPicPr>
          <p:cNvPr id="10" name="Image 0" descr="Lightning">    </p:cNvPr>
          <p:cNvPicPr>
            <a:picLocks noChangeAspect="1"/>
          </p:cNvPicPr>
          <p:nvPr/>
        </p:nvPicPr>
        <p:blipFill>
          <a:blip r:embed="rId1"/>
          <a:srcRect l="0" r="0" t="0" b="0"/>
          <a:stretch/>
        </p:blipFill>
        <p:spPr>
          <a:xfrm>
            <a:off x="7467865" y="1384300"/>
            <a:ext cx="254000" cy="254000"/>
          </a:xfrm>
          <a:prstGeom prst="rect">
            <a:avLst/>
          </a:prstGeom>
        </p:spPr>
      </p:pic>
      <p:sp>
        <p:nvSpPr>
          <p:cNvPr id="11" name="Text 8"/>
          <p:cNvSpPr/>
          <p:nvPr/>
        </p:nvSpPr>
        <p:spPr>
          <a:xfrm>
            <a:off x="7823465" y="1386815"/>
            <a:ext cx="1035685"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7F6F1"/>
                </a:solidFill>
                <a:latin typeface="IBM Plex Sans" pitchFamily="34" charset="0"/>
                <a:ea typeface="IBM Plex Sans" pitchFamily="34" charset="-122"/>
                <a:cs typeface="IBM Plex Sans" pitchFamily="34" charset="-120"/>
              </a:rPr>
              <a:t>Utility grid</a:t>
            </a:r>
            <a:endParaRPr lang="en-US" sz="1400" dirty="0"/>
          </a:p>
        </p:txBody>
      </p:sp>
      <p:sp>
        <p:nvSpPr>
          <p:cNvPr id="12" name="Shape 9"/>
          <p:cNvSpPr/>
          <p:nvPr/>
        </p:nvSpPr>
        <p:spPr>
          <a:xfrm>
            <a:off x="8064500" y="1752600"/>
            <a:ext cx="25400" cy="177800"/>
          </a:xfrm>
          <a:prstGeom prst="rect">
            <a:avLst/>
          </a:prstGeom>
          <a:solidFill>
            <a:srgbClr val="13233A"/>
          </a:solidFill>
          <a:ln/>
        </p:spPr>
      </p:sp>
      <p:sp>
        <p:nvSpPr>
          <p:cNvPr id="13" name="Text 10"/>
          <p:cNvSpPr/>
          <p:nvPr/>
        </p:nvSpPr>
        <p:spPr>
          <a:xfrm>
            <a:off x="7289602" y="1936750"/>
            <a:ext cx="1575131" cy="302220"/>
          </a:xfrm>
          <a:prstGeom prst="roundRect">
            <a:avLst>
              <a:gd name="adj" fmla="val 48326"/>
            </a:avLst>
          </a:prstGeom>
          <a:solidFill>
            <a:srgbClr val="FBFBF8"/>
          </a:solidFill>
          <a:ln w="12700">
            <a:solidFill>
              <a:srgbClr val="13233A"/>
            </a:solidFill>
            <a:prstDash val="solid"/>
          </a:ln>
        </p:spPr>
        <p:txBody>
          <a:bodyPr wrap="none" lIns="0" tIns="0" rIns="0" bIns="0" rtlCol="0" anchor="ctr">
            <a:normAutofit/>
          </a:bodyPr>
          <a:lstStyle/>
          <a:p>
            <a:pPr algn="ct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PCC · static switch</a:t>
            </a:r>
            <a:endParaRPr lang="en-US" sz="1200" dirty="0"/>
          </a:p>
        </p:txBody>
      </p:sp>
      <p:sp>
        <p:nvSpPr>
          <p:cNvPr id="14" name="Shape 11"/>
          <p:cNvSpPr/>
          <p:nvPr/>
        </p:nvSpPr>
        <p:spPr>
          <a:xfrm>
            <a:off x="8064500" y="2245320"/>
            <a:ext cx="25400" cy="177800"/>
          </a:xfrm>
          <a:prstGeom prst="rect">
            <a:avLst/>
          </a:prstGeom>
          <a:solidFill>
            <a:srgbClr val="13233A"/>
          </a:solidFill>
          <a:ln/>
        </p:spPr>
      </p:sp>
      <p:sp>
        <p:nvSpPr>
          <p:cNvPr id="15" name="Text 12"/>
          <p:cNvSpPr/>
          <p:nvPr/>
        </p:nvSpPr>
        <p:spPr>
          <a:xfrm>
            <a:off x="4572000" y="2423120"/>
            <a:ext cx="7010400" cy="383514"/>
          </a:xfrm>
          <a:prstGeom prst="roundRect">
            <a:avLst>
              <a:gd name="adj" fmla="val 16557"/>
            </a:avLst>
          </a:prstGeom>
          <a:solidFill>
            <a:srgbClr val="E8A33D"/>
          </a:solidFill>
          <a:ln/>
        </p:spPr>
        <p:txBody>
          <a:bodyPr wrap="square" lIns="0" tIns="57601" rIns="0" bIns="32201" rtlCol="0" anchor="t">
            <a:normAutofit/>
          </a:bodyPr>
          <a:lstStyle/>
          <a:p>
            <a:pPr algn="ctr" indent="0" marL="0">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Common bus (AC or DC)</a:t>
            </a:r>
            <a:endParaRPr lang="en-US" sz="1300" dirty="0"/>
          </a:p>
        </p:txBody>
      </p:sp>
      <p:sp>
        <p:nvSpPr>
          <p:cNvPr id="16" name="Shape 13"/>
          <p:cNvSpPr/>
          <p:nvPr/>
        </p:nvSpPr>
        <p:spPr>
          <a:xfrm>
            <a:off x="5378450" y="2806635"/>
            <a:ext cx="25400" cy="228600"/>
          </a:xfrm>
          <a:prstGeom prst="rect">
            <a:avLst/>
          </a:prstGeom>
          <a:solidFill>
            <a:srgbClr val="13233A"/>
          </a:solidFill>
          <a:ln/>
        </p:spPr>
      </p:sp>
      <p:sp>
        <p:nvSpPr>
          <p:cNvPr id="17" name="Shape 14"/>
          <p:cNvSpPr/>
          <p:nvPr/>
        </p:nvSpPr>
        <p:spPr>
          <a:xfrm>
            <a:off x="7169150" y="2806635"/>
            <a:ext cx="25400" cy="228600"/>
          </a:xfrm>
          <a:prstGeom prst="rect">
            <a:avLst/>
          </a:prstGeom>
          <a:solidFill>
            <a:srgbClr val="13233A"/>
          </a:solidFill>
          <a:ln/>
        </p:spPr>
      </p:sp>
      <p:sp>
        <p:nvSpPr>
          <p:cNvPr id="18" name="Shape 15"/>
          <p:cNvSpPr/>
          <p:nvPr/>
        </p:nvSpPr>
        <p:spPr>
          <a:xfrm>
            <a:off x="8959850" y="2806635"/>
            <a:ext cx="25400" cy="228600"/>
          </a:xfrm>
          <a:prstGeom prst="rect">
            <a:avLst/>
          </a:prstGeom>
          <a:solidFill>
            <a:srgbClr val="13233A"/>
          </a:solidFill>
          <a:ln/>
        </p:spPr>
      </p:sp>
      <p:sp>
        <p:nvSpPr>
          <p:cNvPr id="19" name="Shape 16"/>
          <p:cNvSpPr/>
          <p:nvPr/>
        </p:nvSpPr>
        <p:spPr>
          <a:xfrm>
            <a:off x="10750550" y="2806635"/>
            <a:ext cx="25400" cy="228600"/>
          </a:xfrm>
          <a:prstGeom prst="rect">
            <a:avLst/>
          </a:prstGeom>
          <a:solidFill>
            <a:srgbClr val="13233A"/>
          </a:solidFill>
          <a:ln/>
        </p:spPr>
      </p:sp>
      <p:sp>
        <p:nvSpPr>
          <p:cNvPr id="20" name="Shape 17"/>
          <p:cNvSpPr/>
          <p:nvPr/>
        </p:nvSpPr>
        <p:spPr>
          <a:xfrm>
            <a:off x="4578350" y="3041585"/>
            <a:ext cx="1625600" cy="1247047"/>
          </a:xfrm>
          <a:prstGeom prst="roundRect">
            <a:avLst>
              <a:gd name="adj" fmla="val 5601"/>
            </a:avLst>
          </a:prstGeom>
          <a:solidFill>
            <a:srgbClr val="FBFBF8"/>
          </a:solidFill>
          <a:ln w="12700">
            <a:solidFill>
              <a:srgbClr val="D5DBE1"/>
            </a:solidFill>
            <a:prstDash val="solid"/>
          </a:ln>
        </p:spPr>
      </p:sp>
      <p:pic>
        <p:nvPicPr>
          <p:cNvPr id="21" name="Image 1" descr="Star">    </p:cNvPr>
          <p:cNvPicPr>
            <a:picLocks noChangeAspect="1"/>
          </p:cNvPicPr>
          <p:nvPr/>
        </p:nvPicPr>
        <p:blipFill>
          <a:blip r:embed="rId2"/>
          <a:srcRect l="0" r="0" t="0" b="0"/>
          <a:stretch/>
        </p:blipFill>
        <p:spPr>
          <a:xfrm>
            <a:off x="4711700" y="3174935"/>
            <a:ext cx="254000" cy="254000"/>
          </a:xfrm>
          <a:prstGeom prst="rect">
            <a:avLst/>
          </a:prstGeom>
        </p:spPr>
      </p:pic>
      <p:sp>
        <p:nvSpPr>
          <p:cNvPr id="22" name="Text 18"/>
          <p:cNvSpPr/>
          <p:nvPr/>
        </p:nvSpPr>
        <p:spPr>
          <a:xfrm>
            <a:off x="4711700" y="3479735"/>
            <a:ext cx="14097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33A"/>
                </a:solidFill>
                <a:latin typeface="IBM Plex Sans" pitchFamily="34" charset="0"/>
                <a:ea typeface="IBM Plex Sans" pitchFamily="34" charset="-122"/>
                <a:cs typeface="IBM Plex Sans" pitchFamily="34" charset="-120"/>
              </a:rPr>
              <a:t>Solar PV</a:t>
            </a:r>
            <a:endParaRPr lang="en-US" sz="1400" dirty="0"/>
          </a:p>
        </p:txBody>
      </p:sp>
      <p:sp>
        <p:nvSpPr>
          <p:cNvPr id="23" name="Text 19"/>
          <p:cNvSpPr/>
          <p:nvPr/>
        </p:nvSpPr>
        <p:spPr>
          <a:xfrm>
            <a:off x="4711700" y="3743855"/>
            <a:ext cx="140970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Rooftop and ground arrays</a:t>
            </a:r>
            <a:endParaRPr lang="en-US" sz="1200" dirty="0"/>
          </a:p>
        </p:txBody>
      </p:sp>
      <p:sp>
        <p:nvSpPr>
          <p:cNvPr id="24" name="Shape 20"/>
          <p:cNvSpPr/>
          <p:nvPr/>
        </p:nvSpPr>
        <p:spPr>
          <a:xfrm>
            <a:off x="6369050" y="3041585"/>
            <a:ext cx="1625600" cy="1247047"/>
          </a:xfrm>
          <a:prstGeom prst="roundRect">
            <a:avLst>
              <a:gd name="adj" fmla="val 5601"/>
            </a:avLst>
          </a:prstGeom>
          <a:solidFill>
            <a:srgbClr val="FBFBF8"/>
          </a:solidFill>
          <a:ln w="12700">
            <a:solidFill>
              <a:srgbClr val="D5DBE1"/>
            </a:solidFill>
            <a:prstDash val="solid"/>
          </a:ln>
        </p:spPr>
      </p:sp>
      <p:pic>
        <p:nvPicPr>
          <p:cNvPr id="25" name="Image 2" descr="Settings">    </p:cNvPr>
          <p:cNvPicPr>
            <a:picLocks noChangeAspect="1"/>
          </p:cNvPicPr>
          <p:nvPr/>
        </p:nvPicPr>
        <p:blipFill>
          <a:blip r:embed="rId3"/>
          <a:srcRect l="0" r="0" t="0" b="0"/>
          <a:stretch/>
        </p:blipFill>
        <p:spPr>
          <a:xfrm>
            <a:off x="6502400" y="3174935"/>
            <a:ext cx="254000" cy="254000"/>
          </a:xfrm>
          <a:prstGeom prst="rect">
            <a:avLst/>
          </a:prstGeom>
        </p:spPr>
      </p:pic>
      <p:sp>
        <p:nvSpPr>
          <p:cNvPr id="26" name="Text 21"/>
          <p:cNvSpPr/>
          <p:nvPr/>
        </p:nvSpPr>
        <p:spPr>
          <a:xfrm>
            <a:off x="6502400" y="3479735"/>
            <a:ext cx="14097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33A"/>
                </a:solidFill>
                <a:latin typeface="IBM Plex Sans" pitchFamily="34" charset="0"/>
                <a:ea typeface="IBM Plex Sans" pitchFamily="34" charset="-122"/>
                <a:cs typeface="IBM Plex Sans" pitchFamily="34" charset="-120"/>
              </a:rPr>
              <a:t>Generators</a:t>
            </a:r>
            <a:endParaRPr lang="en-US" sz="1400" dirty="0"/>
          </a:p>
        </p:txBody>
      </p:sp>
      <p:sp>
        <p:nvSpPr>
          <p:cNvPr id="27" name="Text 22"/>
          <p:cNvSpPr/>
          <p:nvPr/>
        </p:nvSpPr>
        <p:spPr>
          <a:xfrm>
            <a:off x="6502400" y="3743855"/>
            <a:ext cx="1485900"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Diesel, biogas, wind</a:t>
            </a:r>
            <a:endParaRPr lang="en-US" sz="1200" dirty="0"/>
          </a:p>
        </p:txBody>
      </p:sp>
      <p:sp>
        <p:nvSpPr>
          <p:cNvPr id="28" name="Shape 23"/>
          <p:cNvSpPr/>
          <p:nvPr/>
        </p:nvSpPr>
        <p:spPr>
          <a:xfrm>
            <a:off x="8159750" y="3041585"/>
            <a:ext cx="1625600" cy="1247047"/>
          </a:xfrm>
          <a:prstGeom prst="roundRect">
            <a:avLst>
              <a:gd name="adj" fmla="val 5601"/>
            </a:avLst>
          </a:prstGeom>
          <a:solidFill>
            <a:srgbClr val="FBFBF8"/>
          </a:solidFill>
          <a:ln w="12700">
            <a:solidFill>
              <a:srgbClr val="D5DBE1"/>
            </a:solidFill>
            <a:prstDash val="solid"/>
          </a:ln>
        </p:spPr>
      </p:sp>
      <p:pic>
        <p:nvPicPr>
          <p:cNvPr id="29" name="Image 3" descr="Database">    </p:cNvPr>
          <p:cNvPicPr>
            <a:picLocks noChangeAspect="1"/>
          </p:cNvPicPr>
          <p:nvPr/>
        </p:nvPicPr>
        <p:blipFill>
          <a:blip r:embed="rId4"/>
          <a:srcRect l="0" r="0" t="0" b="0"/>
          <a:stretch/>
        </p:blipFill>
        <p:spPr>
          <a:xfrm>
            <a:off x="8293100" y="3174935"/>
            <a:ext cx="254000" cy="254000"/>
          </a:xfrm>
          <a:prstGeom prst="rect">
            <a:avLst/>
          </a:prstGeom>
        </p:spPr>
      </p:pic>
      <p:sp>
        <p:nvSpPr>
          <p:cNvPr id="30" name="Text 24"/>
          <p:cNvSpPr/>
          <p:nvPr/>
        </p:nvSpPr>
        <p:spPr>
          <a:xfrm>
            <a:off x="8293100" y="3479735"/>
            <a:ext cx="14097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33A"/>
                </a:solidFill>
                <a:latin typeface="IBM Plex Sans" pitchFamily="34" charset="0"/>
                <a:ea typeface="IBM Plex Sans" pitchFamily="34" charset="-122"/>
                <a:cs typeface="IBM Plex Sans" pitchFamily="34" charset="-120"/>
              </a:rPr>
              <a:t>Storage</a:t>
            </a:r>
            <a:endParaRPr lang="en-US" sz="1400" dirty="0"/>
          </a:p>
        </p:txBody>
      </p:sp>
      <p:sp>
        <p:nvSpPr>
          <p:cNvPr id="31" name="Text 25"/>
          <p:cNvSpPr/>
          <p:nvPr/>
        </p:nvSpPr>
        <p:spPr>
          <a:xfrm>
            <a:off x="8293100" y="3743855"/>
            <a:ext cx="140970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Battery, supercapacitor</a:t>
            </a:r>
            <a:endParaRPr lang="en-US" sz="1200" dirty="0"/>
          </a:p>
        </p:txBody>
      </p:sp>
      <p:sp>
        <p:nvSpPr>
          <p:cNvPr id="32" name="Shape 26"/>
          <p:cNvSpPr/>
          <p:nvPr/>
        </p:nvSpPr>
        <p:spPr>
          <a:xfrm>
            <a:off x="9950450" y="3041585"/>
            <a:ext cx="1625600" cy="1247047"/>
          </a:xfrm>
          <a:prstGeom prst="roundRect">
            <a:avLst>
              <a:gd name="adj" fmla="val 5601"/>
            </a:avLst>
          </a:prstGeom>
          <a:solidFill>
            <a:srgbClr val="FBFBF8"/>
          </a:solidFill>
          <a:ln w="12700">
            <a:solidFill>
              <a:srgbClr val="D5DBE1"/>
            </a:solidFill>
            <a:prstDash val="solid"/>
          </a:ln>
        </p:spPr>
      </p:sp>
      <p:pic>
        <p:nvPicPr>
          <p:cNvPr id="33" name="Image 4" descr="Home">    </p:cNvPr>
          <p:cNvPicPr>
            <a:picLocks noChangeAspect="1"/>
          </p:cNvPicPr>
          <p:nvPr/>
        </p:nvPicPr>
        <p:blipFill>
          <a:blip r:embed="rId5"/>
          <a:srcRect l="0" r="0" t="0" b="0"/>
          <a:stretch/>
        </p:blipFill>
        <p:spPr>
          <a:xfrm>
            <a:off x="10083800" y="3174935"/>
            <a:ext cx="254000" cy="254000"/>
          </a:xfrm>
          <a:prstGeom prst="rect">
            <a:avLst/>
          </a:prstGeom>
        </p:spPr>
      </p:pic>
      <p:sp>
        <p:nvSpPr>
          <p:cNvPr id="34" name="Text 27"/>
          <p:cNvSpPr/>
          <p:nvPr/>
        </p:nvSpPr>
        <p:spPr>
          <a:xfrm>
            <a:off x="10083800" y="3479735"/>
            <a:ext cx="14097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33A"/>
                </a:solidFill>
                <a:latin typeface="IBM Plex Sans" pitchFamily="34" charset="0"/>
                <a:ea typeface="IBM Plex Sans" pitchFamily="34" charset="-122"/>
                <a:cs typeface="IBM Plex Sans" pitchFamily="34" charset="-120"/>
              </a:rPr>
              <a:t>Loads</a:t>
            </a:r>
            <a:endParaRPr lang="en-US" sz="1400" dirty="0"/>
          </a:p>
        </p:txBody>
      </p:sp>
      <p:sp>
        <p:nvSpPr>
          <p:cNvPr id="35" name="Text 28"/>
          <p:cNvSpPr/>
          <p:nvPr/>
        </p:nvSpPr>
        <p:spPr>
          <a:xfrm>
            <a:off x="10083800" y="3743855"/>
            <a:ext cx="1409700"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Hostels, labs, offices</a:t>
            </a:r>
            <a:endParaRPr lang="en-US" sz="1200" dirty="0"/>
          </a:p>
        </p:txBody>
      </p:sp>
      <p:sp>
        <p:nvSpPr>
          <p:cNvPr id="36" name="Shape 29"/>
          <p:cNvSpPr/>
          <p:nvPr/>
        </p:nvSpPr>
        <p:spPr>
          <a:xfrm>
            <a:off x="4578350" y="4453731"/>
            <a:ext cx="6997700" cy="469900"/>
          </a:xfrm>
          <a:prstGeom prst="roundRect">
            <a:avLst>
              <a:gd name="adj" fmla="val 14865"/>
            </a:avLst>
          </a:prstGeom>
          <a:noFill/>
          <a:ln w="12700">
            <a:solidFill>
              <a:srgbClr val="2E6F95"/>
            </a:solidFill>
            <a:prstDash val="dash"/>
          </a:ln>
        </p:spPr>
      </p:sp>
      <p:pic>
        <p:nvPicPr>
          <p:cNvPr id="37" name="Image 5" descr="Activity">    </p:cNvPr>
          <p:cNvPicPr>
            <a:picLocks noChangeAspect="1"/>
          </p:cNvPicPr>
          <p:nvPr/>
        </p:nvPicPr>
        <p:blipFill>
          <a:blip r:embed="rId6"/>
          <a:srcRect l="0" r="0" t="0" b="0"/>
          <a:stretch/>
        </p:blipFill>
        <p:spPr>
          <a:xfrm>
            <a:off x="4737100" y="4561681"/>
            <a:ext cx="254000" cy="254000"/>
          </a:xfrm>
          <a:prstGeom prst="rect">
            <a:avLst/>
          </a:prstGeom>
        </p:spPr>
      </p:pic>
      <p:sp>
        <p:nvSpPr>
          <p:cNvPr id="38" name="Text 30"/>
          <p:cNvSpPr/>
          <p:nvPr/>
        </p:nvSpPr>
        <p:spPr>
          <a:xfrm>
            <a:off x="5092700" y="4573126"/>
            <a:ext cx="5749687"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Microgrid controller (EMS)</a:t>
            </a:r>
            <a:r>
              <a:rPr lang="en-US" sz="1300" dirty="0">
                <a:solidFill>
                  <a:srgbClr val="13233A"/>
                </a:solidFill>
                <a:latin typeface="IBM Plex Sans" pitchFamily="34" charset="0"/>
                <a:ea typeface="IBM Plex Sans" pitchFamily="34" charset="-122"/>
                <a:cs typeface="IBM Plex Sans" pitchFamily="34" charset="-120"/>
              </a:rPr>
              <a:t> — monitors and dispatches every unit</a:t>
            </a:r>
            <a:endParaRPr lang="en-US" sz="1300" dirty="0"/>
          </a:p>
        </p:txBody>
      </p:sp>
      <p:sp>
        <p:nvSpPr>
          <p:cNvPr id="39" name="Shape 31"/>
          <p:cNvSpPr/>
          <p:nvPr/>
        </p:nvSpPr>
        <p:spPr>
          <a:xfrm>
            <a:off x="609600" y="6210300"/>
            <a:ext cx="10972800" cy="12700"/>
          </a:xfrm>
          <a:prstGeom prst="rect">
            <a:avLst/>
          </a:prstGeom>
          <a:solidFill>
            <a:srgbClr val="D5DBE1"/>
          </a:solidFill>
          <a:ln/>
        </p:spPr>
      </p:sp>
      <p:sp>
        <p:nvSpPr>
          <p:cNvPr id="40" name="Text 32"/>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41" name="Text 33"/>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3 / 30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INTRODUCTION</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Types of microgrids</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Shape 5"/>
          <p:cNvSpPr/>
          <p:nvPr/>
        </p:nvSpPr>
        <p:spPr>
          <a:xfrm>
            <a:off x="615950" y="1276350"/>
            <a:ext cx="5372100" cy="1470554"/>
          </a:xfrm>
          <a:prstGeom prst="roundRect">
            <a:avLst>
              <a:gd name="adj" fmla="val 5614"/>
            </a:avLst>
          </a:prstGeom>
          <a:solidFill>
            <a:srgbClr val="FBFBF8"/>
          </a:solidFill>
          <a:ln w="12700">
            <a:solidFill>
              <a:srgbClr val="D5DBE1"/>
            </a:solidFill>
            <a:prstDash val="solid"/>
          </a:ln>
        </p:spPr>
      </p:sp>
      <p:sp>
        <p:nvSpPr>
          <p:cNvPr id="8" name="Text 6"/>
          <p:cNvSpPr/>
          <p:nvPr/>
        </p:nvSpPr>
        <p:spPr>
          <a:xfrm>
            <a:off x="800100" y="1460500"/>
            <a:ext cx="515391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F6B78"/>
                </a:solidFill>
                <a:latin typeface="IBM Plex Sans" pitchFamily="34" charset="0"/>
                <a:ea typeface="IBM Plex Sans" pitchFamily="34" charset="-122"/>
                <a:cs typeface="IBM Plex Sans" pitchFamily="34" charset="-120"/>
              </a:rPr>
              <a:t>BUS TYPE</a:t>
            </a:r>
            <a:endParaRPr lang="en-US" sz="1200" dirty="0"/>
          </a:p>
        </p:txBody>
      </p:sp>
      <p:sp>
        <p:nvSpPr>
          <p:cNvPr id="9" name="Text 7"/>
          <p:cNvSpPr/>
          <p:nvPr/>
        </p:nvSpPr>
        <p:spPr>
          <a:xfrm>
            <a:off x="800100" y="1724620"/>
            <a:ext cx="515391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33A"/>
                </a:solidFill>
                <a:latin typeface="IBM Plex Sans" pitchFamily="34" charset="0"/>
                <a:ea typeface="IBM Plex Sans" pitchFamily="34" charset="-122"/>
                <a:cs typeface="IBM Plex Sans" pitchFamily="34" charset="-120"/>
              </a:rPr>
              <a:t>AC microgrid</a:t>
            </a:r>
            <a:endParaRPr lang="en-US" sz="1800" dirty="0"/>
          </a:p>
        </p:txBody>
      </p:sp>
      <p:sp>
        <p:nvSpPr>
          <p:cNvPr id="10" name="Text 8"/>
          <p:cNvSpPr/>
          <p:nvPr/>
        </p:nvSpPr>
        <p:spPr>
          <a:xfrm>
            <a:off x="800100" y="2049728"/>
            <a:ext cx="5153914"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Common AC bus; ties easily to the utility, but every DC source needs an inverter plus frequency and reactive-power control.</a:t>
            </a:r>
            <a:endParaRPr lang="en-US" sz="1300" dirty="0"/>
          </a:p>
        </p:txBody>
      </p:sp>
      <p:sp>
        <p:nvSpPr>
          <p:cNvPr id="11" name="Shape 9"/>
          <p:cNvSpPr/>
          <p:nvPr/>
        </p:nvSpPr>
        <p:spPr>
          <a:xfrm>
            <a:off x="6203950" y="1276350"/>
            <a:ext cx="5372100" cy="1470554"/>
          </a:xfrm>
          <a:prstGeom prst="roundRect">
            <a:avLst>
              <a:gd name="adj" fmla="val 5614"/>
            </a:avLst>
          </a:prstGeom>
          <a:solidFill>
            <a:srgbClr val="FBFBF8"/>
          </a:solidFill>
          <a:ln w="12700">
            <a:solidFill>
              <a:srgbClr val="D5DBE1"/>
            </a:solidFill>
            <a:prstDash val="solid"/>
          </a:ln>
        </p:spPr>
      </p:sp>
      <p:sp>
        <p:nvSpPr>
          <p:cNvPr id="12" name="Text 10"/>
          <p:cNvSpPr/>
          <p:nvPr/>
        </p:nvSpPr>
        <p:spPr>
          <a:xfrm>
            <a:off x="6388100" y="1485900"/>
            <a:ext cx="946229"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F6B78"/>
                </a:solidFill>
                <a:latin typeface="IBM Plex Sans" pitchFamily="34" charset="0"/>
                <a:ea typeface="IBM Plex Sans" pitchFamily="34" charset="-122"/>
                <a:cs typeface="IBM Plex Sans" pitchFamily="34" charset="-120"/>
              </a:rPr>
              <a:t>BUS TYPE</a:t>
            </a:r>
            <a:endParaRPr lang="en-US" sz="1200" dirty="0"/>
          </a:p>
        </p:txBody>
      </p:sp>
      <p:sp>
        <p:nvSpPr>
          <p:cNvPr id="13" name="Text 11"/>
          <p:cNvSpPr/>
          <p:nvPr/>
        </p:nvSpPr>
        <p:spPr>
          <a:xfrm>
            <a:off x="10358239" y="1460500"/>
            <a:ext cx="1033661" cy="264120"/>
          </a:xfrm>
          <a:custGeom>
            <a:avLst/>
            <a:gdLst/>
            <a:ahLst/>
            <a:cxnLst/>
            <a:rect l="l" t="t" r="r" b="b"/>
            <a:pathLst>
              <a:path w="1033661" h="264120">
                <a:moveTo>
                  <a:pt x="127000" y="0"/>
                </a:moveTo>
                <a:lnTo>
                  <a:pt x="906661" y="0"/>
                </a:lnTo>
                <a:arcTo hR="127000" wR="127000" stAng="16200000" swAng="5400000"/>
                <a:lnTo>
                  <a:pt x="1033661" y="137120"/>
                </a:lnTo>
                <a:arcTo hR="127000" wR="127000" stAng="0" swAng="5400000"/>
                <a:lnTo>
                  <a:pt x="127000" y="264120"/>
                </a:lnTo>
                <a:arcTo hR="127000" wR="127000" stAng="5400000" swAng="5400000"/>
                <a:lnTo>
                  <a:pt x="0" y="127000"/>
                </a:lnTo>
                <a:arcTo hR="127000" wR="127000" stAng="10800000" swAng="5400000"/>
                <a:close/>
              </a:path>
            </a:pathLst>
          </a:custGeom>
          <a:solidFill>
            <a:srgbClr val="E8A33D"/>
          </a:solidFill>
          <a:ln/>
        </p:spPr>
        <p:txBody>
          <a:bodyPr wrap="none" lIns="0" tIns="0" rIns="0" bIns="0" rtlCol="0" anchor="ctr">
            <a:normAutofit/>
          </a:bodyPr>
          <a:lstStyle/>
          <a:p>
            <a:pPr algn="ctr"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This project</a:t>
            </a:r>
            <a:endParaRPr lang="en-US" sz="1200" dirty="0"/>
          </a:p>
        </p:txBody>
      </p:sp>
      <p:sp>
        <p:nvSpPr>
          <p:cNvPr id="14" name="Text 12"/>
          <p:cNvSpPr/>
          <p:nvPr/>
        </p:nvSpPr>
        <p:spPr>
          <a:xfrm>
            <a:off x="6388100" y="1775420"/>
            <a:ext cx="515391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33A"/>
                </a:solidFill>
                <a:latin typeface="IBM Plex Sans" pitchFamily="34" charset="0"/>
                <a:ea typeface="IBM Plex Sans" pitchFamily="34" charset="-122"/>
                <a:cs typeface="IBM Plex Sans" pitchFamily="34" charset="-120"/>
              </a:rPr>
              <a:t>DC microgrid</a:t>
            </a:r>
            <a:endParaRPr lang="en-US" sz="1800" dirty="0"/>
          </a:p>
        </p:txBody>
      </p:sp>
      <p:sp>
        <p:nvSpPr>
          <p:cNvPr id="15" name="Text 13"/>
          <p:cNvSpPr/>
          <p:nvPr/>
        </p:nvSpPr>
        <p:spPr>
          <a:xfrm>
            <a:off x="6388100" y="2100528"/>
            <a:ext cx="5153914"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PV, batteries and supercapacitors are natively DC: fewer conversion stages, no frequency control — a natural fit for a HESS.</a:t>
            </a:r>
            <a:endParaRPr lang="en-US" sz="1300" dirty="0"/>
          </a:p>
        </p:txBody>
      </p:sp>
      <p:sp>
        <p:nvSpPr>
          <p:cNvPr id="16" name="Shape 14"/>
          <p:cNvSpPr/>
          <p:nvPr/>
        </p:nvSpPr>
        <p:spPr>
          <a:xfrm>
            <a:off x="615950" y="2962805"/>
            <a:ext cx="5372100" cy="1419754"/>
          </a:xfrm>
          <a:prstGeom prst="roundRect">
            <a:avLst>
              <a:gd name="adj" fmla="val 5814"/>
            </a:avLst>
          </a:prstGeom>
          <a:solidFill>
            <a:srgbClr val="FBFBF8"/>
          </a:solidFill>
          <a:ln w="12700">
            <a:solidFill>
              <a:srgbClr val="D5DBE1"/>
            </a:solidFill>
            <a:prstDash val="solid"/>
          </a:ln>
        </p:spPr>
      </p:sp>
      <p:sp>
        <p:nvSpPr>
          <p:cNvPr id="17" name="Text 15"/>
          <p:cNvSpPr/>
          <p:nvPr/>
        </p:nvSpPr>
        <p:spPr>
          <a:xfrm>
            <a:off x="800100" y="3146955"/>
            <a:ext cx="515391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F6B78"/>
                </a:solidFill>
                <a:latin typeface="IBM Plex Sans" pitchFamily="34" charset="0"/>
                <a:ea typeface="IBM Plex Sans" pitchFamily="34" charset="-122"/>
                <a:cs typeface="IBM Plex Sans" pitchFamily="34" charset="-120"/>
              </a:rPr>
              <a:t>OPERATING MODE</a:t>
            </a:r>
            <a:endParaRPr lang="en-US" sz="1200" dirty="0"/>
          </a:p>
        </p:txBody>
      </p:sp>
      <p:sp>
        <p:nvSpPr>
          <p:cNvPr id="18" name="Text 16"/>
          <p:cNvSpPr/>
          <p:nvPr/>
        </p:nvSpPr>
        <p:spPr>
          <a:xfrm>
            <a:off x="800100" y="3411076"/>
            <a:ext cx="515391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33A"/>
                </a:solidFill>
                <a:latin typeface="IBM Plex Sans" pitchFamily="34" charset="0"/>
                <a:ea typeface="IBM Plex Sans" pitchFamily="34" charset="-122"/>
                <a:cs typeface="IBM Plex Sans" pitchFamily="34" charset="-120"/>
              </a:rPr>
              <a:t>Grid-connected</a:t>
            </a:r>
            <a:endParaRPr lang="en-US" sz="1800" dirty="0"/>
          </a:p>
        </p:txBody>
      </p:sp>
      <p:sp>
        <p:nvSpPr>
          <p:cNvPr id="19" name="Text 17"/>
          <p:cNvSpPr/>
          <p:nvPr/>
        </p:nvSpPr>
        <p:spPr>
          <a:xfrm>
            <a:off x="800100" y="3736181"/>
            <a:ext cx="5153914"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Exchanges power with the utility at the PCC; the grid absorbs any surplus or deficit.</a:t>
            </a:r>
            <a:endParaRPr lang="en-US" sz="1300" dirty="0"/>
          </a:p>
        </p:txBody>
      </p:sp>
      <p:sp>
        <p:nvSpPr>
          <p:cNvPr id="20" name="Shape 18"/>
          <p:cNvSpPr/>
          <p:nvPr/>
        </p:nvSpPr>
        <p:spPr>
          <a:xfrm>
            <a:off x="6203950" y="2962805"/>
            <a:ext cx="5372100" cy="1419754"/>
          </a:xfrm>
          <a:prstGeom prst="roundRect">
            <a:avLst>
              <a:gd name="adj" fmla="val 5814"/>
            </a:avLst>
          </a:prstGeom>
          <a:solidFill>
            <a:srgbClr val="FBFBF8"/>
          </a:solidFill>
          <a:ln w="12700">
            <a:solidFill>
              <a:srgbClr val="D5DBE1"/>
            </a:solidFill>
            <a:prstDash val="solid"/>
          </a:ln>
        </p:spPr>
      </p:sp>
      <p:sp>
        <p:nvSpPr>
          <p:cNvPr id="21" name="Text 19"/>
          <p:cNvSpPr/>
          <p:nvPr/>
        </p:nvSpPr>
        <p:spPr>
          <a:xfrm>
            <a:off x="6388100" y="3146955"/>
            <a:ext cx="515391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F6B78"/>
                </a:solidFill>
                <a:latin typeface="IBM Plex Sans" pitchFamily="34" charset="0"/>
                <a:ea typeface="IBM Plex Sans" pitchFamily="34" charset="-122"/>
                <a:cs typeface="IBM Plex Sans" pitchFamily="34" charset="-120"/>
              </a:rPr>
              <a:t>OPERATING MODE</a:t>
            </a:r>
            <a:endParaRPr lang="en-US" sz="1200" dirty="0"/>
          </a:p>
        </p:txBody>
      </p:sp>
      <p:sp>
        <p:nvSpPr>
          <p:cNvPr id="22" name="Text 20"/>
          <p:cNvSpPr/>
          <p:nvPr/>
        </p:nvSpPr>
        <p:spPr>
          <a:xfrm>
            <a:off x="6388100" y="3411076"/>
            <a:ext cx="515391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33A"/>
                </a:solidFill>
                <a:latin typeface="IBM Plex Sans" pitchFamily="34" charset="0"/>
                <a:ea typeface="IBM Plex Sans" pitchFamily="34" charset="-122"/>
                <a:cs typeface="IBM Plex Sans" pitchFamily="34" charset="-120"/>
              </a:rPr>
              <a:t>Islanded</a:t>
            </a:r>
            <a:endParaRPr lang="en-US" sz="1800" dirty="0"/>
          </a:p>
        </p:txBody>
      </p:sp>
      <p:sp>
        <p:nvSpPr>
          <p:cNvPr id="23" name="Text 21"/>
          <p:cNvSpPr/>
          <p:nvPr/>
        </p:nvSpPr>
        <p:spPr>
          <a:xfrm>
            <a:off x="6388100" y="3736181"/>
            <a:ext cx="5153914"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Runs on its own; storage must cover every mismatch, so reliability becomes the design constraint.</a:t>
            </a:r>
            <a:endParaRPr lang="en-US" sz="1300" dirty="0"/>
          </a:p>
        </p:txBody>
      </p:sp>
      <p:sp>
        <p:nvSpPr>
          <p:cNvPr id="24" name="Shape 22"/>
          <p:cNvSpPr/>
          <p:nvPr/>
        </p:nvSpPr>
        <p:spPr>
          <a:xfrm>
            <a:off x="609600" y="6210300"/>
            <a:ext cx="10972800" cy="12700"/>
          </a:xfrm>
          <a:prstGeom prst="rect">
            <a:avLst/>
          </a:prstGeom>
          <a:solidFill>
            <a:srgbClr val="D5DBE1"/>
          </a:solidFill>
          <a:ln/>
        </p:spPr>
      </p:sp>
      <p:sp>
        <p:nvSpPr>
          <p:cNvPr id="25" name="Text 23"/>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26" name="Text 24"/>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4 / 30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MOTIVATION</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Why a solar microgrid needs storage</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Shape 5"/>
          <p:cNvSpPr/>
          <p:nvPr/>
        </p:nvSpPr>
        <p:spPr>
          <a:xfrm>
            <a:off x="615950" y="1276350"/>
            <a:ext cx="6591300" cy="3162300"/>
          </a:xfrm>
          <a:prstGeom prst="roundRect">
            <a:avLst>
              <a:gd name="adj" fmla="val 2209"/>
            </a:avLst>
          </a:prstGeom>
          <a:solidFill>
            <a:srgbClr val="E4EAF0"/>
          </a:solidFill>
          <a:ln w="12700">
            <a:solidFill>
              <a:srgbClr val="8A9AAB"/>
            </a:solidFill>
            <a:prstDash val="dash"/>
          </a:ln>
        </p:spPr>
      </p:sp>
      <p:sp>
        <p:nvSpPr>
          <p:cNvPr id="8" name="Text 6"/>
          <p:cNvSpPr/>
          <p:nvPr/>
        </p:nvSpPr>
        <p:spPr>
          <a:xfrm>
            <a:off x="609600" y="4546600"/>
            <a:ext cx="72207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Fig. — PV generation vs campus load on a typical day [insert your plot]</a:t>
            </a:r>
            <a:endParaRPr lang="en-US" sz="1200" dirty="0"/>
          </a:p>
        </p:txBody>
      </p:sp>
      <p:sp>
        <p:nvSpPr>
          <p:cNvPr id="9" name="Text 7"/>
          <p:cNvSpPr/>
          <p:nvPr/>
        </p:nvSpPr>
        <p:spPr>
          <a:xfrm>
            <a:off x="8026400" y="1270000"/>
            <a:ext cx="366268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33A"/>
                </a:solidFill>
                <a:latin typeface="IBM Plex Sans" pitchFamily="34" charset="0"/>
                <a:ea typeface="IBM Plex Sans" pitchFamily="34" charset="-122"/>
                <a:cs typeface="IBM Plex Sans" pitchFamily="34" charset="-120"/>
              </a:rPr>
              <a:t>Daily mismatch</a:t>
            </a:r>
            <a:endParaRPr lang="en-US" sz="1600" dirty="0"/>
          </a:p>
        </p:txBody>
      </p:sp>
      <p:sp>
        <p:nvSpPr>
          <p:cNvPr id="10" name="Text 8"/>
          <p:cNvSpPr/>
          <p:nvPr/>
        </p:nvSpPr>
        <p:spPr>
          <a:xfrm>
            <a:off x="8026400" y="1564615"/>
            <a:ext cx="366268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PV peaks at midday; the campus load stays high around the clock (load factor 0.82).</a:t>
            </a:r>
            <a:endParaRPr lang="en-US" sz="1300" dirty="0"/>
          </a:p>
        </p:txBody>
      </p:sp>
      <p:sp>
        <p:nvSpPr>
          <p:cNvPr id="11" name="Text 9"/>
          <p:cNvSpPr/>
          <p:nvPr/>
        </p:nvSpPr>
        <p:spPr>
          <a:xfrm>
            <a:off x="8026400" y="2230041"/>
            <a:ext cx="366268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33A"/>
                </a:solidFill>
                <a:latin typeface="IBM Plex Sans" pitchFamily="34" charset="0"/>
                <a:ea typeface="IBM Plex Sans" pitchFamily="34" charset="-122"/>
                <a:cs typeface="IBM Plex Sans" pitchFamily="34" charset="-120"/>
              </a:rPr>
              <a:t>Fast fluctuations</a:t>
            </a:r>
            <a:endParaRPr lang="en-US" sz="1600" dirty="0"/>
          </a:p>
        </p:txBody>
      </p:sp>
      <p:sp>
        <p:nvSpPr>
          <p:cNvPr id="12" name="Text 10"/>
          <p:cNvSpPr/>
          <p:nvPr/>
        </p:nvSpPr>
        <p:spPr>
          <a:xfrm>
            <a:off x="8026400" y="2524655"/>
            <a:ext cx="366268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Passing clouds and load steps cause second-scale swings that wear batteries out.</a:t>
            </a:r>
            <a:endParaRPr lang="en-US" sz="1300" dirty="0"/>
          </a:p>
        </p:txBody>
      </p:sp>
      <p:sp>
        <p:nvSpPr>
          <p:cNvPr id="13" name="Text 11"/>
          <p:cNvSpPr/>
          <p:nvPr/>
        </p:nvSpPr>
        <p:spPr>
          <a:xfrm>
            <a:off x="8026400" y="3190081"/>
            <a:ext cx="366268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33A"/>
                </a:solidFill>
                <a:latin typeface="IBM Plex Sans" pitchFamily="34" charset="0"/>
                <a:ea typeface="IBM Plex Sans" pitchFamily="34" charset="-122"/>
                <a:cs typeface="IBM Plex Sans" pitchFamily="34" charset="-120"/>
              </a:rPr>
              <a:t>Reliability target</a:t>
            </a:r>
            <a:endParaRPr lang="en-US" sz="1600" dirty="0"/>
          </a:p>
        </p:txBody>
      </p:sp>
      <p:sp>
        <p:nvSpPr>
          <p:cNvPr id="14" name="Text 12"/>
          <p:cNvSpPr/>
          <p:nvPr/>
        </p:nvSpPr>
        <p:spPr>
          <a:xfrm>
            <a:off x="8026400" y="3484696"/>
            <a:ext cx="366268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Unmet energy must stay within LPSP ≤ 1 % across a 20-year horizon.</a:t>
            </a:r>
            <a:endParaRPr lang="en-US" sz="1300" dirty="0"/>
          </a:p>
        </p:txBody>
      </p:sp>
      <p:sp>
        <p:nvSpPr>
          <p:cNvPr id="15" name="Shape 13"/>
          <p:cNvSpPr/>
          <p:nvPr/>
        </p:nvSpPr>
        <p:spPr>
          <a:xfrm>
            <a:off x="609600" y="6210300"/>
            <a:ext cx="10972800" cy="12700"/>
          </a:xfrm>
          <a:prstGeom prst="rect">
            <a:avLst/>
          </a:prstGeom>
          <a:solidFill>
            <a:srgbClr val="D5DBE1"/>
          </a:solidFill>
          <a:ln/>
        </p:spPr>
      </p:sp>
      <p:sp>
        <p:nvSpPr>
          <p:cNvPr id="16" name="Text 14"/>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17" name="Text 15"/>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5 / 30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BACKGROUND</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Battery vs supercapacitor</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2300" y="1282700"/>
          <a:ext cx="10960100" cy="2701727"/>
        </p:xfrm>
        <a:graphic>
          <a:graphicData uri="http://schemas.openxmlformats.org/drawingml/2006/table">
            <a:tbl>
              <a:tblPr/>
              <a:tblGrid>
                <a:gridCol w="3726434"/>
                <a:gridCol w="3616833"/>
                <a:gridCol w="3616833"/>
              </a:tblGrid>
              <a:tr h="385961">
                <a:tc>
                  <a:txBody>
                    <a:bodyPr/>
                    <a:lstStyle/>
                    <a:p>
                      <a:pPr indent="0" marL="0">
                        <a:lnSpc>
                          <a:spcPts val="1960"/>
                        </a:lnSpc>
                        <a:buNone/>
                      </a:pPr>
                      <a:r>
                        <a:rPr lang="en-US" sz="1400" b="1" dirty="0">
                          <a:solidFill>
                            <a:srgbClr val="F7F6F1"/>
                          </a:solidFill>
                          <a:latin typeface="IBM Plex Sans" pitchFamily="34" charset="0"/>
                          <a:ea typeface="IBM Plex Sans" pitchFamily="34" charset="-122"/>
                          <a:cs typeface="IBM Plex Sans" pitchFamily="34" charset="-120"/>
                        </a:rPr>
                        <a:t>Property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960"/>
                        </a:lnSpc>
                        <a:buNone/>
                      </a:pPr>
                      <a:r>
                        <a:rPr lang="en-US" sz="1400" b="1" dirty="0">
                          <a:solidFill>
                            <a:srgbClr val="F7F6F1"/>
                          </a:solidFill>
                          <a:latin typeface="IBM Plex Sans" pitchFamily="34" charset="0"/>
                          <a:ea typeface="IBM Plex Sans" pitchFamily="34" charset="-122"/>
                          <a:cs typeface="IBM Plex Sans" pitchFamily="34" charset="-120"/>
                        </a:rPr>
                        <a:t>Battery (lead-acid)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960"/>
                        </a:lnSpc>
                        <a:buNone/>
                      </a:pPr>
                      <a:r>
                        <a:rPr lang="en-US" sz="1400" b="1" dirty="0">
                          <a:solidFill>
                            <a:srgbClr val="F7F6F1"/>
                          </a:solidFill>
                          <a:latin typeface="IBM Plex Sans" pitchFamily="34" charset="0"/>
                          <a:ea typeface="IBM Plex Sans" pitchFamily="34" charset="-122"/>
                          <a:cs typeface="IBM Plex Sans" pitchFamily="34" charset="-120"/>
                        </a:rPr>
                        <a:t>Supercapacitor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85961">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Energy density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High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Low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Power density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Moderate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Very high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r>
              <a:tr h="385961">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Response time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Seconds to minutes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Milliseconds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Cycle life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Hundreds to a few thousand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Hundreds of thousands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r>
              <a:tr h="385961">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Cost per kWh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Low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High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5961">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Best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Bulk energy over hours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Short bursts and transients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r>
            </a:tbl>
          </a:graphicData>
        </a:graphic>
      </p:graphicFrame>
      <p:sp>
        <p:nvSpPr>
          <p:cNvPr id="8" name="Text 5"/>
          <p:cNvSpPr/>
          <p:nvPr/>
        </p:nvSpPr>
        <p:spPr>
          <a:xfrm>
            <a:off x="615950" y="4244777"/>
            <a:ext cx="10960100" cy="850900"/>
          </a:xfrm>
          <a:prstGeom prst="roundRect">
            <a:avLst>
              <a:gd name="adj" fmla="val 8209"/>
            </a:avLst>
          </a:prstGeom>
          <a:solidFill>
            <a:srgbClr val="FBFBF8"/>
          </a:solidFill>
          <a:ln w="12700">
            <a:solidFill>
              <a:srgbClr val="D5DBE1"/>
            </a:solidFill>
            <a:prstDash val="solid"/>
          </a:ln>
        </p:spPr>
        <p:txBody>
          <a:bodyPr wrap="square" lIns="189092" tIns="138292" rIns="0" bIns="112892" rtlCol="0" anchor="t">
            <a:normAutofit/>
          </a:bodyPr>
          <a:lstStyle/>
          <a:p>
            <a:pPr algn="l" indent="0" marL="0">
              <a:lnSpc>
                <a:spcPts val="2100"/>
              </a:lnSpc>
              <a:buNone/>
            </a:pPr>
            <a:r>
              <a:rPr lang="en-US" sz="1500" dirty="0">
                <a:solidFill>
                  <a:srgbClr val="13233A"/>
                </a:solidFill>
                <a:latin typeface="IBM Plex Sans" pitchFamily="34" charset="0"/>
                <a:ea typeface="IBM Plex Sans" pitchFamily="34" charset="-122"/>
                <a:cs typeface="IBM Plex Sans" pitchFamily="34" charset="-120"/>
              </a:rPr>
              <a:t>Neither alone is cost-optimal: the battery handles </a:t>
            </a:r>
            <a:r>
              <a:rPr lang="en-US" sz="1500" b="1" dirty="0">
                <a:solidFill>
                  <a:srgbClr val="13233A"/>
                </a:solidFill>
                <a:latin typeface="IBM Plex Sans" pitchFamily="34" charset="0"/>
                <a:ea typeface="IBM Plex Sans" pitchFamily="34" charset="-122"/>
                <a:cs typeface="IBM Plex Sans" pitchFamily="34" charset="-120"/>
              </a:rPr>
              <a:t>energy</a:t>
            </a:r>
            <a:r>
              <a:rPr lang="en-US" sz="1500" dirty="0">
                <a:solidFill>
                  <a:srgbClr val="13233A"/>
                </a:solidFill>
                <a:latin typeface="IBM Plex Sans" pitchFamily="34" charset="0"/>
                <a:ea typeface="IBM Plex Sans" pitchFamily="34" charset="-122"/>
                <a:cs typeface="IBM Plex Sans" pitchFamily="34" charset="-120"/>
              </a:rPr>
              <a:t>, the supercapacitor handles </a:t>
            </a:r>
            <a:r>
              <a:rPr lang="en-US" sz="1500" b="1" dirty="0">
                <a:solidFill>
                  <a:srgbClr val="13233A"/>
                </a:solidFill>
                <a:latin typeface="IBM Plex Sans" pitchFamily="34" charset="0"/>
                <a:ea typeface="IBM Plex Sans" pitchFamily="34" charset="-122"/>
                <a:cs typeface="IBM Plex Sans" pitchFamily="34" charset="-120"/>
              </a:rPr>
              <a:t>power</a:t>
            </a:r>
            <a:r>
              <a:rPr lang="en-US" sz="1500" dirty="0">
                <a:solidFill>
                  <a:srgbClr val="13233A"/>
                </a:solidFill>
                <a:latin typeface="IBM Plex Sans" pitchFamily="34" charset="0"/>
                <a:ea typeface="IBM Plex Sans" pitchFamily="34" charset="-122"/>
                <a:cs typeface="IBM Plex Sans" pitchFamily="34" charset="-120"/>
              </a:rPr>
              <a:t> → combine them in a </a:t>
            </a:r>
            <a:r>
              <a:rPr lang="en-US" sz="1500" b="1" dirty="0">
                <a:solidFill>
                  <a:srgbClr val="13233A"/>
                </a:solidFill>
                <a:latin typeface="IBM Plex Sans" pitchFamily="34" charset="0"/>
                <a:ea typeface="IBM Plex Sans" pitchFamily="34" charset="-122"/>
                <a:cs typeface="IBM Plex Sans" pitchFamily="34" charset="-120"/>
              </a:rPr>
              <a:t>Hybrid Energy Storage System (HESS)</a:t>
            </a:r>
            <a:r>
              <a:rPr lang="en-US" sz="1500" dirty="0">
                <a:solidFill>
                  <a:srgbClr val="13233A"/>
                </a:solidFill>
                <a:latin typeface="IBM Plex Sans" pitchFamily="34" charset="0"/>
                <a:ea typeface="IBM Plex Sans" pitchFamily="34" charset="-122"/>
                <a:cs typeface="IBM Plex Sans" pitchFamily="34" charset="-120"/>
              </a:rPr>
              <a:t>.</a:t>
            </a:r>
            <a:endParaRPr lang="en-US" sz="1500" dirty="0"/>
          </a:p>
        </p:txBody>
      </p:sp>
      <p:sp>
        <p:nvSpPr>
          <p:cNvPr id="9" name="Shape 6"/>
          <p:cNvSpPr/>
          <p:nvPr/>
        </p:nvSpPr>
        <p:spPr>
          <a:xfrm>
            <a:off x="609600" y="6210300"/>
            <a:ext cx="10972800" cy="12700"/>
          </a:xfrm>
          <a:prstGeom prst="rect">
            <a:avLst/>
          </a:prstGeom>
          <a:solidFill>
            <a:srgbClr val="D5DBE1"/>
          </a:solidFill>
          <a:ln/>
        </p:spPr>
      </p:sp>
      <p:sp>
        <p:nvSpPr>
          <p:cNvPr id="10" name="Text 7"/>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11" name="Text 8"/>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6 / 30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BACKGROUND</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HESS: splitting power by frequency</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Shape 5"/>
          <p:cNvSpPr/>
          <p:nvPr/>
        </p:nvSpPr>
        <p:spPr>
          <a:xfrm>
            <a:off x="615950" y="1543050"/>
            <a:ext cx="2146300" cy="1125141"/>
          </a:xfrm>
          <a:prstGeom prst="roundRect">
            <a:avLst>
              <a:gd name="adj" fmla="val 7337"/>
            </a:avLst>
          </a:prstGeom>
          <a:solidFill>
            <a:srgbClr val="FBFBF8"/>
          </a:solidFill>
          <a:ln w="12700">
            <a:solidFill>
              <a:srgbClr val="D5DBE1"/>
            </a:solidFill>
            <a:prstDash val="solid"/>
          </a:ln>
        </p:spPr>
      </p:sp>
      <p:sp>
        <p:nvSpPr>
          <p:cNvPr id="8" name="Text 6"/>
          <p:cNvSpPr/>
          <p:nvPr/>
        </p:nvSpPr>
        <p:spPr>
          <a:xfrm>
            <a:off x="800100" y="1727200"/>
            <a:ext cx="183134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33A"/>
                </a:solidFill>
                <a:latin typeface="IBM Plex Sans" pitchFamily="34" charset="0"/>
                <a:ea typeface="IBM Plex Sans" pitchFamily="34" charset="-122"/>
                <a:cs typeface="IBM Plex Sans" pitchFamily="34" charset="-120"/>
              </a:rPr>
              <a:t>Net power</a:t>
            </a:r>
            <a:endParaRPr lang="en-US" sz="1600" dirty="0"/>
          </a:p>
        </p:txBody>
      </p:sp>
      <p:sp>
        <p:nvSpPr>
          <p:cNvPr id="9" name="Text 7"/>
          <p:cNvSpPr/>
          <p:nvPr/>
        </p:nvSpPr>
        <p:spPr>
          <a:xfrm>
            <a:off x="800100" y="2021815"/>
            <a:ext cx="183134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P_net(t) = P_PV(t) − P_load(t)</a:t>
            </a:r>
            <a:endParaRPr lang="en-US" sz="1300" dirty="0"/>
          </a:p>
        </p:txBody>
      </p:sp>
      <p:pic>
        <p:nvPicPr>
          <p:cNvPr id="10" name="Image 0" descr="arrow-right">    </p:cNvPr>
          <p:cNvPicPr>
            <a:picLocks noChangeAspect="1"/>
          </p:cNvPicPr>
          <p:nvPr/>
        </p:nvPicPr>
        <p:blipFill>
          <a:blip r:embed="rId1"/>
          <a:srcRect l="0" r="0" t="0" b="0"/>
          <a:stretch/>
        </p:blipFill>
        <p:spPr>
          <a:xfrm>
            <a:off x="2921000" y="1965920"/>
            <a:ext cx="508000" cy="279400"/>
          </a:xfrm>
          <a:prstGeom prst="rect">
            <a:avLst/>
          </a:prstGeom>
        </p:spPr>
      </p:pic>
      <p:sp>
        <p:nvSpPr>
          <p:cNvPr id="11" name="Shape 8"/>
          <p:cNvSpPr/>
          <p:nvPr/>
        </p:nvSpPr>
        <p:spPr>
          <a:xfrm>
            <a:off x="3581400" y="1549400"/>
            <a:ext cx="2413000" cy="1112441"/>
          </a:xfrm>
          <a:prstGeom prst="roundRect">
            <a:avLst>
              <a:gd name="adj" fmla="val 7991"/>
            </a:avLst>
          </a:prstGeom>
          <a:solidFill>
            <a:srgbClr val="13233A"/>
          </a:solidFill>
          <a:ln/>
        </p:spPr>
      </p:sp>
      <p:sp>
        <p:nvSpPr>
          <p:cNvPr id="12" name="Text 9"/>
          <p:cNvSpPr/>
          <p:nvPr/>
        </p:nvSpPr>
        <p:spPr>
          <a:xfrm>
            <a:off x="3759200" y="1727200"/>
            <a:ext cx="211912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1"/>
                </a:solidFill>
                <a:latin typeface="IBM Plex Sans" pitchFamily="34" charset="0"/>
                <a:ea typeface="IBM Plex Sans" pitchFamily="34" charset="-122"/>
                <a:cs typeface="IBM Plex Sans" pitchFamily="34" charset="-120"/>
              </a:rPr>
              <a:t>Low-pass filter</a:t>
            </a:r>
            <a:endParaRPr lang="en-US" sz="1600" dirty="0"/>
          </a:p>
        </p:txBody>
      </p:sp>
      <p:sp>
        <p:nvSpPr>
          <p:cNvPr id="13" name="Text 10"/>
          <p:cNvSpPr/>
          <p:nvPr/>
        </p:nvSpPr>
        <p:spPr>
          <a:xfrm>
            <a:off x="3759200" y="2021815"/>
            <a:ext cx="2119122"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4DF"/>
                </a:solidFill>
                <a:latin typeface="IBM Plex Sans" pitchFamily="34" charset="0"/>
                <a:ea typeface="IBM Plex Sans" pitchFamily="34" charset="-122"/>
                <a:cs typeface="IBM Plex Sans" pitchFamily="34" charset="-120"/>
              </a:rPr>
              <a:t>Cut-off frequency f_c — a decision variable</a:t>
            </a:r>
            <a:endParaRPr lang="en-US" sz="1300" dirty="0"/>
          </a:p>
        </p:txBody>
      </p:sp>
      <p:pic>
        <p:nvPicPr>
          <p:cNvPr id="14" name="Image 1" descr="arrow-right">    </p:cNvPr>
          <p:cNvPicPr>
            <a:picLocks noChangeAspect="1"/>
          </p:cNvPicPr>
          <p:nvPr/>
        </p:nvPicPr>
        <p:blipFill>
          <a:blip r:embed="rId2"/>
          <a:srcRect l="0" r="0" t="0" b="0"/>
          <a:stretch/>
        </p:blipFill>
        <p:spPr>
          <a:xfrm>
            <a:off x="6146800" y="1965920"/>
            <a:ext cx="508000" cy="279400"/>
          </a:xfrm>
          <a:prstGeom prst="rect">
            <a:avLst/>
          </a:prstGeom>
        </p:spPr>
      </p:pic>
      <p:sp>
        <p:nvSpPr>
          <p:cNvPr id="15" name="Shape 11"/>
          <p:cNvSpPr/>
          <p:nvPr/>
        </p:nvSpPr>
        <p:spPr>
          <a:xfrm>
            <a:off x="6813550" y="1276350"/>
            <a:ext cx="4762500" cy="746720"/>
          </a:xfrm>
          <a:prstGeom prst="roundRect">
            <a:avLst>
              <a:gd name="adj" fmla="val 11055"/>
            </a:avLst>
          </a:prstGeom>
          <a:solidFill>
            <a:srgbClr val="FBFBF8"/>
          </a:solidFill>
          <a:ln w="12700">
            <a:solidFill>
              <a:srgbClr val="D5DBE1"/>
            </a:solidFill>
            <a:prstDash val="solid"/>
          </a:ln>
        </p:spPr>
      </p:sp>
      <p:sp>
        <p:nvSpPr>
          <p:cNvPr id="16" name="Text 12"/>
          <p:cNvSpPr/>
          <p:nvPr/>
        </p:nvSpPr>
        <p:spPr>
          <a:xfrm>
            <a:off x="6972300" y="1409700"/>
            <a:ext cx="457835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Battery · slow part</a:t>
            </a:r>
            <a:endParaRPr lang="en-US" sz="1500" dirty="0"/>
          </a:p>
        </p:txBody>
      </p:sp>
      <p:sp>
        <p:nvSpPr>
          <p:cNvPr id="17" name="Text 13"/>
          <p:cNvSpPr/>
          <p:nvPr/>
        </p:nvSpPr>
        <p:spPr>
          <a:xfrm>
            <a:off x="6972300" y="16764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P_bat = LPF{P_net}: energy-heavy swings</a:t>
            </a:r>
            <a:endParaRPr lang="en-US" sz="1200" dirty="0"/>
          </a:p>
        </p:txBody>
      </p:sp>
      <p:sp>
        <p:nvSpPr>
          <p:cNvPr id="18" name="Shape 14"/>
          <p:cNvSpPr/>
          <p:nvPr/>
        </p:nvSpPr>
        <p:spPr>
          <a:xfrm>
            <a:off x="6813550" y="2188170"/>
            <a:ext cx="4762500" cy="746720"/>
          </a:xfrm>
          <a:prstGeom prst="roundRect">
            <a:avLst>
              <a:gd name="adj" fmla="val 11055"/>
            </a:avLst>
          </a:prstGeom>
          <a:solidFill>
            <a:srgbClr val="FBFBF8"/>
          </a:solidFill>
          <a:ln w="12700">
            <a:solidFill>
              <a:srgbClr val="D5DBE1"/>
            </a:solidFill>
            <a:prstDash val="solid"/>
          </a:ln>
        </p:spPr>
      </p:sp>
      <p:sp>
        <p:nvSpPr>
          <p:cNvPr id="19" name="Text 15"/>
          <p:cNvSpPr/>
          <p:nvPr/>
        </p:nvSpPr>
        <p:spPr>
          <a:xfrm>
            <a:off x="6972300" y="2321520"/>
            <a:ext cx="457835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Supercapacitor · fast part</a:t>
            </a:r>
            <a:endParaRPr lang="en-US" sz="1500" dirty="0"/>
          </a:p>
        </p:txBody>
      </p:sp>
      <p:sp>
        <p:nvSpPr>
          <p:cNvPr id="20" name="Text 16"/>
          <p:cNvSpPr/>
          <p:nvPr/>
        </p:nvSpPr>
        <p:spPr>
          <a:xfrm>
            <a:off x="6972300" y="2588220"/>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P_sc = P_net − P_bat: transients and spikes</a:t>
            </a:r>
            <a:endParaRPr lang="en-US" sz="1200" dirty="0"/>
          </a:p>
        </p:txBody>
      </p:sp>
      <p:sp>
        <p:nvSpPr>
          <p:cNvPr id="21" name="Shape 17"/>
          <p:cNvSpPr/>
          <p:nvPr/>
        </p:nvSpPr>
        <p:spPr>
          <a:xfrm>
            <a:off x="609600" y="3207941"/>
            <a:ext cx="3522133" cy="0"/>
          </a:xfrm>
          <a:prstGeom prst="line">
            <a:avLst/>
          </a:prstGeom>
          <a:noFill/>
          <a:ln w="25400">
            <a:solidFill>
              <a:srgbClr val="2E6F95"/>
            </a:solidFill>
            <a:prstDash val="solid"/>
          </a:ln>
        </p:spPr>
      </p:sp>
      <p:sp>
        <p:nvSpPr>
          <p:cNvPr id="22" name="Text 18"/>
          <p:cNvSpPr/>
          <p:nvPr/>
        </p:nvSpPr>
        <p:spPr>
          <a:xfrm>
            <a:off x="609600" y="3347641"/>
            <a:ext cx="362779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Higher f_c</a:t>
            </a:r>
            <a:endParaRPr lang="en-US" sz="1500" dirty="0"/>
          </a:p>
        </p:txBody>
      </p:sp>
      <p:sp>
        <p:nvSpPr>
          <p:cNvPr id="23" name="Text 19"/>
          <p:cNvSpPr/>
          <p:nvPr/>
        </p:nvSpPr>
        <p:spPr>
          <a:xfrm>
            <a:off x="609600" y="3627041"/>
            <a:ext cx="362779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Battery sees more fluctuation; a smaller supercapacitor suffices.</a:t>
            </a:r>
            <a:endParaRPr lang="en-US" sz="1300" dirty="0"/>
          </a:p>
        </p:txBody>
      </p:sp>
      <p:sp>
        <p:nvSpPr>
          <p:cNvPr id="24" name="Shape 20"/>
          <p:cNvSpPr/>
          <p:nvPr/>
        </p:nvSpPr>
        <p:spPr>
          <a:xfrm>
            <a:off x="4334933" y="3207941"/>
            <a:ext cx="3522133" cy="0"/>
          </a:xfrm>
          <a:prstGeom prst="line">
            <a:avLst/>
          </a:prstGeom>
          <a:noFill/>
          <a:ln w="25400">
            <a:solidFill>
              <a:srgbClr val="2E6F95"/>
            </a:solidFill>
            <a:prstDash val="solid"/>
          </a:ln>
        </p:spPr>
      </p:sp>
      <p:sp>
        <p:nvSpPr>
          <p:cNvPr id="25" name="Text 21"/>
          <p:cNvSpPr/>
          <p:nvPr/>
        </p:nvSpPr>
        <p:spPr>
          <a:xfrm>
            <a:off x="4334933" y="3347641"/>
            <a:ext cx="362779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Lower f_c</a:t>
            </a:r>
            <a:endParaRPr lang="en-US" sz="1500" dirty="0"/>
          </a:p>
        </p:txBody>
      </p:sp>
      <p:sp>
        <p:nvSpPr>
          <p:cNvPr id="26" name="Text 22"/>
          <p:cNvSpPr/>
          <p:nvPr/>
        </p:nvSpPr>
        <p:spPr>
          <a:xfrm>
            <a:off x="4334933" y="3627041"/>
            <a:ext cx="362779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Battery is smoother and lasts longer; the supercapacitor must grow.</a:t>
            </a:r>
            <a:endParaRPr lang="en-US" sz="1300" dirty="0"/>
          </a:p>
        </p:txBody>
      </p:sp>
      <p:sp>
        <p:nvSpPr>
          <p:cNvPr id="27" name="Shape 23"/>
          <p:cNvSpPr/>
          <p:nvPr/>
        </p:nvSpPr>
        <p:spPr>
          <a:xfrm>
            <a:off x="8060267" y="3207941"/>
            <a:ext cx="3522133" cy="0"/>
          </a:xfrm>
          <a:prstGeom prst="line">
            <a:avLst/>
          </a:prstGeom>
          <a:noFill/>
          <a:ln w="25400">
            <a:solidFill>
              <a:srgbClr val="E8A33D"/>
            </a:solidFill>
            <a:prstDash val="solid"/>
          </a:ln>
        </p:spPr>
      </p:sp>
      <p:sp>
        <p:nvSpPr>
          <p:cNvPr id="28" name="Text 24"/>
          <p:cNvSpPr/>
          <p:nvPr/>
        </p:nvSpPr>
        <p:spPr>
          <a:xfrm>
            <a:off x="8060267" y="3347641"/>
            <a:ext cx="362779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This work</a:t>
            </a:r>
            <a:endParaRPr lang="en-US" sz="1500" dirty="0"/>
          </a:p>
        </p:txBody>
      </p:sp>
      <p:sp>
        <p:nvSpPr>
          <p:cNvPr id="29" name="Text 25"/>
          <p:cNvSpPr/>
          <p:nvPr/>
        </p:nvSpPr>
        <p:spPr>
          <a:xfrm>
            <a:off x="8060267" y="3627041"/>
            <a:ext cx="3627797"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Chooses f_c together with all component sizes for minimum cost.</a:t>
            </a:r>
            <a:endParaRPr lang="en-US" sz="1300" dirty="0"/>
          </a:p>
        </p:txBody>
      </p:sp>
      <p:sp>
        <p:nvSpPr>
          <p:cNvPr id="30" name="Shape 26"/>
          <p:cNvSpPr/>
          <p:nvPr/>
        </p:nvSpPr>
        <p:spPr>
          <a:xfrm>
            <a:off x="609600" y="6210300"/>
            <a:ext cx="10972800" cy="12700"/>
          </a:xfrm>
          <a:prstGeom prst="rect">
            <a:avLst/>
          </a:prstGeom>
          <a:solidFill>
            <a:srgbClr val="D5DBE1"/>
          </a:solidFill>
          <a:ln/>
        </p:spPr>
      </p:sp>
      <p:sp>
        <p:nvSpPr>
          <p:cNvPr id="31" name="Text 27"/>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32" name="Text 28"/>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7 / 30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LITERATURE</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Related work</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2300" y="1282700"/>
          <a:ext cx="10960100" cy="2516518"/>
        </p:xfrm>
        <a:graphic>
          <a:graphicData uri="http://schemas.openxmlformats.org/drawingml/2006/table">
            <a:tbl>
              <a:tblPr/>
              <a:tblGrid>
                <a:gridCol w="2849626"/>
                <a:gridCol w="3288030"/>
                <a:gridCol w="1753616"/>
                <a:gridCol w="3068828"/>
              </a:tblGrid>
              <a:tr h="332647">
                <a:tc>
                  <a:txBody>
                    <a:bodyPr/>
                    <a:lstStyle/>
                    <a:p>
                      <a:pPr indent="0" marL="0">
                        <a:lnSpc>
                          <a:spcPts val="1680"/>
                        </a:lnSpc>
                        <a:buNone/>
                      </a:pPr>
                      <a:r>
                        <a:rPr lang="en-US" sz="1200" b="1" dirty="0">
                          <a:solidFill>
                            <a:srgbClr val="F7F6F1"/>
                          </a:solidFill>
                          <a:latin typeface="IBM Plex Sans" pitchFamily="34" charset="0"/>
                          <a:ea typeface="IBM Plex Sans" pitchFamily="34" charset="-122"/>
                          <a:cs typeface="IBM Plex Sans" pitchFamily="34" charset="-120"/>
                        </a:rPr>
                        <a:t>Work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7F6F1"/>
                          </a:solidFill>
                          <a:latin typeface="IBM Plex Sans" pitchFamily="34" charset="0"/>
                          <a:ea typeface="IBM Plex Sans" pitchFamily="34" charset="-122"/>
                          <a:cs typeface="IBM Plex Sans" pitchFamily="34" charset="-120"/>
                        </a:rPr>
                        <a:t>Approach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7F6F1"/>
                          </a:solidFill>
                          <a:latin typeface="IBM Plex Sans" pitchFamily="34" charset="0"/>
                          <a:ea typeface="IBM Plex Sans" pitchFamily="34" charset="-122"/>
                          <a:cs typeface="IBM Plex Sans" pitchFamily="34" charset="-120"/>
                        </a:rPr>
                        <a:t>Storage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7F6F1"/>
                          </a:solidFill>
                          <a:latin typeface="IBM Plex Sans" pitchFamily="34" charset="0"/>
                          <a:ea typeface="IBM Plex Sans" pitchFamily="34" charset="-122"/>
                          <a:cs typeface="IBM Plex Sans" pitchFamily="34" charset="-120"/>
                        </a:rPr>
                        <a:t>Gap for this project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545968">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Kumar et al., IEEE Access, 2018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HOMER techno-financial study of the IITG campus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Lead-acid battery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 supercapacitor; no storage-type split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5968">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Thounthong et al., J. Power Sources, 2009</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Energy management of FC/battery/SC source for vehicles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Battery + SC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Control focus; not cost sizing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r>
              <a:tr h="545968">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Kollimalla et al., IEEE Trans. Sust. Energy, 2014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Control strategy for battery–SC storage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Battery + SC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Fixed split; cost not optimised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5968">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Etxeberria et al., IPEC, 2010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Review of HESS for renewable integration in microgrids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Various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Survey; no site-specific sizing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r>
            </a:tbl>
          </a:graphicData>
        </a:graphic>
      </p:graphicFrame>
      <p:sp>
        <p:nvSpPr>
          <p:cNvPr id="8" name="Text 5"/>
          <p:cNvSpPr/>
          <p:nvPr/>
        </p:nvSpPr>
        <p:spPr>
          <a:xfrm>
            <a:off x="615950" y="4059572"/>
            <a:ext cx="10960100" cy="566407"/>
          </a:xfrm>
          <a:prstGeom prst="roundRect">
            <a:avLst>
              <a:gd name="adj" fmla="val 12332"/>
            </a:avLst>
          </a:prstGeom>
          <a:solidFill>
            <a:srgbClr val="FBFBF8"/>
          </a:solidFill>
          <a:ln w="12700">
            <a:solidFill>
              <a:srgbClr val="D5DBE1"/>
            </a:solidFill>
            <a:prstDash val="solid"/>
          </a:ln>
        </p:spPr>
        <p:txBody>
          <a:bodyPr wrap="square" lIns="189092" tIns="138292" rIns="0" bIns="112892"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This work extends Kumar et al. on the </a:t>
            </a:r>
            <a:r>
              <a:rPr lang="en-US" sz="1400" b="1" dirty="0">
                <a:solidFill>
                  <a:srgbClr val="13233A"/>
                </a:solidFill>
                <a:latin typeface="IBM Plex Sans" pitchFamily="34" charset="0"/>
                <a:ea typeface="IBM Plex Sans" pitchFamily="34" charset="-122"/>
                <a:cs typeface="IBM Plex Sans" pitchFamily="34" charset="-120"/>
              </a:rPr>
              <a:t>same campus</a:t>
            </a:r>
            <a:r>
              <a:rPr lang="en-US" sz="1400" dirty="0">
                <a:solidFill>
                  <a:srgbClr val="13233A"/>
                </a:solidFill>
                <a:latin typeface="IBM Plex Sans" pitchFamily="34" charset="0"/>
                <a:ea typeface="IBM Plex Sans" pitchFamily="34" charset="-122"/>
                <a:cs typeface="IBM Plex Sans" pitchFamily="34" charset="-120"/>
              </a:rPr>
              <a:t>: add a supercapacitor and </a:t>
            </a:r>
            <a:r>
              <a:rPr lang="en-US" sz="1400" b="1" dirty="0">
                <a:solidFill>
                  <a:srgbClr val="13233A"/>
                </a:solidFill>
                <a:latin typeface="IBM Plex Sans" pitchFamily="34" charset="0"/>
                <a:ea typeface="IBM Plex Sans" pitchFamily="34" charset="-122"/>
                <a:cs typeface="IBM Plex Sans" pitchFamily="34" charset="-120"/>
              </a:rPr>
              <a:t>co-optimise the power split</a:t>
            </a:r>
            <a:r>
              <a:rPr lang="en-US" sz="1400" dirty="0">
                <a:solidFill>
                  <a:srgbClr val="13233A"/>
                </a:solidFill>
                <a:latin typeface="IBM Plex Sans" pitchFamily="34" charset="0"/>
                <a:ea typeface="IBM Plex Sans" pitchFamily="34" charset="-122"/>
                <a:cs typeface="IBM Plex Sans" pitchFamily="34" charset="-120"/>
              </a:rPr>
              <a:t> with component sizes.</a:t>
            </a:r>
            <a:endParaRPr lang="en-US" sz="1400" dirty="0"/>
          </a:p>
        </p:txBody>
      </p:sp>
      <p:sp>
        <p:nvSpPr>
          <p:cNvPr id="9" name="Shape 6"/>
          <p:cNvSpPr/>
          <p:nvPr/>
        </p:nvSpPr>
        <p:spPr>
          <a:xfrm>
            <a:off x="609600" y="6210300"/>
            <a:ext cx="10972800" cy="12700"/>
          </a:xfrm>
          <a:prstGeom prst="rect">
            <a:avLst/>
          </a:prstGeom>
          <a:solidFill>
            <a:srgbClr val="D5DBE1"/>
          </a:solidFill>
          <a:ln/>
        </p:spPr>
      </p:sp>
      <p:sp>
        <p:nvSpPr>
          <p:cNvPr id="10" name="Text 7"/>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11" name="Text 8"/>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8 / 30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PROBLEM STATEMENT</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Research gap and objectives</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Shape 5"/>
          <p:cNvSpPr/>
          <p:nvPr/>
        </p:nvSpPr>
        <p:spPr>
          <a:xfrm>
            <a:off x="609600" y="1270000"/>
            <a:ext cx="4064000" cy="2506729"/>
          </a:xfrm>
          <a:prstGeom prst="roundRect">
            <a:avLst>
              <a:gd name="adj" fmla="val 4053"/>
            </a:avLst>
          </a:prstGeom>
          <a:solidFill>
            <a:srgbClr val="13233A"/>
          </a:solidFill>
          <a:ln/>
        </p:spPr>
      </p:sp>
      <p:sp>
        <p:nvSpPr>
          <p:cNvPr id="8" name="Text 6"/>
          <p:cNvSpPr/>
          <p:nvPr/>
        </p:nvSpPr>
        <p:spPr>
          <a:xfrm>
            <a:off x="863600" y="1524000"/>
            <a:ext cx="3662680"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8A33D"/>
                </a:solidFill>
                <a:latin typeface="IBM Plex Sans" pitchFamily="34" charset="0"/>
                <a:ea typeface="IBM Plex Sans" pitchFamily="34" charset="-122"/>
                <a:cs typeface="IBM Plex Sans" pitchFamily="34" charset="-120"/>
              </a:rPr>
              <a:t>Research gap</a:t>
            </a:r>
            <a:endParaRPr lang="en-US" sz="1800" dirty="0"/>
          </a:p>
        </p:txBody>
      </p:sp>
      <p:sp>
        <p:nvSpPr>
          <p:cNvPr id="9" name="Text 7"/>
          <p:cNvSpPr/>
          <p:nvPr/>
        </p:nvSpPr>
        <p:spPr>
          <a:xfrm>
            <a:off x="941832" y="1950709"/>
            <a:ext cx="3576828" cy="1572022"/>
          </a:xfrm>
          <a:prstGeom prst="rect">
            <a:avLst/>
          </a:prstGeom>
          <a:noFill/>
          <a:ln/>
        </p:spPr>
        <p:txBody>
          <a:bodyPr wrap="square" lIns="0" tIns="0" rIns="0" bIns="0" rtlCol="0" anchor="t">
            <a:normAutofit/>
          </a:bodyPr>
          <a:lstStyle/>
          <a:p>
            <a:pPr algn="l" marL="175768" indent="-175768">
              <a:lnSpc>
                <a:spcPts val="2030"/>
              </a:lnSpc>
              <a:buSzPct val="100000"/>
              <a:buChar char="•"/>
            </a:pPr>
            <a:r>
              <a:rPr lang="en-US" sz="1400" dirty="0">
                <a:solidFill>
                  <a:srgbClr val="F7F6F1"/>
                </a:solidFill>
                <a:latin typeface="IBM Plex Sans" pitchFamily="34" charset="0"/>
                <a:ea typeface="IBM Plex Sans" pitchFamily="34" charset="-122"/>
                <a:cs typeface="IBM Plex Sans" pitchFamily="34" charset="-120"/>
              </a:rPr>
              <a:t>Campus microgrid studies size battery-only storage</a:t>
            </a:r>
            <a:endParaRPr lang="en-US" sz="1400" dirty="0"/>
          </a:p>
          <a:p>
            <a:pPr algn="l" marL="175768" indent="-175768">
              <a:lnSpc>
                <a:spcPts val="2030"/>
              </a:lnSpc>
              <a:buSzPct val="100000"/>
              <a:buChar char="•"/>
            </a:pPr>
            <a:r>
              <a:rPr lang="en-US" sz="1400" dirty="0">
                <a:solidFill>
                  <a:srgbClr val="F7F6F1"/>
                </a:solidFill>
                <a:latin typeface="IBM Plex Sans" pitchFamily="34" charset="0"/>
                <a:ea typeface="IBM Plex Sans" pitchFamily="34" charset="-122"/>
                <a:cs typeface="IBM Plex Sans" pitchFamily="34" charset="-120"/>
              </a:rPr>
              <a:t>HESS papers focus on control, not lifetime cost</a:t>
            </a:r>
            <a:endParaRPr lang="en-US" sz="1400" dirty="0"/>
          </a:p>
          <a:p>
            <a:pPr algn="l" marL="175768" indent="-175768">
              <a:lnSpc>
                <a:spcPts val="2030"/>
              </a:lnSpc>
              <a:buSzPct val="100000"/>
              <a:buChar char="•"/>
            </a:pPr>
            <a:r>
              <a:rPr lang="en-US" sz="1400" dirty="0">
                <a:solidFill>
                  <a:srgbClr val="F7F6F1"/>
                </a:solidFill>
                <a:latin typeface="IBM Plex Sans" pitchFamily="34" charset="0"/>
                <a:ea typeface="IBM Plex Sans" pitchFamily="34" charset="-122"/>
                <a:cs typeface="IBM Plex Sans" pitchFamily="34" charset="-120"/>
              </a:rPr>
              <a:t>The filter cut-off f_c is usually fixed, not optimised</a:t>
            </a:r>
            <a:endParaRPr lang="en-US" sz="1400" dirty="0"/>
          </a:p>
        </p:txBody>
      </p:sp>
      <p:sp>
        <p:nvSpPr>
          <p:cNvPr id="10" name="Shape 8"/>
          <p:cNvSpPr/>
          <p:nvPr/>
        </p:nvSpPr>
        <p:spPr>
          <a:xfrm>
            <a:off x="4984750" y="1276350"/>
            <a:ext cx="6591300" cy="2494029"/>
          </a:xfrm>
          <a:prstGeom prst="roundRect">
            <a:avLst>
              <a:gd name="adj" fmla="val 3819"/>
            </a:avLst>
          </a:prstGeom>
          <a:solidFill>
            <a:srgbClr val="FBFBF8"/>
          </a:solidFill>
          <a:ln w="12700">
            <a:solidFill>
              <a:srgbClr val="D5DBE1"/>
            </a:solidFill>
            <a:prstDash val="solid"/>
          </a:ln>
        </p:spPr>
      </p:sp>
      <p:sp>
        <p:nvSpPr>
          <p:cNvPr id="11" name="Text 9"/>
          <p:cNvSpPr/>
          <p:nvPr/>
        </p:nvSpPr>
        <p:spPr>
          <a:xfrm>
            <a:off x="5245100" y="1536700"/>
            <a:ext cx="6252718"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33A"/>
                </a:solidFill>
                <a:latin typeface="IBM Plex Sans" pitchFamily="34" charset="0"/>
                <a:ea typeface="IBM Plex Sans" pitchFamily="34" charset="-122"/>
                <a:cs typeface="IBM Plex Sans" pitchFamily="34" charset="-120"/>
              </a:rPr>
              <a:t>Objectives</a:t>
            </a:r>
            <a:endParaRPr lang="en-US" sz="1800" dirty="0"/>
          </a:p>
        </p:txBody>
      </p:sp>
      <p:sp>
        <p:nvSpPr>
          <p:cNvPr id="12" name="Text 10"/>
          <p:cNvSpPr/>
          <p:nvPr/>
        </p:nvSpPr>
        <p:spPr>
          <a:xfrm>
            <a:off x="5302052" y="1963409"/>
            <a:ext cx="6188146" cy="1572022"/>
          </a:xfrm>
          <a:prstGeom prst="rect">
            <a:avLst/>
          </a:prstGeom>
          <a:noFill/>
          <a:ln/>
        </p:spPr>
        <p:txBody>
          <a:bodyPr wrap="square" lIns="0" tIns="0" rIns="0" bIns="0" rtlCol="0" anchor="t">
            <a:normAutofit/>
          </a:bodyPr>
          <a:lstStyle/>
          <a:p>
            <a:pPr algn="l" marL="197048" indent="-197048">
              <a:lnSpc>
                <a:spcPts val="2030"/>
              </a:lnSpc>
              <a:buSzPct val="100000"/>
              <a:buFontTx/>
              <a:buAutoNum type="arabicPeriod" startAt="1"/>
            </a:pPr>
            <a:r>
              <a:rPr lang="en-US" sz="1400" dirty="0">
                <a:solidFill>
                  <a:srgbClr val="13233A"/>
                </a:solidFill>
                <a:latin typeface="IBM Plex Sans" pitchFamily="34" charset="0"/>
                <a:ea typeface="IBM Plex Sans" pitchFamily="34" charset="-122"/>
                <a:cs typeface="IBM Plex Sans" pitchFamily="34" charset="-120"/>
              </a:rPr>
              <a:t>Build an hourly simulator of a PV–battery–SC DC microgrid for the IITG site</a:t>
            </a:r>
            <a:endParaRPr lang="en-US" sz="1400" dirty="0"/>
          </a:p>
          <a:p>
            <a:pPr algn="l" marL="197048" indent="-197048">
              <a:lnSpc>
                <a:spcPts val="2030"/>
              </a:lnSpc>
              <a:buSzPct val="100000"/>
              <a:buFontTx/>
              <a:buAutoNum type="arabicPeriod" startAt="1"/>
            </a:pPr>
            <a:r>
              <a:rPr lang="en-US" sz="1400" dirty="0">
                <a:solidFill>
                  <a:srgbClr val="13233A"/>
                </a:solidFill>
                <a:latin typeface="IBM Plex Sans" pitchFamily="34" charset="0"/>
                <a:ea typeface="IBM Plex Sans" pitchFamily="34" charset="-122"/>
                <a:cs typeface="IBM Plex Sans" pitchFamily="34" charset="-120"/>
              </a:rPr>
              <a:t>Model battery wear with rainflow cycle counting</a:t>
            </a:r>
            <a:endParaRPr lang="en-US" sz="1400" dirty="0"/>
          </a:p>
          <a:p>
            <a:pPr algn="l" marL="197048" indent="-197048">
              <a:lnSpc>
                <a:spcPts val="2030"/>
              </a:lnSpc>
              <a:buSzPct val="100000"/>
              <a:buFontTx/>
              <a:buAutoNum type="arabicPeriod" startAt="1"/>
            </a:pPr>
            <a:r>
              <a:rPr lang="en-US" sz="1400" dirty="0">
                <a:solidFill>
                  <a:srgbClr val="13233A"/>
                </a:solidFill>
                <a:latin typeface="IBM Plex Sans" pitchFamily="34" charset="0"/>
                <a:ea typeface="IBM Plex Sans" pitchFamily="34" charset="-122"/>
                <a:cs typeface="IBM Plex Sans" pitchFamily="34" charset="-120"/>
              </a:rPr>
              <a:t>Minimise 20-year Net Present Cost subject to LPSP ≤ 1 %</a:t>
            </a:r>
            <a:endParaRPr lang="en-US" sz="1400" dirty="0"/>
          </a:p>
          <a:p>
            <a:pPr algn="l" marL="197048" indent="-197048">
              <a:lnSpc>
                <a:spcPts val="2030"/>
              </a:lnSpc>
              <a:buSzPct val="100000"/>
              <a:buFontTx/>
              <a:buAutoNum type="arabicPeriod" startAt="1"/>
            </a:pPr>
            <a:r>
              <a:rPr lang="en-US" sz="1400" dirty="0">
                <a:solidFill>
                  <a:srgbClr val="13233A"/>
                </a:solidFill>
                <a:latin typeface="IBM Plex Sans" pitchFamily="34" charset="0"/>
                <a:ea typeface="IBM Plex Sans" pitchFamily="34" charset="-122"/>
                <a:cs typeface="IBM Plex Sans" pitchFamily="34" charset="-120"/>
              </a:rPr>
              <a:t>Co-optimise PV size, battery energy, SC strings and f_c; compare Cases A, B and C</a:t>
            </a:r>
            <a:endParaRPr lang="en-US" sz="1400" dirty="0"/>
          </a:p>
        </p:txBody>
      </p:sp>
      <p:sp>
        <p:nvSpPr>
          <p:cNvPr id="13" name="Shape 11"/>
          <p:cNvSpPr/>
          <p:nvPr/>
        </p:nvSpPr>
        <p:spPr>
          <a:xfrm>
            <a:off x="609600" y="6210300"/>
            <a:ext cx="10972800" cy="12700"/>
          </a:xfrm>
          <a:prstGeom prst="rect">
            <a:avLst/>
          </a:prstGeom>
          <a:solidFill>
            <a:srgbClr val="D5DBE1"/>
          </a:solidFill>
          <a:ln/>
        </p:spPr>
      </p:sp>
      <p:sp>
        <p:nvSpPr>
          <p:cNvPr id="14" name="Text 12"/>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15" name="Text 13"/>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9 / 30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SYSTEM</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DC microgrid architecture</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Shape 5"/>
          <p:cNvSpPr/>
          <p:nvPr/>
        </p:nvSpPr>
        <p:spPr>
          <a:xfrm>
            <a:off x="615950" y="1276350"/>
            <a:ext cx="2578100" cy="739114"/>
          </a:xfrm>
          <a:prstGeom prst="roundRect">
            <a:avLst>
              <a:gd name="adj" fmla="val 9451"/>
            </a:avLst>
          </a:prstGeom>
          <a:solidFill>
            <a:srgbClr val="FBFBF8"/>
          </a:solidFill>
          <a:ln w="12700">
            <a:solidFill>
              <a:srgbClr val="D5DBE1"/>
            </a:solidFill>
            <a:prstDash val="solid"/>
          </a:ln>
        </p:spPr>
      </p:sp>
      <p:sp>
        <p:nvSpPr>
          <p:cNvPr id="8" name="Text 6"/>
          <p:cNvSpPr/>
          <p:nvPr/>
        </p:nvSpPr>
        <p:spPr>
          <a:xfrm>
            <a:off x="774700" y="1409700"/>
            <a:ext cx="232841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Solar PV array</a:t>
            </a:r>
            <a:endParaRPr lang="en-US" sz="1500" dirty="0"/>
          </a:p>
        </p:txBody>
      </p:sp>
      <p:sp>
        <p:nvSpPr>
          <p:cNvPr id="9" name="Text 7"/>
          <p:cNvSpPr/>
          <p:nvPr/>
        </p:nvSpPr>
        <p:spPr>
          <a:xfrm>
            <a:off x="774700" y="1676400"/>
            <a:ext cx="2328418"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N_PV modules</a:t>
            </a:r>
            <a:endParaRPr lang="en-US" sz="1200" dirty="0"/>
          </a:p>
        </p:txBody>
      </p:sp>
      <p:sp>
        <p:nvSpPr>
          <p:cNvPr id="10" name="Shape 8"/>
          <p:cNvSpPr/>
          <p:nvPr/>
        </p:nvSpPr>
        <p:spPr>
          <a:xfrm>
            <a:off x="3409950" y="1276350"/>
            <a:ext cx="2578100" cy="739114"/>
          </a:xfrm>
          <a:prstGeom prst="roundRect">
            <a:avLst>
              <a:gd name="adj" fmla="val 9451"/>
            </a:avLst>
          </a:prstGeom>
          <a:solidFill>
            <a:srgbClr val="FBFBF8"/>
          </a:solidFill>
          <a:ln w="12700">
            <a:solidFill>
              <a:srgbClr val="D5DBE1"/>
            </a:solidFill>
            <a:prstDash val="solid"/>
          </a:ln>
        </p:spPr>
      </p:sp>
      <p:sp>
        <p:nvSpPr>
          <p:cNvPr id="11" name="Text 9"/>
          <p:cNvSpPr/>
          <p:nvPr/>
        </p:nvSpPr>
        <p:spPr>
          <a:xfrm>
            <a:off x="3568700" y="1409700"/>
            <a:ext cx="232841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Battery bank</a:t>
            </a:r>
            <a:endParaRPr lang="en-US" sz="1500" dirty="0"/>
          </a:p>
        </p:txBody>
      </p:sp>
      <p:sp>
        <p:nvSpPr>
          <p:cNvPr id="12" name="Text 10"/>
          <p:cNvSpPr/>
          <p:nvPr/>
        </p:nvSpPr>
        <p:spPr>
          <a:xfrm>
            <a:off x="3568700" y="1676400"/>
            <a:ext cx="2328418"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E_bat (kWh), lead-acid</a:t>
            </a:r>
            <a:endParaRPr lang="en-US" sz="1200" dirty="0"/>
          </a:p>
        </p:txBody>
      </p:sp>
      <p:sp>
        <p:nvSpPr>
          <p:cNvPr id="13" name="Shape 11"/>
          <p:cNvSpPr/>
          <p:nvPr/>
        </p:nvSpPr>
        <p:spPr>
          <a:xfrm>
            <a:off x="6203950" y="1276350"/>
            <a:ext cx="2578100" cy="739114"/>
          </a:xfrm>
          <a:prstGeom prst="roundRect">
            <a:avLst>
              <a:gd name="adj" fmla="val 9451"/>
            </a:avLst>
          </a:prstGeom>
          <a:solidFill>
            <a:srgbClr val="FBFBF8"/>
          </a:solidFill>
          <a:ln w="12700">
            <a:solidFill>
              <a:srgbClr val="D5DBE1"/>
            </a:solidFill>
            <a:prstDash val="solid"/>
          </a:ln>
        </p:spPr>
      </p:sp>
      <p:sp>
        <p:nvSpPr>
          <p:cNvPr id="14" name="Text 12"/>
          <p:cNvSpPr/>
          <p:nvPr/>
        </p:nvSpPr>
        <p:spPr>
          <a:xfrm>
            <a:off x="6362700" y="1409700"/>
            <a:ext cx="232841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Supercapacitor</a:t>
            </a:r>
            <a:endParaRPr lang="en-US" sz="1500" dirty="0"/>
          </a:p>
        </p:txBody>
      </p:sp>
      <p:sp>
        <p:nvSpPr>
          <p:cNvPr id="15" name="Text 13"/>
          <p:cNvSpPr/>
          <p:nvPr/>
        </p:nvSpPr>
        <p:spPr>
          <a:xfrm>
            <a:off x="6362700" y="1676400"/>
            <a:ext cx="2328418"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N_SC strings</a:t>
            </a:r>
            <a:endParaRPr lang="en-US" sz="1200" dirty="0"/>
          </a:p>
        </p:txBody>
      </p:sp>
      <p:sp>
        <p:nvSpPr>
          <p:cNvPr id="16" name="Shape 14"/>
          <p:cNvSpPr/>
          <p:nvPr/>
        </p:nvSpPr>
        <p:spPr>
          <a:xfrm>
            <a:off x="8997950" y="1276350"/>
            <a:ext cx="2578100" cy="739114"/>
          </a:xfrm>
          <a:prstGeom prst="roundRect">
            <a:avLst>
              <a:gd name="adj" fmla="val 9451"/>
            </a:avLst>
          </a:prstGeom>
          <a:solidFill>
            <a:srgbClr val="FBFBF8"/>
          </a:solidFill>
          <a:ln w="12700">
            <a:solidFill>
              <a:srgbClr val="D5DBE1"/>
            </a:solidFill>
            <a:prstDash val="solid"/>
          </a:ln>
        </p:spPr>
      </p:sp>
      <p:sp>
        <p:nvSpPr>
          <p:cNvPr id="17" name="Text 15"/>
          <p:cNvSpPr/>
          <p:nvPr/>
        </p:nvSpPr>
        <p:spPr>
          <a:xfrm>
            <a:off x="9156700" y="1409700"/>
            <a:ext cx="232841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Campus load</a:t>
            </a:r>
            <a:endParaRPr lang="en-US" sz="1500" dirty="0"/>
          </a:p>
        </p:txBody>
      </p:sp>
      <p:sp>
        <p:nvSpPr>
          <p:cNvPr id="18" name="Text 16"/>
          <p:cNvSpPr/>
          <p:nvPr/>
        </p:nvSpPr>
        <p:spPr>
          <a:xfrm>
            <a:off x="9156700" y="1676400"/>
            <a:ext cx="2328418"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Hourly profile</a:t>
            </a:r>
            <a:endParaRPr lang="en-US" sz="1200" dirty="0"/>
          </a:p>
        </p:txBody>
      </p:sp>
      <p:sp>
        <p:nvSpPr>
          <p:cNvPr id="19" name="Shape 17"/>
          <p:cNvSpPr/>
          <p:nvPr/>
        </p:nvSpPr>
        <p:spPr>
          <a:xfrm>
            <a:off x="1892300" y="2021818"/>
            <a:ext cx="25400" cy="203200"/>
          </a:xfrm>
          <a:prstGeom prst="rect">
            <a:avLst/>
          </a:prstGeom>
          <a:solidFill>
            <a:srgbClr val="13233A"/>
          </a:solidFill>
          <a:ln/>
        </p:spPr>
      </p:sp>
      <p:sp>
        <p:nvSpPr>
          <p:cNvPr id="20" name="Shape 18"/>
          <p:cNvSpPr/>
          <p:nvPr/>
        </p:nvSpPr>
        <p:spPr>
          <a:xfrm>
            <a:off x="4686300" y="2021818"/>
            <a:ext cx="25400" cy="203200"/>
          </a:xfrm>
          <a:prstGeom prst="rect">
            <a:avLst/>
          </a:prstGeom>
          <a:solidFill>
            <a:srgbClr val="13233A"/>
          </a:solidFill>
          <a:ln/>
        </p:spPr>
      </p:sp>
      <p:sp>
        <p:nvSpPr>
          <p:cNvPr id="21" name="Shape 19"/>
          <p:cNvSpPr/>
          <p:nvPr/>
        </p:nvSpPr>
        <p:spPr>
          <a:xfrm>
            <a:off x="7480300" y="2021818"/>
            <a:ext cx="25400" cy="203200"/>
          </a:xfrm>
          <a:prstGeom prst="rect">
            <a:avLst/>
          </a:prstGeom>
          <a:solidFill>
            <a:srgbClr val="13233A"/>
          </a:solidFill>
          <a:ln/>
        </p:spPr>
      </p:sp>
      <p:sp>
        <p:nvSpPr>
          <p:cNvPr id="22" name="Shape 20"/>
          <p:cNvSpPr/>
          <p:nvPr/>
        </p:nvSpPr>
        <p:spPr>
          <a:xfrm>
            <a:off x="10274300" y="2021818"/>
            <a:ext cx="25400" cy="203200"/>
          </a:xfrm>
          <a:prstGeom prst="rect">
            <a:avLst/>
          </a:prstGeom>
          <a:solidFill>
            <a:srgbClr val="13233A"/>
          </a:solidFill>
          <a:ln/>
        </p:spPr>
      </p:sp>
      <p:sp>
        <p:nvSpPr>
          <p:cNvPr id="23" name="Text 21"/>
          <p:cNvSpPr/>
          <p:nvPr/>
        </p:nvSpPr>
        <p:spPr>
          <a:xfrm>
            <a:off x="609600" y="2225018"/>
            <a:ext cx="2590800" cy="459714"/>
          </a:xfrm>
          <a:prstGeom prst="roundRect">
            <a:avLst>
              <a:gd name="adj" fmla="val 16576"/>
            </a:avLst>
          </a:prstGeom>
          <a:solidFill>
            <a:srgbClr val="13233A"/>
          </a:solidFill>
          <a:ln/>
        </p:spPr>
        <p:txBody>
          <a:bodyPr wrap="square" lIns="95792" tIns="91982" rIns="95792" bIns="66582" rtlCol="0" anchor="t">
            <a:normAutofit/>
          </a:bodyPr>
          <a:lstStyle/>
          <a:p>
            <a:pPr algn="ctr" indent="0" marL="0">
              <a:lnSpc>
                <a:spcPts val="1820"/>
              </a:lnSpc>
              <a:buNone/>
            </a:pPr>
            <a:r>
              <a:rPr lang="en-US" sz="1300" dirty="0">
                <a:solidFill>
                  <a:srgbClr val="F7F6F1"/>
                </a:solidFill>
                <a:latin typeface="IBM Plex Sans" pitchFamily="34" charset="0"/>
                <a:ea typeface="IBM Plex Sans" pitchFamily="34" charset="-122"/>
                <a:cs typeface="IBM Plex Sans" pitchFamily="34" charset="-120"/>
              </a:rPr>
              <a:t>DC–DC boost + MPPT</a:t>
            </a:r>
            <a:endParaRPr lang="en-US" sz="1300" dirty="0"/>
          </a:p>
        </p:txBody>
      </p:sp>
      <p:sp>
        <p:nvSpPr>
          <p:cNvPr id="24" name="Text 22"/>
          <p:cNvSpPr/>
          <p:nvPr/>
        </p:nvSpPr>
        <p:spPr>
          <a:xfrm>
            <a:off x="3403600" y="2225018"/>
            <a:ext cx="2590800" cy="459714"/>
          </a:xfrm>
          <a:prstGeom prst="roundRect">
            <a:avLst>
              <a:gd name="adj" fmla="val 16576"/>
            </a:avLst>
          </a:prstGeom>
          <a:solidFill>
            <a:srgbClr val="13233A"/>
          </a:solidFill>
          <a:ln/>
        </p:spPr>
        <p:txBody>
          <a:bodyPr wrap="square" lIns="95792" tIns="91982" rIns="95792" bIns="66582" rtlCol="0" anchor="t">
            <a:normAutofit/>
          </a:bodyPr>
          <a:lstStyle/>
          <a:p>
            <a:pPr algn="ctr" indent="0" marL="0">
              <a:lnSpc>
                <a:spcPts val="1820"/>
              </a:lnSpc>
              <a:buNone/>
            </a:pPr>
            <a:r>
              <a:rPr lang="en-US" sz="1300" dirty="0">
                <a:solidFill>
                  <a:srgbClr val="F7F6F1"/>
                </a:solidFill>
                <a:latin typeface="IBM Plex Sans" pitchFamily="34" charset="0"/>
                <a:ea typeface="IBM Plex Sans" pitchFamily="34" charset="-122"/>
                <a:cs typeface="IBM Plex Sans" pitchFamily="34" charset="-120"/>
              </a:rPr>
              <a:t>Bidirectional DC–DC</a:t>
            </a:r>
            <a:endParaRPr lang="en-US" sz="1300" dirty="0"/>
          </a:p>
        </p:txBody>
      </p:sp>
      <p:sp>
        <p:nvSpPr>
          <p:cNvPr id="25" name="Text 23"/>
          <p:cNvSpPr/>
          <p:nvPr/>
        </p:nvSpPr>
        <p:spPr>
          <a:xfrm>
            <a:off x="6197600" y="2225018"/>
            <a:ext cx="2590800" cy="459714"/>
          </a:xfrm>
          <a:prstGeom prst="roundRect">
            <a:avLst>
              <a:gd name="adj" fmla="val 16576"/>
            </a:avLst>
          </a:prstGeom>
          <a:solidFill>
            <a:srgbClr val="13233A"/>
          </a:solidFill>
          <a:ln/>
        </p:spPr>
        <p:txBody>
          <a:bodyPr wrap="square" lIns="95792" tIns="91982" rIns="95792" bIns="66582" rtlCol="0" anchor="t">
            <a:normAutofit/>
          </a:bodyPr>
          <a:lstStyle/>
          <a:p>
            <a:pPr algn="ctr" indent="0" marL="0">
              <a:lnSpc>
                <a:spcPts val="1820"/>
              </a:lnSpc>
              <a:buNone/>
            </a:pPr>
            <a:r>
              <a:rPr lang="en-US" sz="1300" dirty="0">
                <a:solidFill>
                  <a:srgbClr val="F7F6F1"/>
                </a:solidFill>
                <a:latin typeface="IBM Plex Sans" pitchFamily="34" charset="0"/>
                <a:ea typeface="IBM Plex Sans" pitchFamily="34" charset="-122"/>
                <a:cs typeface="IBM Plex Sans" pitchFamily="34" charset="-120"/>
              </a:rPr>
              <a:t>Bidirectional DC–DC</a:t>
            </a:r>
            <a:endParaRPr lang="en-US" sz="1300" dirty="0"/>
          </a:p>
        </p:txBody>
      </p:sp>
      <p:sp>
        <p:nvSpPr>
          <p:cNvPr id="26" name="Text 24"/>
          <p:cNvSpPr/>
          <p:nvPr/>
        </p:nvSpPr>
        <p:spPr>
          <a:xfrm>
            <a:off x="8991600" y="2225018"/>
            <a:ext cx="2590800" cy="459714"/>
          </a:xfrm>
          <a:prstGeom prst="roundRect">
            <a:avLst>
              <a:gd name="adj" fmla="val 16576"/>
            </a:avLst>
          </a:prstGeom>
          <a:solidFill>
            <a:srgbClr val="13233A"/>
          </a:solidFill>
          <a:ln/>
        </p:spPr>
        <p:txBody>
          <a:bodyPr wrap="square" lIns="95792" tIns="91982" rIns="95792" bIns="66582" rtlCol="0" anchor="t">
            <a:normAutofit/>
          </a:bodyPr>
          <a:lstStyle/>
          <a:p>
            <a:pPr algn="ctr" indent="0" marL="0">
              <a:lnSpc>
                <a:spcPts val="1820"/>
              </a:lnSpc>
              <a:buNone/>
            </a:pPr>
            <a:r>
              <a:rPr lang="en-US" sz="1300" dirty="0">
                <a:solidFill>
                  <a:srgbClr val="F7F6F1"/>
                </a:solidFill>
                <a:latin typeface="IBM Plex Sans" pitchFamily="34" charset="0"/>
                <a:ea typeface="IBM Plex Sans" pitchFamily="34" charset="-122"/>
                <a:cs typeface="IBM Plex Sans" pitchFamily="34" charset="-120"/>
              </a:rPr>
              <a:t>Load converter</a:t>
            </a:r>
            <a:endParaRPr lang="en-US" sz="1300" dirty="0"/>
          </a:p>
        </p:txBody>
      </p:sp>
      <p:sp>
        <p:nvSpPr>
          <p:cNvPr id="27" name="Shape 25"/>
          <p:cNvSpPr/>
          <p:nvPr/>
        </p:nvSpPr>
        <p:spPr>
          <a:xfrm>
            <a:off x="1892300" y="2684729"/>
            <a:ext cx="25400" cy="203200"/>
          </a:xfrm>
          <a:prstGeom prst="rect">
            <a:avLst/>
          </a:prstGeom>
          <a:solidFill>
            <a:srgbClr val="13233A"/>
          </a:solidFill>
          <a:ln/>
        </p:spPr>
      </p:sp>
      <p:sp>
        <p:nvSpPr>
          <p:cNvPr id="28" name="Shape 26"/>
          <p:cNvSpPr/>
          <p:nvPr/>
        </p:nvSpPr>
        <p:spPr>
          <a:xfrm>
            <a:off x="4686300" y="2684729"/>
            <a:ext cx="25400" cy="203200"/>
          </a:xfrm>
          <a:prstGeom prst="rect">
            <a:avLst/>
          </a:prstGeom>
          <a:solidFill>
            <a:srgbClr val="13233A"/>
          </a:solidFill>
          <a:ln/>
        </p:spPr>
      </p:sp>
      <p:sp>
        <p:nvSpPr>
          <p:cNvPr id="29" name="Shape 27"/>
          <p:cNvSpPr/>
          <p:nvPr/>
        </p:nvSpPr>
        <p:spPr>
          <a:xfrm>
            <a:off x="7480300" y="2684729"/>
            <a:ext cx="25400" cy="203200"/>
          </a:xfrm>
          <a:prstGeom prst="rect">
            <a:avLst/>
          </a:prstGeom>
          <a:solidFill>
            <a:srgbClr val="13233A"/>
          </a:solidFill>
          <a:ln/>
        </p:spPr>
      </p:sp>
      <p:sp>
        <p:nvSpPr>
          <p:cNvPr id="30" name="Shape 28"/>
          <p:cNvSpPr/>
          <p:nvPr/>
        </p:nvSpPr>
        <p:spPr>
          <a:xfrm>
            <a:off x="10274300" y="2684729"/>
            <a:ext cx="25400" cy="203200"/>
          </a:xfrm>
          <a:prstGeom prst="rect">
            <a:avLst/>
          </a:prstGeom>
          <a:solidFill>
            <a:srgbClr val="13233A"/>
          </a:solidFill>
          <a:ln/>
        </p:spPr>
      </p:sp>
      <p:sp>
        <p:nvSpPr>
          <p:cNvPr id="31" name="Text 29"/>
          <p:cNvSpPr/>
          <p:nvPr/>
        </p:nvSpPr>
        <p:spPr>
          <a:xfrm>
            <a:off x="609600" y="2887929"/>
            <a:ext cx="10972800" cy="426707"/>
          </a:xfrm>
          <a:prstGeom prst="roundRect">
            <a:avLst>
              <a:gd name="adj" fmla="val 14881"/>
            </a:avLst>
          </a:prstGeom>
          <a:solidFill>
            <a:srgbClr val="E8A33D"/>
          </a:solidFill>
          <a:ln/>
        </p:spPr>
        <p:txBody>
          <a:bodyPr wrap="square" lIns="0" tIns="70301" rIns="0" bIns="44902" rtlCol="0" anchor="t">
            <a:normAutofit/>
          </a:bodyPr>
          <a:lstStyle/>
          <a:p>
            <a:pPr algn="ctr" indent="0" marL="0">
              <a:lnSpc>
                <a:spcPts val="1960"/>
              </a:lnSpc>
              <a:buNone/>
            </a:pPr>
            <a:r>
              <a:rPr lang="en-US" sz="1400" b="1" dirty="0">
                <a:solidFill>
                  <a:srgbClr val="13233A"/>
                </a:solidFill>
                <a:latin typeface="IBM Plex Sans" pitchFamily="34" charset="0"/>
                <a:ea typeface="IBM Plex Sans" pitchFamily="34" charset="-122"/>
                <a:cs typeface="IBM Plex Sans" pitchFamily="34" charset="-120"/>
              </a:rPr>
              <a:t>Common DC bus · [__ V]</a:t>
            </a:r>
            <a:endParaRPr lang="en-US" sz="1400" dirty="0"/>
          </a:p>
        </p:txBody>
      </p:sp>
      <p:sp>
        <p:nvSpPr>
          <p:cNvPr id="32" name="Shape 30"/>
          <p:cNvSpPr/>
          <p:nvPr/>
        </p:nvSpPr>
        <p:spPr>
          <a:xfrm>
            <a:off x="615950" y="3574988"/>
            <a:ext cx="10960100" cy="495300"/>
          </a:xfrm>
          <a:prstGeom prst="roundRect">
            <a:avLst>
              <a:gd name="adj" fmla="val 14103"/>
            </a:avLst>
          </a:prstGeom>
          <a:noFill/>
          <a:ln w="12700">
            <a:solidFill>
              <a:srgbClr val="2E6F95"/>
            </a:solidFill>
            <a:prstDash val="dash"/>
          </a:ln>
        </p:spPr>
      </p:sp>
      <p:pic>
        <p:nvPicPr>
          <p:cNvPr id="33" name="Image 0" descr="Activity">    </p:cNvPr>
          <p:cNvPicPr>
            <a:picLocks noChangeAspect="1"/>
          </p:cNvPicPr>
          <p:nvPr/>
        </p:nvPicPr>
        <p:blipFill>
          <a:blip r:embed="rId1"/>
          <a:srcRect l="0" r="0" t="0" b="0"/>
          <a:stretch/>
        </p:blipFill>
        <p:spPr>
          <a:xfrm>
            <a:off x="774700" y="3695638"/>
            <a:ext cx="254000" cy="254000"/>
          </a:xfrm>
          <a:prstGeom prst="rect">
            <a:avLst/>
          </a:prstGeom>
        </p:spPr>
      </p:pic>
      <p:sp>
        <p:nvSpPr>
          <p:cNvPr id="34" name="Text 31"/>
          <p:cNvSpPr/>
          <p:nvPr/>
        </p:nvSpPr>
        <p:spPr>
          <a:xfrm>
            <a:off x="1130300" y="3707079"/>
            <a:ext cx="10190877"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Energy management:</a:t>
            </a:r>
            <a:r>
              <a:rPr lang="en-US" sz="1300" dirty="0">
                <a:solidFill>
                  <a:srgbClr val="13233A"/>
                </a:solidFill>
                <a:latin typeface="IBM Plex Sans" pitchFamily="34" charset="0"/>
                <a:ea typeface="IBM Plex Sans" pitchFamily="34" charset="-122"/>
                <a:cs typeface="IBM Plex Sans" pitchFamily="34" charset="-120"/>
              </a:rPr>
              <a:t> low-pass filter (f_c) sets battery and SC references; unmet energy is logged to compute LPSP</a:t>
            </a:r>
            <a:endParaRPr lang="en-US" sz="1300" dirty="0"/>
          </a:p>
        </p:txBody>
      </p:sp>
      <p:sp>
        <p:nvSpPr>
          <p:cNvPr id="35" name="Shape 32"/>
          <p:cNvSpPr/>
          <p:nvPr/>
        </p:nvSpPr>
        <p:spPr>
          <a:xfrm>
            <a:off x="609600" y="6210300"/>
            <a:ext cx="10972800" cy="12700"/>
          </a:xfrm>
          <a:prstGeom prst="rect">
            <a:avLst/>
          </a:prstGeom>
          <a:solidFill>
            <a:srgbClr val="D5DBE1"/>
          </a:solidFill>
          <a:ln/>
        </p:spPr>
      </p:sp>
      <p:sp>
        <p:nvSpPr>
          <p:cNvPr id="36" name="Text 33"/>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37" name="Text 34"/>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10 / 30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DATA</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Site and input data — IIT Guwahati</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Text 5"/>
          <p:cNvSpPr/>
          <p:nvPr/>
        </p:nvSpPr>
        <p:spPr>
          <a:xfrm>
            <a:off x="609600" y="1270000"/>
            <a:ext cx="544169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6B78"/>
                </a:solidFill>
                <a:latin typeface="IBM Plex Sans" pitchFamily="34" charset="0"/>
                <a:ea typeface="IBM Plex Sans" pitchFamily="34" charset="-122"/>
                <a:cs typeface="IBM Plex Sans" pitchFamily="34" charset="-120"/>
              </a:rPr>
              <a:t>SOLAR RESOURCE · NASA POWER, 2023</a:t>
            </a:r>
            <a:endParaRPr lang="en-US" sz="1200" dirty="0"/>
          </a:p>
        </p:txBody>
      </p:sp>
      <p:sp>
        <p:nvSpPr>
          <p:cNvPr id="8" name="Shape 6"/>
          <p:cNvSpPr/>
          <p:nvPr/>
        </p:nvSpPr>
        <p:spPr>
          <a:xfrm>
            <a:off x="615950" y="1616670"/>
            <a:ext cx="2565400" cy="952434"/>
          </a:xfrm>
          <a:prstGeom prst="roundRect">
            <a:avLst>
              <a:gd name="adj" fmla="val 7334"/>
            </a:avLst>
          </a:prstGeom>
          <a:solidFill>
            <a:srgbClr val="FBFBF8"/>
          </a:solidFill>
          <a:ln w="12700">
            <a:solidFill>
              <a:srgbClr val="D5DBE1"/>
            </a:solidFill>
            <a:prstDash val="solid"/>
          </a:ln>
        </p:spPr>
      </p:sp>
      <p:sp>
        <p:nvSpPr>
          <p:cNvPr id="9" name="Text 7"/>
          <p:cNvSpPr/>
          <p:nvPr/>
        </p:nvSpPr>
        <p:spPr>
          <a:xfrm>
            <a:off x="774700" y="1775420"/>
            <a:ext cx="231533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3233A"/>
                </a:solidFill>
                <a:latin typeface="Source Serif 4" pitchFamily="18" charset="0"/>
                <a:ea typeface="Source Serif 4" pitchFamily="18" charset="-122"/>
                <a:cs typeface="Source Serif 4" pitchFamily="18" charset="-120"/>
              </a:rPr>
              <a:t>1,639</a:t>
            </a:r>
            <a:endParaRPr lang="en-US" sz="2800" dirty="0"/>
          </a:p>
        </p:txBody>
      </p:sp>
      <p:sp>
        <p:nvSpPr>
          <p:cNvPr id="10" name="Text 8"/>
          <p:cNvSpPr/>
          <p:nvPr/>
        </p:nvSpPr>
        <p:spPr>
          <a:xfrm>
            <a:off x="774700" y="2204641"/>
            <a:ext cx="231533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kWh/m² annual irradiation</a:t>
            </a:r>
            <a:endParaRPr lang="en-US" sz="1200" dirty="0"/>
          </a:p>
        </p:txBody>
      </p:sp>
      <p:sp>
        <p:nvSpPr>
          <p:cNvPr id="11" name="Shape 9"/>
          <p:cNvSpPr/>
          <p:nvPr/>
        </p:nvSpPr>
        <p:spPr>
          <a:xfrm>
            <a:off x="3321050" y="1616670"/>
            <a:ext cx="2565400" cy="952434"/>
          </a:xfrm>
          <a:prstGeom prst="roundRect">
            <a:avLst>
              <a:gd name="adj" fmla="val 7334"/>
            </a:avLst>
          </a:prstGeom>
          <a:solidFill>
            <a:srgbClr val="FBFBF8"/>
          </a:solidFill>
          <a:ln w="12700">
            <a:solidFill>
              <a:srgbClr val="D5DBE1"/>
            </a:solidFill>
            <a:prstDash val="solid"/>
          </a:ln>
        </p:spPr>
      </p:sp>
      <p:sp>
        <p:nvSpPr>
          <p:cNvPr id="12" name="Text 10"/>
          <p:cNvSpPr/>
          <p:nvPr/>
        </p:nvSpPr>
        <p:spPr>
          <a:xfrm>
            <a:off x="3479800" y="1775420"/>
            <a:ext cx="231533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3233A"/>
                </a:solidFill>
                <a:latin typeface="Source Serif 4" pitchFamily="18" charset="0"/>
                <a:ea typeface="Source Serif 4" pitchFamily="18" charset="-122"/>
                <a:cs typeface="Source Serif 4" pitchFamily="18" charset="-120"/>
              </a:rPr>
              <a:t>964</a:t>
            </a:r>
            <a:endParaRPr lang="en-US" sz="2800" dirty="0"/>
          </a:p>
        </p:txBody>
      </p:sp>
      <p:sp>
        <p:nvSpPr>
          <p:cNvPr id="13" name="Text 11"/>
          <p:cNvSpPr/>
          <p:nvPr/>
        </p:nvSpPr>
        <p:spPr>
          <a:xfrm>
            <a:off x="3479800" y="2204641"/>
            <a:ext cx="231533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W/m² peak GHI</a:t>
            </a:r>
            <a:endParaRPr lang="en-US" sz="1200" dirty="0"/>
          </a:p>
        </p:txBody>
      </p:sp>
      <p:sp>
        <p:nvSpPr>
          <p:cNvPr id="14" name="Shape 12"/>
          <p:cNvSpPr/>
          <p:nvPr/>
        </p:nvSpPr>
        <p:spPr>
          <a:xfrm>
            <a:off x="615950" y="2708808"/>
            <a:ext cx="2565400" cy="952434"/>
          </a:xfrm>
          <a:prstGeom prst="roundRect">
            <a:avLst>
              <a:gd name="adj" fmla="val 7334"/>
            </a:avLst>
          </a:prstGeom>
          <a:solidFill>
            <a:srgbClr val="FBFBF8"/>
          </a:solidFill>
          <a:ln w="12700">
            <a:solidFill>
              <a:srgbClr val="D5DBE1"/>
            </a:solidFill>
            <a:prstDash val="solid"/>
          </a:ln>
        </p:spPr>
      </p:sp>
      <p:sp>
        <p:nvSpPr>
          <p:cNvPr id="15" name="Text 13"/>
          <p:cNvSpPr/>
          <p:nvPr/>
        </p:nvSpPr>
        <p:spPr>
          <a:xfrm>
            <a:off x="774700" y="2867558"/>
            <a:ext cx="231533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3233A"/>
                </a:solidFill>
                <a:latin typeface="Source Serif 4" pitchFamily="18" charset="0"/>
                <a:ea typeface="Source Serif 4" pitchFamily="18" charset="-122"/>
                <a:cs typeface="Source Serif 4" pitchFamily="18" charset="-120"/>
              </a:rPr>
              <a:t>4,149</a:t>
            </a:r>
            <a:endParaRPr lang="en-US" sz="2800" dirty="0"/>
          </a:p>
        </p:txBody>
      </p:sp>
      <p:sp>
        <p:nvSpPr>
          <p:cNvPr id="16" name="Text 14"/>
          <p:cNvSpPr/>
          <p:nvPr/>
        </p:nvSpPr>
        <p:spPr>
          <a:xfrm>
            <a:off x="774700" y="3296779"/>
            <a:ext cx="231533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daylight hours per year</a:t>
            </a:r>
            <a:endParaRPr lang="en-US" sz="1200" dirty="0"/>
          </a:p>
        </p:txBody>
      </p:sp>
      <p:sp>
        <p:nvSpPr>
          <p:cNvPr id="17" name="Shape 15"/>
          <p:cNvSpPr/>
          <p:nvPr/>
        </p:nvSpPr>
        <p:spPr>
          <a:xfrm>
            <a:off x="3321050" y="2708808"/>
            <a:ext cx="2565400" cy="952434"/>
          </a:xfrm>
          <a:prstGeom prst="roundRect">
            <a:avLst>
              <a:gd name="adj" fmla="val 7334"/>
            </a:avLst>
          </a:prstGeom>
          <a:solidFill>
            <a:srgbClr val="FBFBF8"/>
          </a:solidFill>
          <a:ln w="12700">
            <a:solidFill>
              <a:srgbClr val="D5DBE1"/>
            </a:solidFill>
            <a:prstDash val="solid"/>
          </a:ln>
        </p:spPr>
      </p:sp>
      <p:sp>
        <p:nvSpPr>
          <p:cNvPr id="18" name="Text 16"/>
          <p:cNvSpPr/>
          <p:nvPr/>
        </p:nvSpPr>
        <p:spPr>
          <a:xfrm>
            <a:off x="3479800" y="2867558"/>
            <a:ext cx="231533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3233A"/>
                </a:solidFill>
                <a:latin typeface="Source Serif 4" pitchFamily="18" charset="0"/>
                <a:ea typeface="Source Serif 4" pitchFamily="18" charset="-122"/>
                <a:cs typeface="Source Serif 4" pitchFamily="18" charset="-120"/>
              </a:rPr>
              <a:t>23.4 °C</a:t>
            </a:r>
            <a:endParaRPr lang="en-US" sz="2800" dirty="0"/>
          </a:p>
        </p:txBody>
      </p:sp>
      <p:sp>
        <p:nvSpPr>
          <p:cNvPr id="19" name="Text 17"/>
          <p:cNvSpPr/>
          <p:nvPr/>
        </p:nvSpPr>
        <p:spPr>
          <a:xfrm>
            <a:off x="3479800" y="3296779"/>
            <a:ext cx="231533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mean ambient temperature</a:t>
            </a:r>
            <a:endParaRPr lang="en-US" sz="1200" dirty="0"/>
          </a:p>
        </p:txBody>
      </p:sp>
      <p:sp>
        <p:nvSpPr>
          <p:cNvPr id="20" name="Text 18"/>
          <p:cNvSpPr/>
          <p:nvPr/>
        </p:nvSpPr>
        <p:spPr>
          <a:xfrm>
            <a:off x="6299200" y="1270000"/>
            <a:ext cx="544169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6B78"/>
                </a:solidFill>
                <a:latin typeface="IBM Plex Sans" pitchFamily="34" charset="0"/>
                <a:ea typeface="IBM Plex Sans" pitchFamily="34" charset="-122"/>
                <a:cs typeface="IBM Plex Sans" pitchFamily="34" charset="-120"/>
              </a:rPr>
              <a:t>CAMPUS LOAD · KUMAR ET AL., 2018</a:t>
            </a:r>
            <a:endParaRPr lang="en-US" sz="1200" dirty="0"/>
          </a:p>
        </p:txBody>
      </p:sp>
      <p:sp>
        <p:nvSpPr>
          <p:cNvPr id="21" name="Shape 19"/>
          <p:cNvSpPr/>
          <p:nvPr/>
        </p:nvSpPr>
        <p:spPr>
          <a:xfrm>
            <a:off x="6305550" y="1616670"/>
            <a:ext cx="2565400" cy="952434"/>
          </a:xfrm>
          <a:prstGeom prst="roundRect">
            <a:avLst>
              <a:gd name="adj" fmla="val 7334"/>
            </a:avLst>
          </a:prstGeom>
          <a:solidFill>
            <a:srgbClr val="FBFBF8"/>
          </a:solidFill>
          <a:ln w="12700">
            <a:solidFill>
              <a:srgbClr val="D5DBE1"/>
            </a:solidFill>
            <a:prstDash val="solid"/>
          </a:ln>
        </p:spPr>
      </p:sp>
      <p:sp>
        <p:nvSpPr>
          <p:cNvPr id="22" name="Text 20"/>
          <p:cNvSpPr/>
          <p:nvPr/>
        </p:nvSpPr>
        <p:spPr>
          <a:xfrm>
            <a:off x="6464300" y="1775420"/>
            <a:ext cx="231533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3233A"/>
                </a:solidFill>
                <a:latin typeface="Source Serif 4" pitchFamily="18" charset="0"/>
                <a:ea typeface="Source Serif 4" pitchFamily="18" charset="-122"/>
                <a:cs typeface="Source Serif 4" pitchFamily="18" charset="-120"/>
              </a:rPr>
              <a:t>60,379</a:t>
            </a:r>
            <a:endParaRPr lang="en-US" sz="2800" dirty="0"/>
          </a:p>
        </p:txBody>
      </p:sp>
      <p:sp>
        <p:nvSpPr>
          <p:cNvPr id="23" name="Text 21"/>
          <p:cNvSpPr/>
          <p:nvPr/>
        </p:nvSpPr>
        <p:spPr>
          <a:xfrm>
            <a:off x="6464300" y="2204641"/>
            <a:ext cx="231533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kWh/day energy demand</a:t>
            </a:r>
            <a:endParaRPr lang="en-US" sz="1200" dirty="0"/>
          </a:p>
        </p:txBody>
      </p:sp>
      <p:sp>
        <p:nvSpPr>
          <p:cNvPr id="24" name="Shape 22"/>
          <p:cNvSpPr/>
          <p:nvPr/>
        </p:nvSpPr>
        <p:spPr>
          <a:xfrm>
            <a:off x="9010650" y="1616670"/>
            <a:ext cx="2565400" cy="952434"/>
          </a:xfrm>
          <a:prstGeom prst="roundRect">
            <a:avLst>
              <a:gd name="adj" fmla="val 7334"/>
            </a:avLst>
          </a:prstGeom>
          <a:solidFill>
            <a:srgbClr val="FBFBF8"/>
          </a:solidFill>
          <a:ln w="12700">
            <a:solidFill>
              <a:srgbClr val="D5DBE1"/>
            </a:solidFill>
            <a:prstDash val="solid"/>
          </a:ln>
        </p:spPr>
      </p:sp>
      <p:sp>
        <p:nvSpPr>
          <p:cNvPr id="25" name="Text 23"/>
          <p:cNvSpPr/>
          <p:nvPr/>
        </p:nvSpPr>
        <p:spPr>
          <a:xfrm>
            <a:off x="9169400" y="1775420"/>
            <a:ext cx="231533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3233A"/>
                </a:solidFill>
                <a:latin typeface="Source Serif 4" pitchFamily="18" charset="0"/>
                <a:ea typeface="Source Serif 4" pitchFamily="18" charset="-122"/>
                <a:cs typeface="Source Serif 4" pitchFamily="18" charset="-120"/>
              </a:rPr>
              <a:t>3,075</a:t>
            </a:r>
            <a:endParaRPr lang="en-US" sz="2800" dirty="0"/>
          </a:p>
        </p:txBody>
      </p:sp>
      <p:sp>
        <p:nvSpPr>
          <p:cNvPr id="26" name="Text 24"/>
          <p:cNvSpPr/>
          <p:nvPr/>
        </p:nvSpPr>
        <p:spPr>
          <a:xfrm>
            <a:off x="9169400" y="2204641"/>
            <a:ext cx="231533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kW peak load</a:t>
            </a:r>
            <a:endParaRPr lang="en-US" sz="1200" dirty="0"/>
          </a:p>
        </p:txBody>
      </p:sp>
      <p:sp>
        <p:nvSpPr>
          <p:cNvPr id="27" name="Shape 25"/>
          <p:cNvSpPr/>
          <p:nvPr/>
        </p:nvSpPr>
        <p:spPr>
          <a:xfrm>
            <a:off x="6305550" y="2708808"/>
            <a:ext cx="2565400" cy="952434"/>
          </a:xfrm>
          <a:prstGeom prst="roundRect">
            <a:avLst>
              <a:gd name="adj" fmla="val 7334"/>
            </a:avLst>
          </a:prstGeom>
          <a:solidFill>
            <a:srgbClr val="FBFBF8"/>
          </a:solidFill>
          <a:ln w="12700">
            <a:solidFill>
              <a:srgbClr val="D5DBE1"/>
            </a:solidFill>
            <a:prstDash val="solid"/>
          </a:ln>
        </p:spPr>
      </p:sp>
      <p:sp>
        <p:nvSpPr>
          <p:cNvPr id="28" name="Text 26"/>
          <p:cNvSpPr/>
          <p:nvPr/>
        </p:nvSpPr>
        <p:spPr>
          <a:xfrm>
            <a:off x="6464300" y="2867558"/>
            <a:ext cx="231533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3233A"/>
                </a:solidFill>
                <a:latin typeface="Source Serif 4" pitchFamily="18" charset="0"/>
                <a:ea typeface="Source Serif 4" pitchFamily="18" charset="-122"/>
                <a:cs typeface="Source Serif 4" pitchFamily="18" charset="-120"/>
              </a:rPr>
              <a:t>2,516</a:t>
            </a:r>
            <a:endParaRPr lang="en-US" sz="2800" dirty="0"/>
          </a:p>
        </p:txBody>
      </p:sp>
      <p:sp>
        <p:nvSpPr>
          <p:cNvPr id="29" name="Text 27"/>
          <p:cNvSpPr/>
          <p:nvPr/>
        </p:nvSpPr>
        <p:spPr>
          <a:xfrm>
            <a:off x="6464300" y="3296779"/>
            <a:ext cx="231533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kW average load</a:t>
            </a:r>
            <a:endParaRPr lang="en-US" sz="1200" dirty="0"/>
          </a:p>
        </p:txBody>
      </p:sp>
      <p:sp>
        <p:nvSpPr>
          <p:cNvPr id="30" name="Shape 28"/>
          <p:cNvSpPr/>
          <p:nvPr/>
        </p:nvSpPr>
        <p:spPr>
          <a:xfrm>
            <a:off x="9010650" y="2708808"/>
            <a:ext cx="2565400" cy="952434"/>
          </a:xfrm>
          <a:prstGeom prst="roundRect">
            <a:avLst>
              <a:gd name="adj" fmla="val 7334"/>
            </a:avLst>
          </a:prstGeom>
          <a:solidFill>
            <a:srgbClr val="FBFBF8"/>
          </a:solidFill>
          <a:ln w="12700">
            <a:solidFill>
              <a:srgbClr val="D5DBE1"/>
            </a:solidFill>
            <a:prstDash val="solid"/>
          </a:ln>
        </p:spPr>
      </p:sp>
      <p:sp>
        <p:nvSpPr>
          <p:cNvPr id="31" name="Text 29"/>
          <p:cNvSpPr/>
          <p:nvPr/>
        </p:nvSpPr>
        <p:spPr>
          <a:xfrm>
            <a:off x="9169400" y="2867558"/>
            <a:ext cx="2315337"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13233A"/>
                </a:solidFill>
                <a:latin typeface="Source Serif 4" pitchFamily="18" charset="0"/>
                <a:ea typeface="Source Serif 4" pitchFamily="18" charset="-122"/>
                <a:cs typeface="Source Serif 4" pitchFamily="18" charset="-120"/>
              </a:rPr>
              <a:t>0.82</a:t>
            </a:r>
            <a:endParaRPr lang="en-US" sz="2800" dirty="0"/>
          </a:p>
        </p:txBody>
      </p:sp>
      <p:sp>
        <p:nvSpPr>
          <p:cNvPr id="32" name="Text 30"/>
          <p:cNvSpPr/>
          <p:nvPr/>
        </p:nvSpPr>
        <p:spPr>
          <a:xfrm>
            <a:off x="9169400" y="3296779"/>
            <a:ext cx="231533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load factor</a:t>
            </a:r>
            <a:endParaRPr lang="en-US" sz="1200" dirty="0"/>
          </a:p>
        </p:txBody>
      </p:sp>
      <p:sp>
        <p:nvSpPr>
          <p:cNvPr id="33" name="Text 31"/>
          <p:cNvSpPr/>
          <p:nvPr/>
        </p:nvSpPr>
        <p:spPr>
          <a:xfrm>
            <a:off x="609600" y="3921590"/>
            <a:ext cx="1130198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Site 26.19° N, 91.70° E · 285 ha campus · load and solar from the same region · [load scaled to __ kW in this study]</a:t>
            </a:r>
            <a:endParaRPr lang="en-US" sz="1300" dirty="0"/>
          </a:p>
        </p:txBody>
      </p:sp>
      <p:sp>
        <p:nvSpPr>
          <p:cNvPr id="34" name="Shape 32"/>
          <p:cNvSpPr/>
          <p:nvPr/>
        </p:nvSpPr>
        <p:spPr>
          <a:xfrm>
            <a:off x="609600" y="6210300"/>
            <a:ext cx="10972800" cy="12700"/>
          </a:xfrm>
          <a:prstGeom prst="rect">
            <a:avLst/>
          </a:prstGeom>
          <a:solidFill>
            <a:srgbClr val="D5DBE1"/>
          </a:solidFill>
          <a:ln/>
        </p:spPr>
      </p:sp>
      <p:sp>
        <p:nvSpPr>
          <p:cNvPr id="35" name="Text 33"/>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36" name="Text 34"/>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11 / 30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DATA</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Input profiles</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Shape 5"/>
          <p:cNvSpPr/>
          <p:nvPr/>
        </p:nvSpPr>
        <p:spPr>
          <a:xfrm>
            <a:off x="615950" y="1276350"/>
            <a:ext cx="5118100" cy="3035300"/>
          </a:xfrm>
          <a:prstGeom prst="roundRect">
            <a:avLst>
              <a:gd name="adj" fmla="val 2301"/>
            </a:avLst>
          </a:prstGeom>
          <a:solidFill>
            <a:srgbClr val="E4EAF0"/>
          </a:solidFill>
          <a:ln w="12700">
            <a:solidFill>
              <a:srgbClr val="8A9AAB"/>
            </a:solidFill>
            <a:prstDash val="dash"/>
          </a:ln>
        </p:spPr>
      </p:sp>
      <p:sp>
        <p:nvSpPr>
          <p:cNvPr id="8" name="Text 6"/>
          <p:cNvSpPr/>
          <p:nvPr/>
        </p:nvSpPr>
        <p:spPr>
          <a:xfrm>
            <a:off x="609600" y="4419600"/>
            <a:ext cx="5638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Fig. 1 — Hourly GHI and ambient temperature, Guwahati 2023 (NASA POWER)</a:t>
            </a:r>
            <a:endParaRPr lang="en-US" sz="1200" dirty="0"/>
          </a:p>
        </p:txBody>
      </p:sp>
      <p:sp>
        <p:nvSpPr>
          <p:cNvPr id="9" name="Shape 7"/>
          <p:cNvSpPr/>
          <p:nvPr/>
        </p:nvSpPr>
        <p:spPr>
          <a:xfrm>
            <a:off x="6254750" y="1276350"/>
            <a:ext cx="5118100" cy="3035300"/>
          </a:xfrm>
          <a:prstGeom prst="roundRect">
            <a:avLst>
              <a:gd name="adj" fmla="val 2301"/>
            </a:avLst>
          </a:prstGeom>
          <a:solidFill>
            <a:srgbClr val="E4EAF0"/>
          </a:solidFill>
          <a:ln w="12700">
            <a:solidFill>
              <a:srgbClr val="8A9AAB"/>
            </a:solidFill>
            <a:prstDash val="dash"/>
          </a:ln>
        </p:spPr>
      </p:sp>
      <p:sp>
        <p:nvSpPr>
          <p:cNvPr id="10" name="Text 8"/>
          <p:cNvSpPr/>
          <p:nvPr/>
        </p:nvSpPr>
        <p:spPr>
          <a:xfrm>
            <a:off x="6248400" y="4419600"/>
            <a:ext cx="54940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Fig. 2 — Campus hourly load profile (digitised from Kumar et al., Fig. 5)</a:t>
            </a:r>
            <a:endParaRPr lang="en-US" sz="1200" dirty="0"/>
          </a:p>
        </p:txBody>
      </p:sp>
      <p:sp>
        <p:nvSpPr>
          <p:cNvPr id="11" name="Shape 9"/>
          <p:cNvSpPr/>
          <p:nvPr/>
        </p:nvSpPr>
        <p:spPr>
          <a:xfrm>
            <a:off x="609600" y="6210300"/>
            <a:ext cx="10972800" cy="12700"/>
          </a:xfrm>
          <a:prstGeom prst="rect">
            <a:avLst/>
          </a:prstGeom>
          <a:solidFill>
            <a:srgbClr val="D5DBE1"/>
          </a:solidFill>
          <a:ln/>
        </p:spPr>
      </p:sp>
      <p:sp>
        <p:nvSpPr>
          <p:cNvPr id="12" name="Text 10"/>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13" name="Text 11"/>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12 / 30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DATA</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Component and cost parameters</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2300" y="1282700"/>
          <a:ext cx="10960100" cy="1796521"/>
        </p:xfrm>
        <a:graphic>
          <a:graphicData uri="http://schemas.openxmlformats.org/drawingml/2006/table">
            <a:tbl>
              <a:tblPr/>
              <a:tblGrid>
                <a:gridCol w="2849626"/>
                <a:gridCol w="2849626"/>
                <a:gridCol w="2411222"/>
                <a:gridCol w="2849626"/>
              </a:tblGrid>
              <a:tr h="359304">
                <a:tc>
                  <a:txBody>
                    <a:bodyPr/>
                    <a:lstStyle/>
                    <a:p>
                      <a:pPr indent="0" marL="0">
                        <a:lnSpc>
                          <a:spcPts val="1820"/>
                        </a:lnSpc>
                        <a:buNone/>
                      </a:pPr>
                      <a:r>
                        <a:rPr lang="en-US" sz="1300" b="1" dirty="0">
                          <a:solidFill>
                            <a:srgbClr val="F7F6F1"/>
                          </a:solidFill>
                          <a:latin typeface="IBM Plex Sans" pitchFamily="34" charset="0"/>
                          <a:ea typeface="IBM Plex Sans" pitchFamily="34" charset="-122"/>
                          <a:cs typeface="IBM Plex Sans" pitchFamily="34" charset="-120"/>
                        </a:rPr>
                        <a:t>Component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820"/>
                        </a:lnSpc>
                        <a:buNone/>
                      </a:pPr>
                      <a:r>
                        <a:rPr lang="en-US" sz="1300" b="1" dirty="0">
                          <a:solidFill>
                            <a:srgbClr val="F7F6F1"/>
                          </a:solidFill>
                          <a:latin typeface="IBM Plex Sans" pitchFamily="34" charset="0"/>
                          <a:ea typeface="IBM Plex Sans" pitchFamily="34" charset="-122"/>
                          <a:cs typeface="IBM Plex Sans" pitchFamily="34" charset="-120"/>
                        </a:rPr>
                        <a:t>Capital cost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820"/>
                        </a:lnSpc>
                        <a:buNone/>
                      </a:pPr>
                      <a:r>
                        <a:rPr lang="en-US" sz="1300" b="1" dirty="0">
                          <a:solidFill>
                            <a:srgbClr val="F7F6F1"/>
                          </a:solidFill>
                          <a:latin typeface="IBM Plex Sans" pitchFamily="34" charset="0"/>
                          <a:ea typeface="IBM Plex Sans" pitchFamily="34" charset="-122"/>
                          <a:cs typeface="IBM Plex Sans" pitchFamily="34" charset="-120"/>
                        </a:rPr>
                        <a:t>O&amp;M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820"/>
                        </a:lnSpc>
                        <a:buNone/>
                      </a:pPr>
                      <a:r>
                        <a:rPr lang="en-US" sz="1300" b="1" dirty="0">
                          <a:solidFill>
                            <a:srgbClr val="F7F6F1"/>
                          </a:solidFill>
                          <a:latin typeface="IBM Plex Sans" pitchFamily="34" charset="0"/>
                          <a:ea typeface="IBM Plex Sans" pitchFamily="34" charset="-122"/>
                          <a:cs typeface="IBM Plex Sans" pitchFamily="34" charset="-120"/>
                        </a:rPr>
                        <a:t>Key parameters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59304">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Solar PV (fixed axis)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Rs 50,502 / kW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Rs 700 / kW·yr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CERC all-in cost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04">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Lead-acid battery, 12 V 3 kWh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Rs 22,000 / unit (≈ Rs 7,333 / kWh)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Rs 700 / unit·yr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RTE 85 %, min SoC 20 %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r>
              <a:tr h="359304">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Bidirectional converter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Rs 10,000 / kW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04">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Supercapacitor module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[Rs __ / module]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[Rs __ / yr]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[Part no., F, V, ESR]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r>
            </a:tbl>
          </a:graphicData>
        </a:graphic>
      </p:graphicFrame>
      <p:sp>
        <p:nvSpPr>
          <p:cNvPr id="8" name="Text 5"/>
          <p:cNvSpPr/>
          <p:nvPr/>
        </p:nvSpPr>
        <p:spPr>
          <a:xfrm>
            <a:off x="609600" y="3333223"/>
            <a:ext cx="115824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Replacement cost = capital cost · Real discount rate 4.72 % = 1.1070 / 1.0571 − 1 · Horizon 20 years · Source: CERC (2016) via Kumar et al. (2018)</a:t>
            </a:r>
            <a:endParaRPr lang="en-US" sz="1300" dirty="0"/>
          </a:p>
        </p:txBody>
      </p:sp>
      <p:sp>
        <p:nvSpPr>
          <p:cNvPr id="9" name="Shape 6"/>
          <p:cNvSpPr/>
          <p:nvPr/>
        </p:nvSpPr>
        <p:spPr>
          <a:xfrm>
            <a:off x="609600" y="6210300"/>
            <a:ext cx="10972800" cy="12700"/>
          </a:xfrm>
          <a:prstGeom prst="rect">
            <a:avLst/>
          </a:prstGeom>
          <a:solidFill>
            <a:srgbClr val="D5DBE1"/>
          </a:solidFill>
          <a:ln/>
        </p:spPr>
      </p:sp>
      <p:sp>
        <p:nvSpPr>
          <p:cNvPr id="10" name="Text 7"/>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11" name="Text 8"/>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13 / 30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METHODOLOGY</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Four-stage sizing pipeline</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Shape 5"/>
          <p:cNvSpPr/>
          <p:nvPr/>
        </p:nvSpPr>
        <p:spPr>
          <a:xfrm>
            <a:off x="615950" y="1382979"/>
            <a:ext cx="2311400" cy="1457854"/>
          </a:xfrm>
          <a:prstGeom prst="roundRect">
            <a:avLst>
              <a:gd name="adj" fmla="val 5662"/>
            </a:avLst>
          </a:prstGeom>
          <a:solidFill>
            <a:srgbClr val="FBFBF8"/>
          </a:solidFill>
          <a:ln w="12700">
            <a:solidFill>
              <a:srgbClr val="D5DBE1"/>
            </a:solidFill>
            <a:prstDash val="solid"/>
          </a:ln>
        </p:spPr>
      </p:sp>
      <p:sp>
        <p:nvSpPr>
          <p:cNvPr id="8" name="Text 6"/>
          <p:cNvSpPr/>
          <p:nvPr/>
        </p:nvSpPr>
        <p:spPr>
          <a:xfrm>
            <a:off x="800100" y="1567129"/>
            <a:ext cx="2001393"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E6F95"/>
                </a:solidFill>
                <a:latin typeface="Source Serif 4" pitchFamily="18" charset="0"/>
                <a:ea typeface="Source Serif 4" pitchFamily="18" charset="-122"/>
                <a:cs typeface="Source Serif 4" pitchFamily="18" charset="-120"/>
              </a:rPr>
              <a:t>01</a:t>
            </a:r>
            <a:endParaRPr lang="en-US" sz="2200" dirty="0"/>
          </a:p>
        </p:txBody>
      </p:sp>
      <p:sp>
        <p:nvSpPr>
          <p:cNvPr id="9" name="Text 7"/>
          <p:cNvSpPr/>
          <p:nvPr/>
        </p:nvSpPr>
        <p:spPr>
          <a:xfrm>
            <a:off x="800100" y="1937941"/>
            <a:ext cx="200139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Hourly simulator</a:t>
            </a:r>
            <a:endParaRPr lang="en-US" sz="1500" dirty="0"/>
          </a:p>
        </p:txBody>
      </p:sp>
      <p:sp>
        <p:nvSpPr>
          <p:cNvPr id="10" name="Text 8"/>
          <p:cNvSpPr/>
          <p:nvPr/>
        </p:nvSpPr>
        <p:spPr>
          <a:xfrm>
            <a:off x="800100" y="2230041"/>
            <a:ext cx="200139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8,760-hour energy balance; outputs LPSP and SoC trace</a:t>
            </a:r>
            <a:endParaRPr lang="en-US" sz="1200" dirty="0"/>
          </a:p>
        </p:txBody>
      </p:sp>
      <p:pic>
        <p:nvPicPr>
          <p:cNvPr id="11" name="Image 0" descr="arrow-right">    </p:cNvPr>
          <p:cNvPicPr>
            <a:picLocks noChangeAspect="1"/>
          </p:cNvPicPr>
          <p:nvPr/>
        </p:nvPicPr>
        <p:blipFill>
          <a:blip r:embed="rId1"/>
          <a:srcRect l="0" r="0" t="0" b="0"/>
          <a:stretch/>
        </p:blipFill>
        <p:spPr>
          <a:xfrm>
            <a:off x="3035300" y="2010308"/>
            <a:ext cx="355600" cy="203200"/>
          </a:xfrm>
          <a:prstGeom prst="rect">
            <a:avLst/>
          </a:prstGeom>
        </p:spPr>
      </p:pic>
      <p:sp>
        <p:nvSpPr>
          <p:cNvPr id="12" name="Shape 9"/>
          <p:cNvSpPr/>
          <p:nvPr/>
        </p:nvSpPr>
        <p:spPr>
          <a:xfrm>
            <a:off x="3498850" y="1276350"/>
            <a:ext cx="2311400" cy="1671175"/>
          </a:xfrm>
          <a:prstGeom prst="roundRect">
            <a:avLst>
              <a:gd name="adj" fmla="val 4940"/>
            </a:avLst>
          </a:prstGeom>
          <a:solidFill>
            <a:srgbClr val="FBFBF8"/>
          </a:solidFill>
          <a:ln w="12700">
            <a:solidFill>
              <a:srgbClr val="D5DBE1"/>
            </a:solidFill>
            <a:prstDash val="solid"/>
          </a:ln>
        </p:spPr>
      </p:sp>
      <p:sp>
        <p:nvSpPr>
          <p:cNvPr id="13" name="Text 10"/>
          <p:cNvSpPr/>
          <p:nvPr/>
        </p:nvSpPr>
        <p:spPr>
          <a:xfrm>
            <a:off x="3683000" y="1460500"/>
            <a:ext cx="2001393"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E6F95"/>
                </a:solidFill>
                <a:latin typeface="Source Serif 4" pitchFamily="18" charset="0"/>
                <a:ea typeface="Source Serif 4" pitchFamily="18" charset="-122"/>
                <a:cs typeface="Source Serif 4" pitchFamily="18" charset="-120"/>
              </a:rPr>
              <a:t>02</a:t>
            </a:r>
            <a:endParaRPr lang="en-US" sz="2200" dirty="0"/>
          </a:p>
        </p:txBody>
      </p:sp>
      <p:sp>
        <p:nvSpPr>
          <p:cNvPr id="14" name="Text 11"/>
          <p:cNvSpPr/>
          <p:nvPr/>
        </p:nvSpPr>
        <p:spPr>
          <a:xfrm>
            <a:off x="3683000" y="1831318"/>
            <a:ext cx="212090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Rainflow degradation</a:t>
            </a:r>
            <a:endParaRPr lang="en-US" sz="1500" dirty="0"/>
          </a:p>
        </p:txBody>
      </p:sp>
      <p:sp>
        <p:nvSpPr>
          <p:cNvPr id="15" name="Text 12"/>
          <p:cNvSpPr/>
          <p:nvPr/>
        </p:nvSpPr>
        <p:spPr>
          <a:xfrm>
            <a:off x="3683000" y="2123418"/>
            <a:ext cx="200139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Battery cycles by depth of discharge → replacements and cost</a:t>
            </a:r>
            <a:endParaRPr lang="en-US" sz="1200" dirty="0"/>
          </a:p>
        </p:txBody>
      </p:sp>
      <p:pic>
        <p:nvPicPr>
          <p:cNvPr id="16" name="Image 1" descr="arrow-right">    </p:cNvPr>
          <p:cNvPicPr>
            <a:picLocks noChangeAspect="1"/>
          </p:cNvPicPr>
          <p:nvPr/>
        </p:nvPicPr>
        <p:blipFill>
          <a:blip r:embed="rId2"/>
          <a:srcRect l="0" r="0" t="0" b="0"/>
          <a:stretch/>
        </p:blipFill>
        <p:spPr>
          <a:xfrm>
            <a:off x="5918200" y="2010308"/>
            <a:ext cx="355600" cy="203200"/>
          </a:xfrm>
          <a:prstGeom prst="rect">
            <a:avLst/>
          </a:prstGeom>
        </p:spPr>
      </p:pic>
      <p:sp>
        <p:nvSpPr>
          <p:cNvPr id="17" name="Shape 13"/>
          <p:cNvSpPr/>
          <p:nvPr/>
        </p:nvSpPr>
        <p:spPr>
          <a:xfrm>
            <a:off x="6381750" y="1276350"/>
            <a:ext cx="2311400" cy="1671175"/>
          </a:xfrm>
          <a:prstGeom prst="roundRect">
            <a:avLst>
              <a:gd name="adj" fmla="val 4940"/>
            </a:avLst>
          </a:prstGeom>
          <a:solidFill>
            <a:srgbClr val="FBFBF8"/>
          </a:solidFill>
          <a:ln w="12700">
            <a:solidFill>
              <a:srgbClr val="D5DBE1"/>
            </a:solidFill>
            <a:prstDash val="solid"/>
          </a:ln>
        </p:spPr>
      </p:sp>
      <p:sp>
        <p:nvSpPr>
          <p:cNvPr id="18" name="Text 14"/>
          <p:cNvSpPr/>
          <p:nvPr/>
        </p:nvSpPr>
        <p:spPr>
          <a:xfrm>
            <a:off x="6565900" y="1460500"/>
            <a:ext cx="2001393"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E6F95"/>
                </a:solidFill>
                <a:latin typeface="Source Serif 4" pitchFamily="18" charset="0"/>
                <a:ea typeface="Source Serif 4" pitchFamily="18" charset="-122"/>
                <a:cs typeface="Source Serif 4" pitchFamily="18" charset="-120"/>
              </a:rPr>
              <a:t>03</a:t>
            </a:r>
            <a:endParaRPr lang="en-US" sz="2200" dirty="0"/>
          </a:p>
        </p:txBody>
      </p:sp>
      <p:sp>
        <p:nvSpPr>
          <p:cNvPr id="19" name="Text 15"/>
          <p:cNvSpPr/>
          <p:nvPr/>
        </p:nvSpPr>
        <p:spPr>
          <a:xfrm>
            <a:off x="6565900" y="1831318"/>
            <a:ext cx="200139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LHS + XGBoost</a:t>
            </a:r>
            <a:endParaRPr lang="en-US" sz="1500" dirty="0"/>
          </a:p>
        </p:txBody>
      </p:sp>
      <p:sp>
        <p:nvSpPr>
          <p:cNvPr id="20" name="Text 16"/>
          <p:cNvSpPr/>
          <p:nvPr/>
        </p:nvSpPr>
        <p:spPr>
          <a:xfrm>
            <a:off x="6565900" y="2123418"/>
            <a:ext cx="200139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Latin Hypercube samples train a fast surrogate of NPC and LPSP</a:t>
            </a:r>
            <a:endParaRPr lang="en-US" sz="1200" dirty="0"/>
          </a:p>
        </p:txBody>
      </p:sp>
      <p:pic>
        <p:nvPicPr>
          <p:cNvPr id="21" name="Image 2" descr="arrow-right">    </p:cNvPr>
          <p:cNvPicPr>
            <a:picLocks noChangeAspect="1"/>
          </p:cNvPicPr>
          <p:nvPr/>
        </p:nvPicPr>
        <p:blipFill>
          <a:blip r:embed="rId3"/>
          <a:srcRect l="0" r="0" t="0" b="0"/>
          <a:stretch/>
        </p:blipFill>
        <p:spPr>
          <a:xfrm>
            <a:off x="8801100" y="2010308"/>
            <a:ext cx="355600" cy="203200"/>
          </a:xfrm>
          <a:prstGeom prst="rect">
            <a:avLst/>
          </a:prstGeom>
        </p:spPr>
      </p:pic>
      <p:sp>
        <p:nvSpPr>
          <p:cNvPr id="22" name="Shape 17"/>
          <p:cNvSpPr/>
          <p:nvPr/>
        </p:nvSpPr>
        <p:spPr>
          <a:xfrm>
            <a:off x="9264650" y="1276350"/>
            <a:ext cx="2311400" cy="1671175"/>
          </a:xfrm>
          <a:prstGeom prst="roundRect">
            <a:avLst>
              <a:gd name="adj" fmla="val 4940"/>
            </a:avLst>
          </a:prstGeom>
          <a:solidFill>
            <a:srgbClr val="FBFBF8"/>
          </a:solidFill>
          <a:ln w="12700">
            <a:solidFill>
              <a:srgbClr val="D5DBE1"/>
            </a:solidFill>
            <a:prstDash val="solid"/>
          </a:ln>
        </p:spPr>
      </p:sp>
      <p:sp>
        <p:nvSpPr>
          <p:cNvPr id="23" name="Text 18"/>
          <p:cNvSpPr/>
          <p:nvPr/>
        </p:nvSpPr>
        <p:spPr>
          <a:xfrm>
            <a:off x="9448800" y="1460500"/>
            <a:ext cx="2001393" cy="332714"/>
          </a:xfrm>
          <a:prstGeom prst="rect">
            <a:avLst/>
          </a:prstGeom>
          <a:noFill/>
          <a:ln/>
        </p:spPr>
        <p:txBody>
          <a:bodyPr wrap="square" lIns="0" tIns="0" rIns="0" bIns="0" rtlCol="0" anchor="t">
            <a:normAutofit/>
          </a:bodyPr>
          <a:lstStyle/>
          <a:p>
            <a:pPr algn="l" indent="0" marL="0">
              <a:lnSpc>
                <a:spcPts val="2420"/>
              </a:lnSpc>
              <a:buNone/>
            </a:pPr>
            <a:r>
              <a:rPr lang="en-US" sz="2200" b="1" dirty="0">
                <a:solidFill>
                  <a:srgbClr val="2E6F95"/>
                </a:solidFill>
                <a:latin typeface="Source Serif 4" pitchFamily="18" charset="0"/>
                <a:ea typeface="Source Serif 4" pitchFamily="18" charset="-122"/>
                <a:cs typeface="Source Serif 4" pitchFamily="18" charset="-120"/>
              </a:rPr>
              <a:t>04</a:t>
            </a:r>
            <a:endParaRPr lang="en-US" sz="2200" dirty="0"/>
          </a:p>
        </p:txBody>
      </p:sp>
      <p:sp>
        <p:nvSpPr>
          <p:cNvPr id="24" name="Text 19"/>
          <p:cNvSpPr/>
          <p:nvPr/>
        </p:nvSpPr>
        <p:spPr>
          <a:xfrm>
            <a:off x="9448800" y="1831318"/>
            <a:ext cx="200139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PSO optimiser</a:t>
            </a:r>
            <a:endParaRPr lang="en-US" sz="1500" dirty="0"/>
          </a:p>
        </p:txBody>
      </p:sp>
      <p:sp>
        <p:nvSpPr>
          <p:cNvPr id="25" name="Text 20"/>
          <p:cNvSpPr/>
          <p:nvPr/>
        </p:nvSpPr>
        <p:spPr>
          <a:xfrm>
            <a:off x="9448800" y="2123418"/>
            <a:ext cx="200139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Minimum-NPC search, benchmarked against a coarse grid search</a:t>
            </a:r>
            <a:endParaRPr lang="en-US" sz="1200" dirty="0"/>
          </a:p>
        </p:txBody>
      </p:sp>
      <p:sp>
        <p:nvSpPr>
          <p:cNvPr id="26" name="Text 21"/>
          <p:cNvSpPr/>
          <p:nvPr/>
        </p:nvSpPr>
        <p:spPr>
          <a:xfrm>
            <a:off x="609600" y="3207879"/>
            <a:ext cx="11301984"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F6B78"/>
                </a:solidFill>
                <a:latin typeface="IBM Plex Sans" pitchFamily="34" charset="0"/>
                <a:ea typeface="IBM Plex Sans" pitchFamily="34" charset="-122"/>
                <a:cs typeface="IBM Plex Sans" pitchFamily="34" charset="-120"/>
              </a:rPr>
              <a:t>THREE COMPARISON CASES</a:t>
            </a:r>
            <a:endParaRPr lang="en-US" sz="1200" dirty="0"/>
          </a:p>
        </p:txBody>
      </p:sp>
      <p:sp>
        <p:nvSpPr>
          <p:cNvPr id="27" name="Shape 22"/>
          <p:cNvSpPr/>
          <p:nvPr/>
        </p:nvSpPr>
        <p:spPr>
          <a:xfrm>
            <a:off x="609600" y="3522799"/>
            <a:ext cx="3556000" cy="711134"/>
          </a:xfrm>
          <a:prstGeom prst="roundRect">
            <a:avLst>
              <a:gd name="adj" fmla="val 10715"/>
            </a:avLst>
          </a:prstGeom>
          <a:solidFill>
            <a:srgbClr val="EAEFF3"/>
          </a:solidFill>
          <a:ln/>
        </p:spPr>
      </p:sp>
      <p:sp>
        <p:nvSpPr>
          <p:cNvPr id="28" name="Text 23"/>
          <p:cNvSpPr/>
          <p:nvPr/>
        </p:nvSpPr>
        <p:spPr>
          <a:xfrm>
            <a:off x="762000" y="3649799"/>
            <a:ext cx="334873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33A"/>
                </a:solidFill>
                <a:latin typeface="IBM Plex Sans" pitchFamily="34" charset="0"/>
                <a:ea typeface="IBM Plex Sans" pitchFamily="34" charset="-122"/>
                <a:cs typeface="IBM Plex Sans" pitchFamily="34" charset="-120"/>
              </a:rPr>
              <a:t>Case A</a:t>
            </a:r>
            <a:endParaRPr lang="en-US" sz="1400" dirty="0"/>
          </a:p>
        </p:txBody>
      </p:sp>
      <p:sp>
        <p:nvSpPr>
          <p:cNvPr id="29" name="Text 24"/>
          <p:cNvSpPr/>
          <p:nvPr/>
        </p:nvSpPr>
        <p:spPr>
          <a:xfrm>
            <a:off x="762000" y="3901219"/>
            <a:ext cx="3348736"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Battery only — baseline</a:t>
            </a:r>
            <a:endParaRPr lang="en-US" sz="1200" dirty="0"/>
          </a:p>
        </p:txBody>
      </p:sp>
      <p:sp>
        <p:nvSpPr>
          <p:cNvPr id="30" name="Shape 25"/>
          <p:cNvSpPr/>
          <p:nvPr/>
        </p:nvSpPr>
        <p:spPr>
          <a:xfrm>
            <a:off x="4318000" y="3522799"/>
            <a:ext cx="3556000" cy="711134"/>
          </a:xfrm>
          <a:prstGeom prst="roundRect">
            <a:avLst>
              <a:gd name="adj" fmla="val 10715"/>
            </a:avLst>
          </a:prstGeom>
          <a:solidFill>
            <a:srgbClr val="EAEFF3"/>
          </a:solidFill>
          <a:ln/>
        </p:spPr>
      </p:sp>
      <p:sp>
        <p:nvSpPr>
          <p:cNvPr id="31" name="Text 26"/>
          <p:cNvSpPr/>
          <p:nvPr/>
        </p:nvSpPr>
        <p:spPr>
          <a:xfrm>
            <a:off x="4470400" y="3649799"/>
            <a:ext cx="334873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33A"/>
                </a:solidFill>
                <a:latin typeface="IBM Plex Sans" pitchFamily="34" charset="0"/>
                <a:ea typeface="IBM Plex Sans" pitchFamily="34" charset="-122"/>
                <a:cs typeface="IBM Plex Sans" pitchFamily="34" charset="-120"/>
              </a:rPr>
              <a:t>Case B</a:t>
            </a:r>
            <a:endParaRPr lang="en-US" sz="1400" dirty="0"/>
          </a:p>
        </p:txBody>
      </p:sp>
      <p:sp>
        <p:nvSpPr>
          <p:cNvPr id="32" name="Text 27"/>
          <p:cNvSpPr/>
          <p:nvPr/>
        </p:nvSpPr>
        <p:spPr>
          <a:xfrm>
            <a:off x="4470400" y="3901219"/>
            <a:ext cx="3348736"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568"/>
                </a:solidFill>
                <a:latin typeface="IBM Plex Sans" pitchFamily="34" charset="0"/>
                <a:ea typeface="IBM Plex Sans" pitchFamily="34" charset="-122"/>
                <a:cs typeface="IBM Plex Sans" pitchFamily="34" charset="-120"/>
              </a:rPr>
              <a:t>Hybrid, fixed power split</a:t>
            </a:r>
            <a:endParaRPr lang="en-US" sz="1200" dirty="0"/>
          </a:p>
        </p:txBody>
      </p:sp>
      <p:sp>
        <p:nvSpPr>
          <p:cNvPr id="33" name="Shape 28"/>
          <p:cNvSpPr/>
          <p:nvPr/>
        </p:nvSpPr>
        <p:spPr>
          <a:xfrm>
            <a:off x="8026400" y="3522799"/>
            <a:ext cx="3556000" cy="711134"/>
          </a:xfrm>
          <a:prstGeom prst="roundRect">
            <a:avLst>
              <a:gd name="adj" fmla="val 10715"/>
            </a:avLst>
          </a:prstGeom>
          <a:solidFill>
            <a:srgbClr val="E8A33D"/>
          </a:solidFill>
          <a:ln/>
        </p:spPr>
      </p:sp>
      <p:sp>
        <p:nvSpPr>
          <p:cNvPr id="34" name="Text 29"/>
          <p:cNvSpPr/>
          <p:nvPr/>
        </p:nvSpPr>
        <p:spPr>
          <a:xfrm>
            <a:off x="8178800" y="3649799"/>
            <a:ext cx="334873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33A"/>
                </a:solidFill>
                <a:latin typeface="IBM Plex Sans" pitchFamily="34" charset="0"/>
                <a:ea typeface="IBM Plex Sans" pitchFamily="34" charset="-122"/>
                <a:cs typeface="IBM Plex Sans" pitchFamily="34" charset="-120"/>
              </a:rPr>
              <a:t>Case C · novel</a:t>
            </a:r>
            <a:endParaRPr lang="en-US" sz="1400" dirty="0"/>
          </a:p>
        </p:txBody>
      </p:sp>
      <p:sp>
        <p:nvSpPr>
          <p:cNvPr id="35" name="Text 30"/>
          <p:cNvSpPr/>
          <p:nvPr/>
        </p:nvSpPr>
        <p:spPr>
          <a:xfrm>
            <a:off x="8178800" y="3901219"/>
            <a:ext cx="3348736"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3233A"/>
                </a:solidFill>
                <a:latin typeface="IBM Plex Sans" pitchFamily="34" charset="0"/>
                <a:ea typeface="IBM Plex Sans" pitchFamily="34" charset="-122"/>
                <a:cs typeface="IBM Plex Sans" pitchFamily="34" charset="-120"/>
              </a:rPr>
              <a:t>Hybrid, co-optimised split</a:t>
            </a:r>
            <a:endParaRPr lang="en-US" sz="1200" dirty="0"/>
          </a:p>
        </p:txBody>
      </p:sp>
      <p:sp>
        <p:nvSpPr>
          <p:cNvPr id="36" name="Shape 31"/>
          <p:cNvSpPr/>
          <p:nvPr/>
        </p:nvSpPr>
        <p:spPr>
          <a:xfrm>
            <a:off x="609600" y="6210300"/>
            <a:ext cx="10972800" cy="12700"/>
          </a:xfrm>
          <a:prstGeom prst="rect">
            <a:avLst/>
          </a:prstGeom>
          <a:solidFill>
            <a:srgbClr val="D5DBE1"/>
          </a:solidFill>
          <a:ln/>
        </p:spPr>
      </p:sp>
      <p:sp>
        <p:nvSpPr>
          <p:cNvPr id="37" name="Text 32"/>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38" name="Text 33"/>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14 / 30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METHODOLOGY · STAGE 1</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Hourly simulator: energy balance</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Text 5"/>
          <p:cNvSpPr/>
          <p:nvPr/>
        </p:nvSpPr>
        <p:spPr>
          <a:xfrm>
            <a:off x="609600" y="1270000"/>
            <a:ext cx="7011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PV output</a:t>
            </a:r>
            <a:endParaRPr lang="en-US" sz="1200" dirty="0"/>
          </a:p>
        </p:txBody>
      </p:sp>
      <p:sp>
        <p:nvSpPr>
          <p:cNvPr id="8" name="Text 6"/>
          <p:cNvSpPr/>
          <p:nvPr/>
        </p:nvSpPr>
        <p:spPr>
          <a:xfrm>
            <a:off x="609600" y="1521420"/>
            <a:ext cx="6807200" cy="452107"/>
          </a:xfrm>
          <a:prstGeom prst="roundRect">
            <a:avLst>
              <a:gd name="adj" fmla="val 14045"/>
            </a:avLst>
          </a:prstGeom>
          <a:solidFill>
            <a:srgbClr val="EAEFF3"/>
          </a:solidFill>
          <a:ln/>
        </p:spPr>
        <p:txBody>
          <a:bodyPr wrap="square" lIns="108401" tIns="83001" rIns="0" bIns="57601"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P_PV(t) = N_PV · P_STC · (G(t) / 1000) · [1 + α_T (T_c(t) − 25)] · η_der</a:t>
            </a:r>
            <a:endParaRPr lang="en-US" sz="1400" dirty="0"/>
          </a:p>
        </p:txBody>
      </p:sp>
      <p:sp>
        <p:nvSpPr>
          <p:cNvPr id="9" name="Text 7"/>
          <p:cNvSpPr/>
          <p:nvPr/>
        </p:nvSpPr>
        <p:spPr>
          <a:xfrm>
            <a:off x="609600" y="2100529"/>
            <a:ext cx="7011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Net power</a:t>
            </a:r>
            <a:endParaRPr lang="en-US" sz="1200" dirty="0"/>
          </a:p>
        </p:txBody>
      </p:sp>
      <p:sp>
        <p:nvSpPr>
          <p:cNvPr id="10" name="Text 8"/>
          <p:cNvSpPr/>
          <p:nvPr/>
        </p:nvSpPr>
        <p:spPr>
          <a:xfrm>
            <a:off x="609600" y="2351949"/>
            <a:ext cx="6807200" cy="452107"/>
          </a:xfrm>
          <a:prstGeom prst="roundRect">
            <a:avLst>
              <a:gd name="adj" fmla="val 14045"/>
            </a:avLst>
          </a:prstGeom>
          <a:solidFill>
            <a:srgbClr val="EAEFF3"/>
          </a:solidFill>
          <a:ln/>
        </p:spPr>
        <p:txBody>
          <a:bodyPr wrap="square" lIns="108401" tIns="83001" rIns="0" bIns="57601"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P_net(t) = P_PV(t) − P_load(t)</a:t>
            </a:r>
            <a:endParaRPr lang="en-US" sz="1400" dirty="0"/>
          </a:p>
        </p:txBody>
      </p:sp>
      <p:sp>
        <p:nvSpPr>
          <p:cNvPr id="11" name="Text 9"/>
          <p:cNvSpPr/>
          <p:nvPr/>
        </p:nvSpPr>
        <p:spPr>
          <a:xfrm>
            <a:off x="609600" y="2931058"/>
            <a:ext cx="7011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Battery state of charge</a:t>
            </a:r>
            <a:endParaRPr lang="en-US" sz="1200" dirty="0"/>
          </a:p>
        </p:txBody>
      </p:sp>
      <p:sp>
        <p:nvSpPr>
          <p:cNvPr id="12" name="Text 10"/>
          <p:cNvSpPr/>
          <p:nvPr/>
        </p:nvSpPr>
        <p:spPr>
          <a:xfrm>
            <a:off x="609600" y="3182479"/>
            <a:ext cx="6807200" cy="452107"/>
          </a:xfrm>
          <a:prstGeom prst="roundRect">
            <a:avLst>
              <a:gd name="adj" fmla="val 14045"/>
            </a:avLst>
          </a:prstGeom>
          <a:solidFill>
            <a:srgbClr val="EAEFF3"/>
          </a:solidFill>
          <a:ln/>
        </p:spPr>
        <p:txBody>
          <a:bodyPr wrap="square" lIns="108401" tIns="83001" rIns="0" bIns="57601"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SoC(t+1) = SoC(t) + η · P_bat(t) · Δt / E_bat, 20 % ≤ SoC ≤ 100 %</a:t>
            </a:r>
            <a:endParaRPr lang="en-US" sz="1400" dirty="0"/>
          </a:p>
        </p:txBody>
      </p:sp>
      <p:sp>
        <p:nvSpPr>
          <p:cNvPr id="13" name="Text 11"/>
          <p:cNvSpPr/>
          <p:nvPr/>
        </p:nvSpPr>
        <p:spPr>
          <a:xfrm>
            <a:off x="609600" y="3761581"/>
            <a:ext cx="701141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Reliability</a:t>
            </a:r>
            <a:endParaRPr lang="en-US" sz="1200" dirty="0"/>
          </a:p>
        </p:txBody>
      </p:sp>
      <p:sp>
        <p:nvSpPr>
          <p:cNvPr id="14" name="Text 12"/>
          <p:cNvSpPr/>
          <p:nvPr/>
        </p:nvSpPr>
        <p:spPr>
          <a:xfrm>
            <a:off x="609600" y="4013002"/>
            <a:ext cx="6807200" cy="452107"/>
          </a:xfrm>
          <a:prstGeom prst="roundRect">
            <a:avLst>
              <a:gd name="adj" fmla="val 14045"/>
            </a:avLst>
          </a:prstGeom>
          <a:solidFill>
            <a:srgbClr val="EAEFF3"/>
          </a:solidFill>
          <a:ln/>
        </p:spPr>
        <p:txBody>
          <a:bodyPr wrap="square" lIns="108401" tIns="83001" rIns="0" bIns="57601"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LPSP = Σ E_unmet(t) / Σ E_load(t) ≤ 1 %</a:t>
            </a:r>
            <a:endParaRPr lang="en-US" sz="1400" dirty="0"/>
          </a:p>
        </p:txBody>
      </p:sp>
      <p:sp>
        <p:nvSpPr>
          <p:cNvPr id="15" name="Shape 13"/>
          <p:cNvSpPr/>
          <p:nvPr/>
        </p:nvSpPr>
        <p:spPr>
          <a:xfrm>
            <a:off x="7778750" y="1276350"/>
            <a:ext cx="3797300" cy="3182408"/>
          </a:xfrm>
          <a:prstGeom prst="roundRect">
            <a:avLst>
              <a:gd name="adj" fmla="val 2993"/>
            </a:avLst>
          </a:prstGeom>
          <a:solidFill>
            <a:srgbClr val="FBFBF8"/>
          </a:solidFill>
          <a:ln w="12700">
            <a:solidFill>
              <a:srgbClr val="D5DBE1"/>
            </a:solidFill>
            <a:prstDash val="solid"/>
          </a:ln>
        </p:spPr>
      </p:sp>
      <p:sp>
        <p:nvSpPr>
          <p:cNvPr id="16" name="Text 14"/>
          <p:cNvSpPr/>
          <p:nvPr/>
        </p:nvSpPr>
        <p:spPr>
          <a:xfrm>
            <a:off x="8013700" y="1511300"/>
            <a:ext cx="342722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33A"/>
                </a:solidFill>
                <a:latin typeface="IBM Plex Sans" pitchFamily="34" charset="0"/>
                <a:ea typeface="IBM Plex Sans" pitchFamily="34" charset="-122"/>
                <a:cs typeface="IBM Plex Sans" pitchFamily="34" charset="-120"/>
              </a:rPr>
              <a:t>Dispatch each hour</a:t>
            </a:r>
            <a:endParaRPr lang="en-US" sz="1600" dirty="0"/>
          </a:p>
        </p:txBody>
      </p:sp>
      <p:sp>
        <p:nvSpPr>
          <p:cNvPr id="17" name="Text 15"/>
          <p:cNvSpPr/>
          <p:nvPr/>
        </p:nvSpPr>
        <p:spPr>
          <a:xfrm>
            <a:off x="8084741" y="1882118"/>
            <a:ext cx="3348561" cy="1940454"/>
          </a:xfrm>
          <a:prstGeom prst="rect">
            <a:avLst/>
          </a:prstGeom>
          <a:noFill/>
          <a:ln/>
        </p:spPr>
        <p:txBody>
          <a:bodyPr wrap="square" lIns="0" tIns="0" rIns="0" bIns="0" rtlCol="0" anchor="t">
            <a:normAutofit/>
          </a:bodyPr>
          <a:lstStyle/>
          <a:p>
            <a:pPr algn="l" marL="182959" indent="-182959">
              <a:lnSpc>
                <a:spcPts val="1885"/>
              </a:lnSpc>
              <a:buSzPct val="100000"/>
              <a:buFontTx/>
              <a:buAutoNum type="arabicPeriod" startAt="1"/>
            </a:pPr>
            <a:r>
              <a:rPr lang="en-US" sz="1300" dirty="0">
                <a:solidFill>
                  <a:srgbClr val="4A5568"/>
                </a:solidFill>
                <a:latin typeface="IBM Plex Sans" pitchFamily="34" charset="0"/>
                <a:ea typeface="IBM Plex Sans" pitchFamily="34" charset="-122"/>
                <a:cs typeface="IBM Plex Sans" pitchFamily="34" charset="-120"/>
              </a:rPr>
              <a:t>Surplus: charge the battery up to its limit, then spill</a:t>
            </a:r>
            <a:endParaRPr lang="en-US" sz="1300" dirty="0"/>
          </a:p>
          <a:p>
            <a:pPr algn="l" marL="182959" indent="-182959">
              <a:lnSpc>
                <a:spcPts val="1885"/>
              </a:lnSpc>
              <a:buSzPct val="100000"/>
              <a:buFontTx/>
              <a:buAutoNum type="arabicPeriod" startAt="1"/>
            </a:pPr>
            <a:r>
              <a:rPr lang="en-US" sz="1300" dirty="0">
                <a:solidFill>
                  <a:srgbClr val="4A5568"/>
                </a:solidFill>
                <a:latin typeface="IBM Plex Sans" pitchFamily="34" charset="0"/>
                <a:ea typeface="IBM Plex Sans" pitchFamily="34" charset="-122"/>
                <a:cs typeface="IBM Plex Sans" pitchFamily="34" charset="-120"/>
              </a:rPr>
              <a:t>Deficit: discharge the battery down to 20 % SoC</a:t>
            </a:r>
            <a:endParaRPr lang="en-US" sz="1300" dirty="0"/>
          </a:p>
          <a:p>
            <a:pPr algn="l" marL="182959" indent="-182959">
              <a:lnSpc>
                <a:spcPts val="1885"/>
              </a:lnSpc>
              <a:buSzPct val="100000"/>
              <a:buFontTx/>
              <a:buAutoNum type="arabicPeriod" startAt="1"/>
            </a:pPr>
            <a:r>
              <a:rPr lang="en-US" sz="1300" dirty="0">
                <a:solidFill>
                  <a:srgbClr val="4A5568"/>
                </a:solidFill>
                <a:latin typeface="IBM Plex Sans" pitchFamily="34" charset="0"/>
                <a:ea typeface="IBM Plex Sans" pitchFamily="34" charset="-122"/>
                <a:cs typeface="IBM Plex Sans" pitchFamily="34" charset="-120"/>
              </a:rPr>
              <a:t>Any remaining deficit is logged as unmet energy</a:t>
            </a:r>
            <a:endParaRPr lang="en-US" sz="1300" dirty="0"/>
          </a:p>
          <a:p>
            <a:pPr algn="l" marL="182959" indent="-182959">
              <a:lnSpc>
                <a:spcPts val="1885"/>
              </a:lnSpc>
              <a:buSzPct val="100000"/>
              <a:buFontTx/>
              <a:buAutoNum type="arabicPeriod" startAt="1"/>
            </a:pPr>
            <a:r>
              <a:rPr lang="en-US" sz="1300" dirty="0">
                <a:solidFill>
                  <a:srgbClr val="4A5568"/>
                </a:solidFill>
                <a:latin typeface="IBM Plex Sans" pitchFamily="34" charset="0"/>
                <a:ea typeface="IBM Plex Sans" pitchFamily="34" charset="-122"/>
                <a:cs typeface="IBM Plex Sans" pitchFamily="34" charset="-120"/>
              </a:rPr>
              <a:t>Δt = 1 h over 8,760 h; outputs feed the degradation and cost models</a:t>
            </a:r>
            <a:endParaRPr lang="en-US" sz="1300" dirty="0"/>
          </a:p>
        </p:txBody>
      </p:sp>
      <p:sp>
        <p:nvSpPr>
          <p:cNvPr id="18" name="Shape 16"/>
          <p:cNvSpPr/>
          <p:nvPr/>
        </p:nvSpPr>
        <p:spPr>
          <a:xfrm>
            <a:off x="609600" y="6210300"/>
            <a:ext cx="10972800" cy="12700"/>
          </a:xfrm>
          <a:prstGeom prst="rect">
            <a:avLst/>
          </a:prstGeom>
          <a:solidFill>
            <a:srgbClr val="D5DBE1"/>
          </a:solidFill>
          <a:ln/>
        </p:spPr>
      </p:sp>
      <p:sp>
        <p:nvSpPr>
          <p:cNvPr id="19" name="Text 17"/>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20" name="Text 18"/>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15 / 30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METHODOLOGY</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Supercapacitor sizing across timescales</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Text 5"/>
          <p:cNvSpPr/>
          <p:nvPr/>
        </p:nvSpPr>
        <p:spPr>
          <a:xfrm>
            <a:off x="609600" y="1270000"/>
            <a:ext cx="546785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The problem</a:t>
            </a:r>
            <a:endParaRPr lang="en-US" sz="1500" dirty="0"/>
          </a:p>
        </p:txBody>
      </p:sp>
      <p:sp>
        <p:nvSpPr>
          <p:cNvPr id="8" name="Text 6"/>
          <p:cNvSpPr/>
          <p:nvPr/>
        </p:nvSpPr>
        <p:spPr>
          <a:xfrm>
            <a:off x="609600" y="1536700"/>
            <a:ext cx="5467858"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An hourly step averages away the second-scale transients a supercapacitor exists to absorb.</a:t>
            </a:r>
            <a:endParaRPr lang="en-US" sz="1300" dirty="0"/>
          </a:p>
        </p:txBody>
      </p:sp>
      <p:sp>
        <p:nvSpPr>
          <p:cNvPr id="9" name="Text 7"/>
          <p:cNvSpPr/>
          <p:nvPr/>
        </p:nvSpPr>
        <p:spPr>
          <a:xfrm>
            <a:off x="609600" y="2151335"/>
            <a:ext cx="546785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The fix: analytical sizing</a:t>
            </a:r>
            <a:endParaRPr lang="en-US" sz="1500" dirty="0"/>
          </a:p>
        </p:txBody>
      </p:sp>
      <p:sp>
        <p:nvSpPr>
          <p:cNvPr id="10" name="Text 8"/>
          <p:cNvSpPr/>
          <p:nvPr/>
        </p:nvSpPr>
        <p:spPr>
          <a:xfrm>
            <a:off x="609600" y="2443435"/>
            <a:ext cx="5308600" cy="701014"/>
          </a:xfrm>
          <a:prstGeom prst="roundRect">
            <a:avLst>
              <a:gd name="adj" fmla="val 9058"/>
            </a:avLst>
          </a:prstGeom>
          <a:solidFill>
            <a:srgbClr val="EAEFF3"/>
          </a:solidFill>
          <a:ln/>
        </p:spPr>
        <p:txBody>
          <a:bodyPr wrap="square" lIns="108401" tIns="83001" rIns="0" bIns="57601"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E_SC = ½ C (V_max² − V_min²) ≥ ∫ P_SC(t) dt over the worst-case transient</a:t>
            </a:r>
            <a:endParaRPr lang="en-US" sz="1400" dirty="0"/>
          </a:p>
        </p:txBody>
      </p:sp>
      <p:sp>
        <p:nvSpPr>
          <p:cNvPr id="11" name="Text 9"/>
          <p:cNvSpPr/>
          <p:nvPr/>
        </p:nvSpPr>
        <p:spPr>
          <a:xfrm>
            <a:off x="609600" y="3207941"/>
            <a:ext cx="546785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N_SC strings follow from module energy and the DC-bus voltage.</a:t>
            </a:r>
            <a:endParaRPr lang="en-US" sz="1300" dirty="0"/>
          </a:p>
        </p:txBody>
      </p:sp>
      <p:sp>
        <p:nvSpPr>
          <p:cNvPr id="12" name="Text 10"/>
          <p:cNvSpPr/>
          <p:nvPr/>
        </p:nvSpPr>
        <p:spPr>
          <a:xfrm>
            <a:off x="609600" y="3591458"/>
            <a:ext cx="546785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The link back</a:t>
            </a:r>
            <a:endParaRPr lang="en-US" sz="1500" dirty="0"/>
          </a:p>
        </p:txBody>
      </p:sp>
      <p:sp>
        <p:nvSpPr>
          <p:cNvPr id="13" name="Text 11"/>
          <p:cNvSpPr/>
          <p:nvPr/>
        </p:nvSpPr>
        <p:spPr>
          <a:xfrm>
            <a:off x="609600" y="3858158"/>
            <a:ext cx="5467858"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larger SC strips fast stress from the battery → fewer micro-cycles in the rainflow model → longer battery life.</a:t>
            </a:r>
            <a:endParaRPr lang="en-US" sz="1300" dirty="0"/>
          </a:p>
        </p:txBody>
      </p:sp>
      <p:sp>
        <p:nvSpPr>
          <p:cNvPr id="14" name="Shape 12"/>
          <p:cNvSpPr/>
          <p:nvPr/>
        </p:nvSpPr>
        <p:spPr>
          <a:xfrm>
            <a:off x="6280150" y="1276350"/>
            <a:ext cx="5092700" cy="3162300"/>
          </a:xfrm>
          <a:prstGeom prst="roundRect">
            <a:avLst>
              <a:gd name="adj" fmla="val 2209"/>
            </a:avLst>
          </a:prstGeom>
          <a:solidFill>
            <a:srgbClr val="E4EAF0"/>
          </a:solidFill>
          <a:ln w="12700">
            <a:solidFill>
              <a:srgbClr val="8A9AAB"/>
            </a:solidFill>
            <a:prstDash val="dash"/>
          </a:ln>
        </p:spPr>
      </p:sp>
      <p:sp>
        <p:nvSpPr>
          <p:cNvPr id="15" name="Text 13"/>
          <p:cNvSpPr/>
          <p:nvPr/>
        </p:nvSpPr>
        <p:spPr>
          <a:xfrm>
            <a:off x="6273800" y="4546600"/>
            <a:ext cx="54678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Fig. — Worst-case transient event and resulting SC power profile [insert your plot]</a:t>
            </a:r>
            <a:endParaRPr lang="en-US" sz="1200" dirty="0"/>
          </a:p>
        </p:txBody>
      </p:sp>
      <p:sp>
        <p:nvSpPr>
          <p:cNvPr id="16" name="Shape 14"/>
          <p:cNvSpPr/>
          <p:nvPr/>
        </p:nvSpPr>
        <p:spPr>
          <a:xfrm>
            <a:off x="609600" y="6210300"/>
            <a:ext cx="10972800" cy="12700"/>
          </a:xfrm>
          <a:prstGeom prst="rect">
            <a:avLst/>
          </a:prstGeom>
          <a:solidFill>
            <a:srgbClr val="D5DBE1"/>
          </a:solidFill>
          <a:ln/>
        </p:spPr>
      </p:sp>
      <p:sp>
        <p:nvSpPr>
          <p:cNvPr id="17" name="Text 15"/>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18" name="Text 16"/>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16 / 30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METHODOLOGY · STAGE 2</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Battery degradation via rainflow counting</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Text 5"/>
          <p:cNvSpPr/>
          <p:nvPr/>
        </p:nvSpPr>
        <p:spPr>
          <a:xfrm>
            <a:off x="666552" y="1270000"/>
            <a:ext cx="5403286" cy="1572022"/>
          </a:xfrm>
          <a:prstGeom prst="rect">
            <a:avLst/>
          </a:prstGeom>
          <a:noFill/>
          <a:ln/>
        </p:spPr>
        <p:txBody>
          <a:bodyPr wrap="square" lIns="0" tIns="0" rIns="0" bIns="0" rtlCol="0" anchor="t">
            <a:normAutofit/>
          </a:bodyPr>
          <a:lstStyle/>
          <a:p>
            <a:pPr algn="l" marL="197048" indent="-197048">
              <a:lnSpc>
                <a:spcPts val="2030"/>
              </a:lnSpc>
              <a:buSzPct val="100000"/>
              <a:buFontTx/>
              <a:buAutoNum type="arabicPeriod" startAt="1"/>
            </a:pPr>
            <a:r>
              <a:rPr lang="en-US" sz="1400" dirty="0">
                <a:solidFill>
                  <a:srgbClr val="13233A"/>
                </a:solidFill>
                <a:latin typeface="IBM Plex Sans" pitchFamily="34" charset="0"/>
                <a:ea typeface="IBM Plex Sans" pitchFamily="34" charset="-122"/>
                <a:cs typeface="IBM Plex Sans" pitchFamily="34" charset="-120"/>
              </a:rPr>
              <a:t>Take the SoC trace from the simulator</a:t>
            </a:r>
            <a:endParaRPr lang="en-US" sz="1400" dirty="0"/>
          </a:p>
          <a:p>
            <a:pPr algn="l" marL="197048" indent="-197048">
              <a:lnSpc>
                <a:spcPts val="2030"/>
              </a:lnSpc>
              <a:buSzPct val="100000"/>
              <a:buFontTx/>
              <a:buAutoNum type="arabicPeriod" startAt="1"/>
            </a:pPr>
            <a:r>
              <a:rPr lang="en-US" sz="1400" dirty="0">
                <a:solidFill>
                  <a:srgbClr val="13233A"/>
                </a:solidFill>
                <a:latin typeface="IBM Plex Sans" pitchFamily="34" charset="0"/>
                <a:ea typeface="IBM Plex Sans" pitchFamily="34" charset="-122"/>
                <a:cs typeface="IBM Plex Sans" pitchFamily="34" charset="-120"/>
              </a:rPr>
              <a:t>Rainflow counting (ASTM E1049) extracts each cycle and its depth of discharge</a:t>
            </a:r>
            <a:endParaRPr lang="en-US" sz="1400" dirty="0"/>
          </a:p>
          <a:p>
            <a:pPr algn="l" marL="197048" indent="-197048">
              <a:lnSpc>
                <a:spcPts val="2030"/>
              </a:lnSpc>
              <a:buSzPct val="100000"/>
              <a:buFontTx/>
              <a:buAutoNum type="arabicPeriod" startAt="1"/>
            </a:pPr>
            <a:r>
              <a:rPr lang="en-US" sz="1400" dirty="0">
                <a:solidFill>
                  <a:srgbClr val="13233A"/>
                </a:solidFill>
                <a:latin typeface="IBM Plex Sans" pitchFamily="34" charset="0"/>
                <a:ea typeface="IBM Plex Sans" pitchFamily="34" charset="-122"/>
                <a:cs typeface="IBM Plex Sans" pitchFamily="34" charset="-120"/>
              </a:rPr>
              <a:t>Look up cycle life N(DoD) from the battery datasheet curve</a:t>
            </a:r>
            <a:endParaRPr lang="en-US" sz="1400" dirty="0"/>
          </a:p>
          <a:p>
            <a:pPr algn="l" marL="197048" indent="-197048">
              <a:lnSpc>
                <a:spcPts val="2030"/>
              </a:lnSpc>
              <a:buSzPct val="100000"/>
              <a:buFontTx/>
              <a:buAutoNum type="arabicPeriod" startAt="1"/>
            </a:pPr>
            <a:r>
              <a:rPr lang="en-US" sz="1400" dirty="0">
                <a:solidFill>
                  <a:srgbClr val="13233A"/>
                </a:solidFill>
                <a:latin typeface="IBM Plex Sans" pitchFamily="34" charset="0"/>
                <a:ea typeface="IBM Plex Sans" pitchFamily="34" charset="-122"/>
                <a:cs typeface="IBM Plex Sans" pitchFamily="34" charset="-120"/>
              </a:rPr>
              <a:t>Accumulate damage with Miner’s rule; replace the battery when D reaches 1</a:t>
            </a:r>
            <a:endParaRPr lang="en-US" sz="1400" dirty="0"/>
          </a:p>
        </p:txBody>
      </p:sp>
      <p:sp>
        <p:nvSpPr>
          <p:cNvPr id="8" name="Text 6"/>
          <p:cNvSpPr/>
          <p:nvPr/>
        </p:nvSpPr>
        <p:spPr>
          <a:xfrm>
            <a:off x="609600" y="2969022"/>
            <a:ext cx="5308600" cy="469900"/>
          </a:xfrm>
          <a:prstGeom prst="roundRect">
            <a:avLst>
              <a:gd name="adj" fmla="val 13514"/>
            </a:avLst>
          </a:prstGeom>
          <a:solidFill>
            <a:srgbClr val="EAEFF3"/>
          </a:solidFill>
          <a:ln/>
        </p:spPr>
        <p:txBody>
          <a:bodyPr wrap="square" lIns="108401" tIns="83001" rIns="0" bIns="57601" rtlCol="0" anchor="t">
            <a:normAutofit/>
          </a:bodyPr>
          <a:lstStyle/>
          <a:p>
            <a:pPr algn="l" indent="0" marL="0">
              <a:lnSpc>
                <a:spcPts val="2100"/>
              </a:lnSpc>
              <a:buNone/>
            </a:pPr>
            <a:r>
              <a:rPr lang="en-US" sz="1500" dirty="0">
                <a:solidFill>
                  <a:srgbClr val="13233A"/>
                </a:solidFill>
                <a:latin typeface="IBM Plex Sans" pitchFamily="34" charset="0"/>
                <a:ea typeface="IBM Plex Sans" pitchFamily="34" charset="-122"/>
                <a:cs typeface="IBM Plex Sans" pitchFamily="34" charset="-120"/>
              </a:rPr>
              <a:t>D = Σ nᵢ / N(DoDᵢ)</a:t>
            </a:r>
            <a:endParaRPr lang="en-US" sz="1500" dirty="0"/>
          </a:p>
        </p:txBody>
      </p:sp>
      <p:sp>
        <p:nvSpPr>
          <p:cNvPr id="9" name="Text 7"/>
          <p:cNvSpPr/>
          <p:nvPr/>
        </p:nvSpPr>
        <p:spPr>
          <a:xfrm>
            <a:off x="609600" y="3591322"/>
            <a:ext cx="546785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Replacements per 20 years feed directly into NPC.</a:t>
            </a:r>
            <a:endParaRPr lang="en-US" sz="1300" dirty="0"/>
          </a:p>
        </p:txBody>
      </p:sp>
      <p:sp>
        <p:nvSpPr>
          <p:cNvPr id="10" name="Shape 8"/>
          <p:cNvSpPr/>
          <p:nvPr/>
        </p:nvSpPr>
        <p:spPr>
          <a:xfrm>
            <a:off x="6280150" y="1276350"/>
            <a:ext cx="5092700" cy="3162300"/>
          </a:xfrm>
          <a:prstGeom prst="roundRect">
            <a:avLst>
              <a:gd name="adj" fmla="val 2209"/>
            </a:avLst>
          </a:prstGeom>
          <a:solidFill>
            <a:srgbClr val="E4EAF0"/>
          </a:solidFill>
          <a:ln w="12700">
            <a:solidFill>
              <a:srgbClr val="8A9AAB"/>
            </a:solidFill>
            <a:prstDash val="dash"/>
          </a:ln>
        </p:spPr>
      </p:sp>
      <p:sp>
        <p:nvSpPr>
          <p:cNvPr id="11" name="Text 9"/>
          <p:cNvSpPr/>
          <p:nvPr/>
        </p:nvSpPr>
        <p:spPr>
          <a:xfrm>
            <a:off x="6273800" y="4546600"/>
            <a:ext cx="546785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Fig. — Rainflow cycle histogram: cycle count vs depth of discharge [insert your plot]</a:t>
            </a:r>
            <a:endParaRPr lang="en-US" sz="1200" dirty="0"/>
          </a:p>
        </p:txBody>
      </p:sp>
      <p:sp>
        <p:nvSpPr>
          <p:cNvPr id="12" name="Shape 10"/>
          <p:cNvSpPr/>
          <p:nvPr/>
        </p:nvSpPr>
        <p:spPr>
          <a:xfrm>
            <a:off x="609600" y="6210300"/>
            <a:ext cx="10972800" cy="12700"/>
          </a:xfrm>
          <a:prstGeom prst="rect">
            <a:avLst/>
          </a:prstGeom>
          <a:solidFill>
            <a:srgbClr val="D5DBE1"/>
          </a:solidFill>
          <a:ln/>
        </p:spPr>
      </p:sp>
      <p:sp>
        <p:nvSpPr>
          <p:cNvPr id="13" name="Text 11"/>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14" name="Text 12"/>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17 / 30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METHODOLOGY</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Economic model: Net Present Cost</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Shape 5"/>
          <p:cNvSpPr/>
          <p:nvPr/>
        </p:nvSpPr>
        <p:spPr>
          <a:xfrm>
            <a:off x="609600" y="1270000"/>
            <a:ext cx="10972800" cy="1457854"/>
          </a:xfrm>
          <a:prstGeom prst="roundRect">
            <a:avLst>
              <a:gd name="adj" fmla="val 6969"/>
            </a:avLst>
          </a:prstGeom>
          <a:solidFill>
            <a:srgbClr val="13233A"/>
          </a:solidFill>
          <a:ln/>
        </p:spPr>
      </p:sp>
      <p:sp>
        <p:nvSpPr>
          <p:cNvPr id="8" name="Text 6"/>
          <p:cNvSpPr/>
          <p:nvPr/>
        </p:nvSpPr>
        <p:spPr>
          <a:xfrm>
            <a:off x="914400" y="1524000"/>
            <a:ext cx="10674096"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8A33D"/>
                </a:solidFill>
                <a:latin typeface="IBM Plex Sans" pitchFamily="34" charset="0"/>
                <a:ea typeface="IBM Plex Sans" pitchFamily="34" charset="-122"/>
                <a:cs typeface="IBM Plex Sans" pitchFamily="34" charset="-120"/>
              </a:rPr>
              <a:t>OBJECTIVE</a:t>
            </a:r>
            <a:endParaRPr lang="en-US" sz="1200" dirty="0"/>
          </a:p>
        </p:txBody>
      </p:sp>
      <p:sp>
        <p:nvSpPr>
          <p:cNvPr id="9" name="Text 7"/>
          <p:cNvSpPr/>
          <p:nvPr/>
        </p:nvSpPr>
        <p:spPr>
          <a:xfrm>
            <a:off x="914400" y="1838920"/>
            <a:ext cx="10674096"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7F6F1"/>
                </a:solidFill>
                <a:latin typeface="IBM Plex Sans" pitchFamily="34" charset="0"/>
                <a:ea typeface="IBM Plex Sans" pitchFamily="34" charset="-122"/>
                <a:cs typeface="IBM Plex Sans" pitchFamily="34" charset="-120"/>
              </a:rPr>
              <a:t>NPC = Σₖ [ C_cap,k + Σₜ (C_O&amp;M,k(t) + C_rep,k(t)) / (1 + r)ᵗ − S_k / (1 + r)ᴺ ]</a:t>
            </a:r>
            <a:endParaRPr lang="en-US" sz="1800" dirty="0"/>
          </a:p>
        </p:txBody>
      </p:sp>
      <p:sp>
        <p:nvSpPr>
          <p:cNvPr id="10" name="Text 8"/>
          <p:cNvSpPr/>
          <p:nvPr/>
        </p:nvSpPr>
        <p:spPr>
          <a:xfrm>
            <a:off x="914400" y="2260538"/>
            <a:ext cx="106740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4DF"/>
                </a:solidFill>
                <a:latin typeface="IBM Plex Sans" pitchFamily="34" charset="0"/>
                <a:ea typeface="IBM Plex Sans" pitchFamily="34" charset="-122"/>
                <a:cs typeface="IBM Plex Sans" pitchFamily="34" charset="-120"/>
              </a:rPr>
              <a:t>k = PV, battery, SC, converters · C_rep from rainflow-driven replacements · S_k = salvage value · N = 20 years</a:t>
            </a:r>
            <a:endParaRPr lang="en-US" sz="1200" dirty="0"/>
          </a:p>
        </p:txBody>
      </p:sp>
      <p:sp>
        <p:nvSpPr>
          <p:cNvPr id="11" name="Shape 9"/>
          <p:cNvSpPr/>
          <p:nvPr/>
        </p:nvSpPr>
        <p:spPr>
          <a:xfrm>
            <a:off x="615950" y="2988208"/>
            <a:ext cx="3509433" cy="891514"/>
          </a:xfrm>
          <a:prstGeom prst="roundRect">
            <a:avLst>
              <a:gd name="adj" fmla="val 9260"/>
            </a:avLst>
          </a:prstGeom>
          <a:solidFill>
            <a:srgbClr val="FBFBF8"/>
          </a:solidFill>
          <a:ln w="12700">
            <a:solidFill>
              <a:srgbClr val="D5DBE1"/>
            </a:solidFill>
            <a:prstDash val="solid"/>
          </a:ln>
        </p:spPr>
      </p:sp>
      <p:sp>
        <p:nvSpPr>
          <p:cNvPr id="12" name="Text 10"/>
          <p:cNvSpPr/>
          <p:nvPr/>
        </p:nvSpPr>
        <p:spPr>
          <a:xfrm>
            <a:off x="800100" y="3172358"/>
            <a:ext cx="323536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Real discount rate</a:t>
            </a:r>
            <a:endParaRPr lang="en-US" sz="1500" dirty="0"/>
          </a:p>
        </p:txBody>
      </p:sp>
      <p:sp>
        <p:nvSpPr>
          <p:cNvPr id="13" name="Text 11"/>
          <p:cNvSpPr/>
          <p:nvPr/>
        </p:nvSpPr>
        <p:spPr>
          <a:xfrm>
            <a:off x="800100" y="3464458"/>
            <a:ext cx="323536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 = 1.1070 / 1.0571 − 1 = 4.72 %</a:t>
            </a:r>
            <a:endParaRPr lang="en-US" sz="1300" dirty="0"/>
          </a:p>
        </p:txBody>
      </p:sp>
      <p:sp>
        <p:nvSpPr>
          <p:cNvPr id="14" name="Shape 12"/>
          <p:cNvSpPr/>
          <p:nvPr/>
        </p:nvSpPr>
        <p:spPr>
          <a:xfrm>
            <a:off x="4341283" y="2988208"/>
            <a:ext cx="3509433" cy="891514"/>
          </a:xfrm>
          <a:prstGeom prst="roundRect">
            <a:avLst>
              <a:gd name="adj" fmla="val 9260"/>
            </a:avLst>
          </a:prstGeom>
          <a:solidFill>
            <a:srgbClr val="FBFBF8"/>
          </a:solidFill>
          <a:ln w="12700">
            <a:solidFill>
              <a:srgbClr val="D5DBE1"/>
            </a:solidFill>
            <a:prstDash val="solid"/>
          </a:ln>
        </p:spPr>
      </p:sp>
      <p:sp>
        <p:nvSpPr>
          <p:cNvPr id="15" name="Text 13"/>
          <p:cNvSpPr/>
          <p:nvPr/>
        </p:nvSpPr>
        <p:spPr>
          <a:xfrm>
            <a:off x="4525433" y="3172358"/>
            <a:ext cx="323536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Capital recovery</a:t>
            </a:r>
            <a:endParaRPr lang="en-US" sz="1500" dirty="0"/>
          </a:p>
        </p:txBody>
      </p:sp>
      <p:sp>
        <p:nvSpPr>
          <p:cNvPr id="16" name="Text 14"/>
          <p:cNvSpPr/>
          <p:nvPr/>
        </p:nvSpPr>
        <p:spPr>
          <a:xfrm>
            <a:off x="4525433" y="3464458"/>
            <a:ext cx="3235367"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CRF = r(1 + r)ᴺ / ((1 + r)ᴺ − 1)</a:t>
            </a:r>
            <a:endParaRPr lang="en-US" sz="1300" dirty="0"/>
          </a:p>
        </p:txBody>
      </p:sp>
      <p:sp>
        <p:nvSpPr>
          <p:cNvPr id="17" name="Shape 15"/>
          <p:cNvSpPr/>
          <p:nvPr/>
        </p:nvSpPr>
        <p:spPr>
          <a:xfrm>
            <a:off x="8066617" y="2988208"/>
            <a:ext cx="3509433" cy="891514"/>
          </a:xfrm>
          <a:prstGeom prst="roundRect">
            <a:avLst>
              <a:gd name="adj" fmla="val 9260"/>
            </a:avLst>
          </a:prstGeom>
          <a:solidFill>
            <a:srgbClr val="FBFBF8"/>
          </a:solidFill>
          <a:ln w="12700">
            <a:solidFill>
              <a:srgbClr val="D5DBE1"/>
            </a:solidFill>
            <a:prstDash val="solid"/>
          </a:ln>
        </p:spPr>
      </p:sp>
      <p:sp>
        <p:nvSpPr>
          <p:cNvPr id="18" name="Text 16"/>
          <p:cNvSpPr/>
          <p:nvPr/>
        </p:nvSpPr>
        <p:spPr>
          <a:xfrm>
            <a:off x="8250767" y="3172358"/>
            <a:ext cx="3235367"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Levelised cost</a:t>
            </a:r>
            <a:endParaRPr lang="en-US" sz="1500" dirty="0"/>
          </a:p>
        </p:txBody>
      </p:sp>
      <p:sp>
        <p:nvSpPr>
          <p:cNvPr id="19" name="Text 17"/>
          <p:cNvSpPr/>
          <p:nvPr/>
        </p:nvSpPr>
        <p:spPr>
          <a:xfrm>
            <a:off x="8250767" y="3464458"/>
            <a:ext cx="3318933"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LCOE = NPC · CRF / annual energy served</a:t>
            </a:r>
            <a:endParaRPr lang="en-US" sz="1300" dirty="0"/>
          </a:p>
        </p:txBody>
      </p:sp>
      <p:sp>
        <p:nvSpPr>
          <p:cNvPr id="20" name="Shape 18"/>
          <p:cNvSpPr/>
          <p:nvPr/>
        </p:nvSpPr>
        <p:spPr>
          <a:xfrm>
            <a:off x="609600" y="6210300"/>
            <a:ext cx="10972800" cy="12700"/>
          </a:xfrm>
          <a:prstGeom prst="rect">
            <a:avLst/>
          </a:prstGeom>
          <a:solidFill>
            <a:srgbClr val="D5DBE1"/>
          </a:solidFill>
          <a:ln/>
        </p:spPr>
      </p:sp>
      <p:sp>
        <p:nvSpPr>
          <p:cNvPr id="21" name="Text 19"/>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22" name="Text 20"/>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18 / 30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METHODOLOGY · STAGE 4</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Optimisation problem and PSO</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Shape 5"/>
          <p:cNvSpPr/>
          <p:nvPr/>
        </p:nvSpPr>
        <p:spPr>
          <a:xfrm>
            <a:off x="609600" y="1270000"/>
            <a:ext cx="5334000" cy="1362075"/>
          </a:xfrm>
          <a:prstGeom prst="roundRect">
            <a:avLst>
              <a:gd name="adj" fmla="val 7459"/>
            </a:avLst>
          </a:prstGeom>
          <a:solidFill>
            <a:srgbClr val="13233A"/>
          </a:solidFill>
          <a:ln/>
        </p:spPr>
      </p:sp>
      <p:sp>
        <p:nvSpPr>
          <p:cNvPr id="8" name="Text 6"/>
          <p:cNvSpPr/>
          <p:nvPr/>
        </p:nvSpPr>
        <p:spPr>
          <a:xfrm>
            <a:off x="863600" y="1473200"/>
            <a:ext cx="4970780"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F7F6F1"/>
                </a:solidFill>
                <a:latin typeface="IBM Plex Sans" pitchFamily="34" charset="0"/>
                <a:ea typeface="IBM Plex Sans" pitchFamily="34" charset="-122"/>
                <a:cs typeface="IBM Plex Sans" pitchFamily="34" charset="-120"/>
              </a:rPr>
              <a:t>x = [N_PV, E_bat, N_SC, f_c]</a:t>
            </a:r>
            <a:endParaRPr lang="en-US" sz="1500" dirty="0"/>
          </a:p>
        </p:txBody>
      </p:sp>
      <p:sp>
        <p:nvSpPr>
          <p:cNvPr id="9" name="Text 7"/>
          <p:cNvSpPr/>
          <p:nvPr/>
        </p:nvSpPr>
        <p:spPr>
          <a:xfrm>
            <a:off x="863600" y="1812925"/>
            <a:ext cx="4970780"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F7F6F1"/>
                </a:solidFill>
                <a:latin typeface="IBM Plex Sans" pitchFamily="34" charset="0"/>
                <a:ea typeface="IBM Plex Sans" pitchFamily="34" charset="-122"/>
                <a:cs typeface="IBM Plex Sans" pitchFamily="34" charset="-120"/>
              </a:rPr>
              <a:t>minimise</a:t>
            </a:r>
            <a:r>
              <a:rPr lang="en-US" sz="1500" dirty="0">
                <a:solidFill>
                  <a:srgbClr val="F7F6F1"/>
                </a:solidFill>
                <a:latin typeface="IBM Plex Sans" pitchFamily="34" charset="0"/>
                <a:ea typeface="IBM Plex Sans" pitchFamily="34" charset="-122"/>
                <a:cs typeface="IBM Plex Sans" pitchFamily="34" charset="-120"/>
              </a:rPr>
              <a:t> NPC(x)</a:t>
            </a:r>
            <a:endParaRPr lang="en-US" sz="1500" dirty="0"/>
          </a:p>
        </p:txBody>
      </p:sp>
      <p:sp>
        <p:nvSpPr>
          <p:cNvPr id="10" name="Text 8"/>
          <p:cNvSpPr/>
          <p:nvPr/>
        </p:nvSpPr>
        <p:spPr>
          <a:xfrm>
            <a:off x="863600" y="2152650"/>
            <a:ext cx="4970780" cy="301625"/>
          </a:xfrm>
          <a:prstGeom prst="rect">
            <a:avLst/>
          </a:prstGeom>
          <a:noFill/>
          <a:ln/>
        </p:spPr>
        <p:txBody>
          <a:bodyPr wrap="square" lIns="0" tIns="0" rIns="0" bIns="0" rtlCol="0" anchor="t">
            <a:normAutofit/>
          </a:bodyPr>
          <a:lstStyle/>
          <a:p>
            <a:pPr algn="l" indent="0" marL="0">
              <a:lnSpc>
                <a:spcPts val="2175"/>
              </a:lnSpc>
              <a:buNone/>
            </a:pPr>
            <a:r>
              <a:rPr lang="en-US" sz="1500" b="1" dirty="0">
                <a:solidFill>
                  <a:srgbClr val="F7F6F1"/>
                </a:solidFill>
                <a:latin typeface="IBM Plex Sans" pitchFamily="34" charset="0"/>
                <a:ea typeface="IBM Plex Sans" pitchFamily="34" charset="-122"/>
                <a:cs typeface="IBM Plex Sans" pitchFamily="34" charset="-120"/>
              </a:rPr>
              <a:t>subject to</a:t>
            </a:r>
            <a:r>
              <a:rPr lang="en-US" sz="1500" dirty="0">
                <a:solidFill>
                  <a:srgbClr val="F7F6F1"/>
                </a:solidFill>
                <a:latin typeface="IBM Plex Sans" pitchFamily="34" charset="0"/>
                <a:ea typeface="IBM Plex Sans" pitchFamily="34" charset="-122"/>
                <a:cs typeface="IBM Plex Sans" pitchFamily="34" charset="-120"/>
              </a:rPr>
              <a:t> LPSP(x) ≤ 1 %, x_min ≤ x ≤ x_max</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22300" y="2797175"/>
          <a:ext cx="5321300" cy="1663237"/>
        </p:xfrm>
        <a:graphic>
          <a:graphicData uri="http://schemas.openxmlformats.org/drawingml/2006/table">
            <a:tbl>
              <a:tblPr/>
              <a:tblGrid>
                <a:gridCol w="1809242"/>
                <a:gridCol w="1170686"/>
                <a:gridCol w="1170686"/>
                <a:gridCol w="1170686"/>
              </a:tblGrid>
              <a:tr h="332647">
                <a:tc>
                  <a:txBody>
                    <a:bodyPr/>
                    <a:lstStyle/>
                    <a:p>
                      <a:pPr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Variable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BBBF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BFC2"/>
                      </a:solidFill>
                      <a:prstDash val="solid"/>
                      <a:round/>
                      <a:headEnd type="none" w="med" len="med"/>
                      <a:tailEnd type="none" w="med" len="med"/>
                    </a:lnB>
                    <a:solidFill>
                      <a:srgbClr val="EAEFF3"/>
                    </a:solidFill>
                  </a:tcPr>
                </a:tc>
                <a:tc>
                  <a:txBody>
                    <a:bodyPr/>
                    <a:lstStyle/>
                    <a:p>
                      <a:pPr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Lower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BFC2"/>
                      </a:solidFill>
                      <a:prstDash val="solid"/>
                      <a:round/>
                      <a:headEnd type="none" w="med" len="med"/>
                      <a:tailEnd type="none" w="med" len="med"/>
                    </a:lnL>
                    <a:lnR w="12700" cap="flat" cmpd="sng" algn="ctr">
                      <a:solidFill>
                        <a:srgbClr val="BBBF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BFC2"/>
                      </a:solidFill>
                      <a:prstDash val="solid"/>
                      <a:round/>
                      <a:headEnd type="none" w="med" len="med"/>
                      <a:tailEnd type="none" w="med" len="med"/>
                    </a:lnB>
                    <a:solidFill>
                      <a:srgbClr val="EAEFF3"/>
                    </a:solidFill>
                  </a:tcPr>
                </a:tc>
                <a:tc>
                  <a:txBody>
                    <a:bodyPr/>
                    <a:lstStyle/>
                    <a:p>
                      <a:pPr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Upper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BFC2"/>
                      </a:solidFill>
                      <a:prstDash val="solid"/>
                      <a:round/>
                      <a:headEnd type="none" w="med" len="med"/>
                      <a:tailEnd type="none" w="med" len="med"/>
                    </a:lnL>
                    <a:lnR w="12700" cap="flat" cmpd="sng" algn="ctr">
                      <a:solidFill>
                        <a:srgbClr val="BBBF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BFC2"/>
                      </a:solidFill>
                      <a:prstDash val="solid"/>
                      <a:round/>
                      <a:headEnd type="none" w="med" len="med"/>
                      <a:tailEnd type="none" w="med" len="med"/>
                    </a:lnB>
                    <a:solidFill>
                      <a:srgbClr val="EAEFF3"/>
                    </a:solidFill>
                  </a:tcPr>
                </a:tc>
                <a:tc>
                  <a:txBody>
                    <a:bodyPr/>
                    <a:lstStyle/>
                    <a:p>
                      <a:pPr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Unit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BBFC2"/>
                      </a:solidFill>
                      <a:prstDash val="solid"/>
                      <a:round/>
                      <a:headEnd type="none" w="med" len="med"/>
                      <a:tailEnd type="none" w="med" len="med"/>
                    </a:lnL>
                    <a:lnR w="12700" cap="flat" cmpd="sng" algn="ctr">
                      <a:solidFill>
                        <a:srgbClr val="BBBFC2"/>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BFC2"/>
                      </a:solidFill>
                      <a:prstDash val="solid"/>
                      <a:round/>
                      <a:headEnd type="none" w="med" len="med"/>
                      <a:tailEnd type="none" w="med" len="med"/>
                    </a:lnB>
                    <a:solidFill>
                      <a:srgbClr val="EAEFF3"/>
                    </a:solidFill>
                  </a:tcPr>
                </a:tc>
              </a:tr>
              <a:tr h="332647">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N_PV</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BF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BF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BF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modules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BBFC2"/>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47">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E_bat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kWh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47">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N_SC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strings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47">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f_c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[__]</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[Hz]</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Shape 9"/>
          <p:cNvSpPr/>
          <p:nvPr/>
        </p:nvSpPr>
        <p:spPr>
          <a:xfrm>
            <a:off x="6254750" y="1276350"/>
            <a:ext cx="5321300" cy="1186127"/>
          </a:xfrm>
          <a:prstGeom prst="roundRect">
            <a:avLst>
              <a:gd name="adj" fmla="val 6960"/>
            </a:avLst>
          </a:prstGeom>
          <a:solidFill>
            <a:srgbClr val="FBFBF8"/>
          </a:solidFill>
          <a:ln w="12700">
            <a:solidFill>
              <a:srgbClr val="D5DBE1"/>
            </a:solidFill>
            <a:prstDash val="solid"/>
          </a:ln>
        </p:spPr>
      </p:sp>
      <p:sp>
        <p:nvSpPr>
          <p:cNvPr id="13" name="Text 10"/>
          <p:cNvSpPr/>
          <p:nvPr/>
        </p:nvSpPr>
        <p:spPr>
          <a:xfrm>
            <a:off x="6438900" y="1460500"/>
            <a:ext cx="510159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Particle Swarm Optimisation</a:t>
            </a:r>
            <a:endParaRPr lang="en-US" sz="1500" dirty="0"/>
          </a:p>
        </p:txBody>
      </p:sp>
      <p:sp>
        <p:nvSpPr>
          <p:cNvPr id="14" name="Text 11"/>
          <p:cNvSpPr/>
          <p:nvPr/>
        </p:nvSpPr>
        <p:spPr>
          <a:xfrm>
            <a:off x="6438900" y="1752600"/>
            <a:ext cx="510159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Swarm [__] particles · [__] iterations · w = [__], c₁ = c₂ = [__]</a:t>
            </a:r>
            <a:endParaRPr lang="en-US" sz="1300" dirty="0"/>
          </a:p>
        </p:txBody>
      </p:sp>
      <p:sp>
        <p:nvSpPr>
          <p:cNvPr id="15" name="Text 12"/>
          <p:cNvSpPr/>
          <p:nvPr/>
        </p:nvSpPr>
        <p:spPr>
          <a:xfrm>
            <a:off x="6438900" y="2047218"/>
            <a:ext cx="510159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LPSP violation handled by a penalty on NPC [confirm]</a:t>
            </a:r>
            <a:endParaRPr lang="en-US" sz="1300" dirty="0"/>
          </a:p>
        </p:txBody>
      </p:sp>
      <p:sp>
        <p:nvSpPr>
          <p:cNvPr id="16" name="Shape 13"/>
          <p:cNvSpPr/>
          <p:nvPr/>
        </p:nvSpPr>
        <p:spPr>
          <a:xfrm>
            <a:off x="6254750" y="2627585"/>
            <a:ext cx="5321300" cy="1122627"/>
          </a:xfrm>
          <a:prstGeom prst="roundRect">
            <a:avLst>
              <a:gd name="adj" fmla="val 7353"/>
            </a:avLst>
          </a:prstGeom>
          <a:solidFill>
            <a:srgbClr val="FBFBF8"/>
          </a:solidFill>
          <a:ln w="12700">
            <a:solidFill>
              <a:srgbClr val="D5DBE1"/>
            </a:solidFill>
            <a:prstDash val="solid"/>
          </a:ln>
        </p:spPr>
      </p:sp>
      <p:sp>
        <p:nvSpPr>
          <p:cNvPr id="17" name="Text 14"/>
          <p:cNvSpPr/>
          <p:nvPr/>
        </p:nvSpPr>
        <p:spPr>
          <a:xfrm>
            <a:off x="6438900" y="2811735"/>
            <a:ext cx="510159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33A"/>
                </a:solidFill>
                <a:latin typeface="IBM Plex Sans" pitchFamily="34" charset="0"/>
                <a:ea typeface="IBM Plex Sans" pitchFamily="34" charset="-122"/>
                <a:cs typeface="IBM Plex Sans" pitchFamily="34" charset="-120"/>
              </a:rPr>
              <a:t>Benchmark</a:t>
            </a:r>
            <a:endParaRPr lang="en-US" sz="1500" dirty="0"/>
          </a:p>
        </p:txBody>
      </p:sp>
      <p:sp>
        <p:nvSpPr>
          <p:cNvPr id="18" name="Text 15"/>
          <p:cNvSpPr/>
          <p:nvPr/>
        </p:nvSpPr>
        <p:spPr>
          <a:xfrm>
            <a:off x="6438900" y="3103835"/>
            <a:ext cx="510159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Coarse grid search over the same bounds — PSO must reach its best NPC with far fewer evaluations.</a:t>
            </a:r>
            <a:endParaRPr lang="en-US" sz="1300" dirty="0"/>
          </a:p>
        </p:txBody>
      </p:sp>
      <p:sp>
        <p:nvSpPr>
          <p:cNvPr id="19" name="Shape 16"/>
          <p:cNvSpPr/>
          <p:nvPr/>
        </p:nvSpPr>
        <p:spPr>
          <a:xfrm>
            <a:off x="609600" y="6210300"/>
            <a:ext cx="10972800" cy="12700"/>
          </a:xfrm>
          <a:prstGeom prst="rect">
            <a:avLst/>
          </a:prstGeom>
          <a:solidFill>
            <a:srgbClr val="D5DBE1"/>
          </a:solidFill>
          <a:ln/>
        </p:spPr>
      </p:sp>
      <p:sp>
        <p:nvSpPr>
          <p:cNvPr id="20" name="Text 17"/>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21" name="Text 18"/>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19 / 30</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METHODOLOGY · STAGE 3</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Surrogate model: LHS + XGBoost</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Shape 5"/>
          <p:cNvSpPr/>
          <p:nvPr/>
        </p:nvSpPr>
        <p:spPr>
          <a:xfrm>
            <a:off x="615950" y="1276350"/>
            <a:ext cx="3509433" cy="693407"/>
          </a:xfrm>
          <a:prstGeom prst="roundRect">
            <a:avLst>
              <a:gd name="adj" fmla="val 10073"/>
            </a:avLst>
          </a:prstGeom>
          <a:solidFill>
            <a:srgbClr val="FBFBF8"/>
          </a:solidFill>
          <a:ln w="12700">
            <a:solidFill>
              <a:srgbClr val="D5DBE1"/>
            </a:solidFill>
            <a:prstDash val="solid"/>
          </a:ln>
        </p:spPr>
      </p:sp>
      <p:sp>
        <p:nvSpPr>
          <p:cNvPr id="8" name="Text 6"/>
          <p:cNvSpPr/>
          <p:nvPr/>
        </p:nvSpPr>
        <p:spPr>
          <a:xfrm>
            <a:off x="800100" y="1409700"/>
            <a:ext cx="640490" cy="452107"/>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3233A"/>
                </a:solidFill>
                <a:latin typeface="Source Serif 4" pitchFamily="18" charset="0"/>
                <a:ea typeface="Source Serif 4" pitchFamily="18" charset="-122"/>
                <a:cs typeface="Source Serif 4" pitchFamily="18" charset="-120"/>
              </a:rPr>
              <a:t>[__]</a:t>
            </a:r>
            <a:endParaRPr lang="en-US" sz="2400" dirty="0"/>
          </a:p>
        </p:txBody>
      </p:sp>
      <p:sp>
        <p:nvSpPr>
          <p:cNvPr id="9" name="Text 7"/>
          <p:cNvSpPr/>
          <p:nvPr/>
        </p:nvSpPr>
        <p:spPr>
          <a:xfrm>
            <a:off x="1440590" y="1566342"/>
            <a:ext cx="17291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LHS training samples</a:t>
            </a:r>
            <a:endParaRPr lang="en-US" sz="1200" dirty="0"/>
          </a:p>
        </p:txBody>
      </p:sp>
      <p:sp>
        <p:nvSpPr>
          <p:cNvPr id="10" name="Shape 8"/>
          <p:cNvSpPr/>
          <p:nvPr/>
        </p:nvSpPr>
        <p:spPr>
          <a:xfrm>
            <a:off x="4341283" y="1276350"/>
            <a:ext cx="3509433" cy="693407"/>
          </a:xfrm>
          <a:prstGeom prst="roundRect">
            <a:avLst>
              <a:gd name="adj" fmla="val 10073"/>
            </a:avLst>
          </a:prstGeom>
          <a:solidFill>
            <a:srgbClr val="FBFBF8"/>
          </a:solidFill>
          <a:ln w="12700">
            <a:solidFill>
              <a:srgbClr val="D5DBE1"/>
            </a:solidFill>
            <a:prstDash val="solid"/>
          </a:ln>
        </p:spPr>
      </p:sp>
      <p:sp>
        <p:nvSpPr>
          <p:cNvPr id="11" name="Text 9"/>
          <p:cNvSpPr/>
          <p:nvPr/>
        </p:nvSpPr>
        <p:spPr>
          <a:xfrm>
            <a:off x="4525433" y="1409700"/>
            <a:ext cx="640490" cy="452107"/>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3233A"/>
                </a:solidFill>
                <a:latin typeface="Source Serif 4" pitchFamily="18" charset="0"/>
                <a:ea typeface="Source Serif 4" pitchFamily="18" charset="-122"/>
                <a:cs typeface="Source Serif 4" pitchFamily="18" charset="-120"/>
              </a:rPr>
              <a:t>[__]</a:t>
            </a:r>
            <a:endParaRPr lang="en-US" sz="2400" dirty="0"/>
          </a:p>
        </p:txBody>
      </p:sp>
      <p:sp>
        <p:nvSpPr>
          <p:cNvPr id="12" name="Text 10"/>
          <p:cNvSpPr/>
          <p:nvPr/>
        </p:nvSpPr>
        <p:spPr>
          <a:xfrm>
            <a:off x="5165923" y="1566342"/>
            <a:ext cx="16031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R² on test set (NPC)</a:t>
            </a:r>
            <a:endParaRPr lang="en-US" sz="1200" dirty="0"/>
          </a:p>
        </p:txBody>
      </p:sp>
      <p:sp>
        <p:nvSpPr>
          <p:cNvPr id="13" name="Shape 11"/>
          <p:cNvSpPr/>
          <p:nvPr/>
        </p:nvSpPr>
        <p:spPr>
          <a:xfrm>
            <a:off x="8066617" y="1276350"/>
            <a:ext cx="3509433" cy="693407"/>
          </a:xfrm>
          <a:prstGeom prst="roundRect">
            <a:avLst>
              <a:gd name="adj" fmla="val 10073"/>
            </a:avLst>
          </a:prstGeom>
          <a:solidFill>
            <a:srgbClr val="FBFBF8"/>
          </a:solidFill>
          <a:ln w="12700">
            <a:solidFill>
              <a:srgbClr val="D5DBE1"/>
            </a:solidFill>
            <a:prstDash val="solid"/>
          </a:ln>
        </p:spPr>
      </p:sp>
      <p:sp>
        <p:nvSpPr>
          <p:cNvPr id="14" name="Text 12"/>
          <p:cNvSpPr/>
          <p:nvPr/>
        </p:nvSpPr>
        <p:spPr>
          <a:xfrm>
            <a:off x="8250767" y="1409700"/>
            <a:ext cx="807575" cy="452107"/>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3233A"/>
                </a:solidFill>
                <a:latin typeface="Source Serif 4" pitchFamily="18" charset="0"/>
                <a:ea typeface="Source Serif 4" pitchFamily="18" charset="-122"/>
                <a:cs typeface="Source Serif 4" pitchFamily="18" charset="-120"/>
              </a:rPr>
              <a:t>[__]×</a:t>
            </a:r>
            <a:endParaRPr lang="en-US" sz="2400" dirty="0"/>
          </a:p>
        </p:txBody>
      </p:sp>
      <p:sp>
        <p:nvSpPr>
          <p:cNvPr id="15" name="Text 13"/>
          <p:cNvSpPr/>
          <p:nvPr/>
        </p:nvSpPr>
        <p:spPr>
          <a:xfrm>
            <a:off x="9058342" y="1566342"/>
            <a:ext cx="17103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faster than simulator</a:t>
            </a:r>
            <a:endParaRPr lang="en-US" sz="1200" dirty="0"/>
          </a:p>
        </p:txBody>
      </p:sp>
      <p:sp>
        <p:nvSpPr>
          <p:cNvPr id="16" name="Shape 14"/>
          <p:cNvSpPr/>
          <p:nvPr/>
        </p:nvSpPr>
        <p:spPr>
          <a:xfrm>
            <a:off x="615950" y="2236465"/>
            <a:ext cx="5118100" cy="2273300"/>
          </a:xfrm>
          <a:prstGeom prst="roundRect">
            <a:avLst>
              <a:gd name="adj" fmla="val 3073"/>
            </a:avLst>
          </a:prstGeom>
          <a:solidFill>
            <a:srgbClr val="E4EAF0"/>
          </a:solidFill>
          <a:ln w="12700">
            <a:solidFill>
              <a:srgbClr val="8A9AAB"/>
            </a:solidFill>
            <a:prstDash val="dash"/>
          </a:ln>
        </p:spPr>
      </p:sp>
      <p:sp>
        <p:nvSpPr>
          <p:cNvPr id="17" name="Text 15"/>
          <p:cNvSpPr/>
          <p:nvPr/>
        </p:nvSpPr>
        <p:spPr>
          <a:xfrm>
            <a:off x="609600" y="4592315"/>
            <a:ext cx="54940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Fig. — Parity plot: predicted vs simulated NPC</a:t>
            </a:r>
            <a:endParaRPr lang="en-US" sz="1200" dirty="0"/>
          </a:p>
        </p:txBody>
      </p:sp>
      <p:sp>
        <p:nvSpPr>
          <p:cNvPr id="18" name="Shape 16"/>
          <p:cNvSpPr/>
          <p:nvPr/>
        </p:nvSpPr>
        <p:spPr>
          <a:xfrm>
            <a:off x="6254750" y="2236465"/>
            <a:ext cx="5118100" cy="2273300"/>
          </a:xfrm>
          <a:prstGeom prst="roundRect">
            <a:avLst>
              <a:gd name="adj" fmla="val 3073"/>
            </a:avLst>
          </a:prstGeom>
          <a:solidFill>
            <a:srgbClr val="E4EAF0"/>
          </a:solidFill>
          <a:ln w="12700">
            <a:solidFill>
              <a:srgbClr val="8A9AAB"/>
            </a:solidFill>
            <a:prstDash val="dash"/>
          </a:ln>
        </p:spPr>
      </p:sp>
      <p:sp>
        <p:nvSpPr>
          <p:cNvPr id="19" name="Text 17"/>
          <p:cNvSpPr/>
          <p:nvPr/>
        </p:nvSpPr>
        <p:spPr>
          <a:xfrm>
            <a:off x="6248400" y="4592315"/>
            <a:ext cx="54940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Fig. — Parity plot: predicted vs simulated LPSP</a:t>
            </a:r>
            <a:endParaRPr lang="en-US" sz="1200" dirty="0"/>
          </a:p>
        </p:txBody>
      </p:sp>
      <p:sp>
        <p:nvSpPr>
          <p:cNvPr id="20" name="Shape 18"/>
          <p:cNvSpPr/>
          <p:nvPr/>
        </p:nvSpPr>
        <p:spPr>
          <a:xfrm>
            <a:off x="609600" y="6210300"/>
            <a:ext cx="10972800" cy="12700"/>
          </a:xfrm>
          <a:prstGeom prst="rect">
            <a:avLst/>
          </a:prstGeom>
          <a:solidFill>
            <a:srgbClr val="D5DBE1"/>
          </a:solidFill>
          <a:ln/>
        </p:spPr>
      </p:sp>
      <p:sp>
        <p:nvSpPr>
          <p:cNvPr id="21" name="Text 19"/>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22" name="Text 20"/>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20 / 30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RESULTS</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Simulator verification</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Shape 5"/>
          <p:cNvSpPr/>
          <p:nvPr/>
        </p:nvSpPr>
        <p:spPr>
          <a:xfrm>
            <a:off x="615950" y="1276350"/>
            <a:ext cx="6642100" cy="3289300"/>
          </a:xfrm>
          <a:prstGeom prst="roundRect">
            <a:avLst>
              <a:gd name="adj" fmla="val 2124"/>
            </a:avLst>
          </a:prstGeom>
          <a:solidFill>
            <a:srgbClr val="FBFBF8"/>
          </a:solidFill>
          <a:ln w="12700">
            <a:solidFill>
              <a:srgbClr val="8A9AAB"/>
            </a:solidFill>
            <a:prstDash val="dash"/>
          </a:ln>
        </p:spPr>
      </p:sp>
      <p:sp>
        <p:nvSpPr>
          <p:cNvPr id="8" name="Text 6"/>
          <p:cNvSpPr/>
          <p:nvPr/>
        </p:nvSpPr>
        <p:spPr>
          <a:xfrm>
            <a:off x="609600" y="4673600"/>
            <a:ext cx="72730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Fig. — One sample week: PV, load, battery power and SoC [insert your plot]</a:t>
            </a:r>
            <a:endParaRPr lang="en-US" sz="1200" dirty="0"/>
          </a:p>
        </p:txBody>
      </p:sp>
      <p:sp>
        <p:nvSpPr>
          <p:cNvPr id="9" name="Shape 7"/>
          <p:cNvSpPr/>
          <p:nvPr/>
        </p:nvSpPr>
        <p:spPr>
          <a:xfrm>
            <a:off x="8032750" y="1276350"/>
            <a:ext cx="3543300" cy="3604220"/>
          </a:xfrm>
          <a:prstGeom prst="roundRect">
            <a:avLst>
              <a:gd name="adj" fmla="val 2688"/>
            </a:avLst>
          </a:prstGeom>
          <a:solidFill>
            <a:srgbClr val="FBFBF8"/>
          </a:solidFill>
          <a:ln w="12700">
            <a:solidFill>
              <a:srgbClr val="D5DBE1"/>
            </a:solidFill>
            <a:prstDash val="solid"/>
          </a:ln>
        </p:spPr>
      </p:sp>
      <p:sp>
        <p:nvSpPr>
          <p:cNvPr id="10" name="Text 8"/>
          <p:cNvSpPr/>
          <p:nvPr/>
        </p:nvSpPr>
        <p:spPr>
          <a:xfrm>
            <a:off x="8267700" y="1511300"/>
            <a:ext cx="316560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3233A"/>
                </a:solidFill>
                <a:latin typeface="IBM Plex Sans" pitchFamily="34" charset="0"/>
                <a:ea typeface="IBM Plex Sans" pitchFamily="34" charset="-122"/>
                <a:cs typeface="IBM Plex Sans" pitchFamily="34" charset="-120"/>
              </a:rPr>
              <a:t>Sanity checks passed</a:t>
            </a:r>
            <a:endParaRPr lang="en-US" sz="1600" dirty="0"/>
          </a:p>
        </p:txBody>
      </p:sp>
      <p:sp>
        <p:nvSpPr>
          <p:cNvPr id="11" name="Text 9"/>
          <p:cNvSpPr/>
          <p:nvPr/>
        </p:nvSpPr>
        <p:spPr>
          <a:xfrm>
            <a:off x="8353044" y="1882118"/>
            <a:ext cx="3072638" cy="1461691"/>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Energy balance closes every hour</a:t>
            </a:r>
            <a:endParaRPr lang="en-US" sz="1300" dirty="0"/>
          </a:p>
          <a:p>
            <a:pPr algn="l" marL="168656" indent="-168656">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SoC stays within 20–100 %</a:t>
            </a:r>
            <a:endParaRPr lang="en-US" sz="1300" dirty="0"/>
          </a:p>
          <a:p>
            <a:pPr algn="l" marL="168656" indent="-168656">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Annual PV yield consistent with irradiation</a:t>
            </a:r>
            <a:endParaRPr lang="en-US" sz="1300" dirty="0"/>
          </a:p>
          <a:p>
            <a:pPr algn="l" marL="168656" indent="-168656">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LPSP falls as storage grows</a:t>
            </a:r>
            <a:endParaRPr lang="en-US" sz="1300" dirty="0"/>
          </a:p>
          <a:p>
            <a:pPr algn="l" marL="168656" indent="-168656">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[Add your own check]</a:t>
            </a:r>
            <a:endParaRPr lang="en-US" sz="1300" dirty="0"/>
          </a:p>
        </p:txBody>
      </p:sp>
      <p:sp>
        <p:nvSpPr>
          <p:cNvPr id="12" name="Shape 10"/>
          <p:cNvSpPr/>
          <p:nvPr/>
        </p:nvSpPr>
        <p:spPr>
          <a:xfrm>
            <a:off x="609600" y="6210300"/>
            <a:ext cx="10972800" cy="12700"/>
          </a:xfrm>
          <a:prstGeom prst="rect">
            <a:avLst/>
          </a:prstGeom>
          <a:solidFill>
            <a:srgbClr val="D5DBE1"/>
          </a:solidFill>
          <a:ln/>
        </p:spPr>
      </p:sp>
      <p:sp>
        <p:nvSpPr>
          <p:cNvPr id="13" name="Text 11"/>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14" name="Text 12"/>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21 / 30</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RESULTS</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Optimal designs: Case A vs B vs C</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Shape 5"/>
          <p:cNvSpPr/>
          <p:nvPr/>
        </p:nvSpPr>
        <p:spPr>
          <a:xfrm>
            <a:off x="609600" y="1270000"/>
            <a:ext cx="10972800" cy="1681030"/>
          </a:xfrm>
          <a:prstGeom prst="rect">
            <a:avLst/>
          </a:prstGeom>
          <a:solidFill>
            <a:srgbClr val="FBFBF8"/>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22300" y="1282700"/>
          <a:ext cx="10960100" cy="1668330"/>
        </p:xfrm>
        <a:graphic>
          <a:graphicData uri="http://schemas.openxmlformats.org/drawingml/2006/table">
            <a:tbl>
              <a:tblPr/>
              <a:tblGrid>
                <a:gridCol w="2192020"/>
                <a:gridCol w="1096010"/>
                <a:gridCol w="1096010"/>
                <a:gridCol w="1096010"/>
                <a:gridCol w="1096010"/>
                <a:gridCol w="1096010"/>
                <a:gridCol w="1096010"/>
                <a:gridCol w="1096010"/>
                <a:gridCol w="1096010"/>
              </a:tblGrid>
              <a:tr h="590418">
                <a:tc>
                  <a:txBody>
                    <a:bodyPr/>
                    <a:lstStyle/>
                    <a:p>
                      <a:pPr indent="0" marL="0">
                        <a:lnSpc>
                          <a:spcPts val="1820"/>
                        </a:lnSpc>
                        <a:buNone/>
                      </a:pPr>
                      <a:r>
                        <a:rPr lang="en-US" sz="1300" b="1" dirty="0">
                          <a:solidFill>
                            <a:srgbClr val="F7F6F1"/>
                          </a:solidFill>
                          <a:latin typeface="IBM Plex Sans" pitchFamily="34" charset="0"/>
                          <a:ea typeface="IBM Plex Sans" pitchFamily="34" charset="-122"/>
                          <a:cs typeface="IBM Plex Sans" pitchFamily="34" charset="-120"/>
                        </a:rPr>
                        <a:t>Case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algn="ctr" indent="0" marL="0">
                        <a:lnSpc>
                          <a:spcPts val="1820"/>
                        </a:lnSpc>
                        <a:buNone/>
                      </a:pPr>
                      <a:r>
                        <a:rPr lang="en-US" sz="1300" b="1" dirty="0">
                          <a:solidFill>
                            <a:srgbClr val="F7F6F1"/>
                          </a:solidFill>
                          <a:latin typeface="IBM Plex Sans" pitchFamily="34" charset="0"/>
                          <a:ea typeface="IBM Plex Sans" pitchFamily="34" charset="-122"/>
                          <a:cs typeface="IBM Plex Sans" pitchFamily="34" charset="-120"/>
                        </a:rPr>
                        <a:t>PV (kW)</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algn="ctr" indent="0" marL="0">
                        <a:lnSpc>
                          <a:spcPts val="1820"/>
                        </a:lnSpc>
                        <a:buNone/>
                      </a:pPr>
                      <a:r>
                        <a:rPr lang="en-US" sz="1300" b="1" dirty="0">
                          <a:solidFill>
                            <a:srgbClr val="F7F6F1"/>
                          </a:solidFill>
                          <a:latin typeface="IBM Plex Sans" pitchFamily="34" charset="0"/>
                          <a:ea typeface="IBM Plex Sans" pitchFamily="34" charset="-122"/>
                          <a:cs typeface="IBM Plex Sans" pitchFamily="34" charset="-120"/>
                        </a:rPr>
                        <a:t>Battery (kWh)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algn="ctr" indent="0" marL="0">
                        <a:lnSpc>
                          <a:spcPts val="1820"/>
                        </a:lnSpc>
                        <a:buNone/>
                      </a:pPr>
                      <a:r>
                        <a:rPr lang="en-US" sz="1300" b="1" dirty="0">
                          <a:solidFill>
                            <a:srgbClr val="F7F6F1"/>
                          </a:solidFill>
                          <a:latin typeface="IBM Plex Sans" pitchFamily="34" charset="0"/>
                          <a:ea typeface="IBM Plex Sans" pitchFamily="34" charset="-122"/>
                          <a:cs typeface="IBM Plex Sans" pitchFamily="34" charset="-120"/>
                        </a:rPr>
                        <a:t>SC strings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algn="ctr" indent="0" marL="0">
                        <a:lnSpc>
                          <a:spcPts val="1820"/>
                        </a:lnSpc>
                        <a:buNone/>
                      </a:pPr>
                      <a:r>
                        <a:rPr lang="en-US" sz="1300" b="1" dirty="0">
                          <a:solidFill>
                            <a:srgbClr val="F7F6F1"/>
                          </a:solidFill>
                          <a:latin typeface="IBM Plex Sans" pitchFamily="34" charset="0"/>
                          <a:ea typeface="IBM Plex Sans" pitchFamily="34" charset="-122"/>
                          <a:cs typeface="IBM Plex Sans" pitchFamily="34" charset="-120"/>
                        </a:rPr>
                        <a:t>f_c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algn="ctr" indent="0" marL="0">
                        <a:lnSpc>
                          <a:spcPts val="1820"/>
                        </a:lnSpc>
                        <a:buNone/>
                      </a:pPr>
                      <a:r>
                        <a:rPr lang="en-US" sz="1300" b="1" dirty="0">
                          <a:solidFill>
                            <a:srgbClr val="F7F6F1"/>
                          </a:solidFill>
                          <a:latin typeface="IBM Plex Sans" pitchFamily="34" charset="0"/>
                          <a:ea typeface="IBM Plex Sans" pitchFamily="34" charset="-122"/>
                          <a:cs typeface="IBM Plex Sans" pitchFamily="34" charset="-120"/>
                        </a:rPr>
                        <a:t>LPSP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algn="ctr" indent="0" marL="0">
                        <a:lnSpc>
                          <a:spcPts val="1820"/>
                        </a:lnSpc>
                        <a:buNone/>
                      </a:pPr>
                      <a:r>
                        <a:rPr lang="en-US" sz="1300" b="1" dirty="0">
                          <a:solidFill>
                            <a:srgbClr val="F7F6F1"/>
                          </a:solidFill>
                          <a:latin typeface="IBM Plex Sans" pitchFamily="34" charset="0"/>
                          <a:ea typeface="IBM Plex Sans" pitchFamily="34" charset="-122"/>
                          <a:cs typeface="IBM Plex Sans" pitchFamily="34" charset="-120"/>
                        </a:rPr>
                        <a:t>NPC (Rs M)</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algn="ctr" indent="0" marL="0">
                        <a:lnSpc>
                          <a:spcPts val="1820"/>
                        </a:lnSpc>
                        <a:buNone/>
                      </a:pPr>
                      <a:r>
                        <a:rPr lang="en-US" sz="1300" b="1" dirty="0">
                          <a:solidFill>
                            <a:srgbClr val="F7F6F1"/>
                          </a:solidFill>
                          <a:latin typeface="IBM Plex Sans" pitchFamily="34" charset="0"/>
                          <a:ea typeface="IBM Plex Sans" pitchFamily="34" charset="-122"/>
                          <a:cs typeface="IBM Plex Sans" pitchFamily="34" charset="-120"/>
                        </a:rPr>
                        <a:t>LCOE (Rs/kWh)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algn="ctr" indent="0" marL="0">
                        <a:lnSpc>
                          <a:spcPts val="1820"/>
                        </a:lnSpc>
                        <a:buNone/>
                      </a:pPr>
                      <a:r>
                        <a:rPr lang="en-US" sz="1300" b="1" dirty="0">
                          <a:solidFill>
                            <a:srgbClr val="F7F6F1"/>
                          </a:solidFill>
                          <a:latin typeface="IBM Plex Sans" pitchFamily="34" charset="0"/>
                          <a:ea typeface="IBM Plex Sans" pitchFamily="34" charset="-122"/>
                          <a:cs typeface="IBM Plex Sans" pitchFamily="34" charset="-120"/>
                        </a:rPr>
                        <a:t>Battery life (yr)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59304">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A · Battery only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r>
              <a:tr h="359304">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B · Hybrid, fixed split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[fixed]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EC0C3"/>
                      </a:solidFill>
                      <a:prstDash val="solid"/>
                      <a:round/>
                      <a:headEnd type="none" w="med" len="med"/>
                      <a:tailEnd type="none" w="med" len="med"/>
                    </a:lnL>
                    <a:lnR w="12700" cap="flat" cmpd="sng" algn="ctr">
                      <a:solidFill>
                        <a:srgbClr val="BEC0C3"/>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0C3"/>
                      </a:solidFill>
                      <a:prstDash val="solid"/>
                      <a:round/>
                      <a:headEnd type="none" w="med" len="med"/>
                      <a:tailEnd type="none" w="med" len="med"/>
                    </a:lnB>
                    <a:solidFill>
                      <a:srgbClr val="EEF1F4"/>
                    </a:solidFill>
                  </a:tcPr>
                </a:tc>
              </a:tr>
              <a:tr h="359304">
                <a:tc>
                  <a:txBody>
                    <a:bodyPr/>
                    <a:lstStyle/>
                    <a:p>
                      <a:pP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C · Hybrid, co-optimised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C8C6"/>
                      </a:solidFill>
                      <a:prstDash val="solid"/>
                      <a:round/>
                      <a:headEnd type="none" w="med" len="med"/>
                      <a:tailEnd type="none" w="med" len="med"/>
                    </a:lnL>
                    <a:lnR w="12700" cap="flat" cmpd="sng" algn="ctr">
                      <a:solidFill>
                        <a:srgbClr val="C8BCA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BCA6"/>
                      </a:solidFill>
                      <a:prstDash val="solid"/>
                      <a:round/>
                      <a:headEnd type="none" w="med" len="med"/>
                      <a:tailEnd type="none" w="med" len="med"/>
                    </a:lnB>
                    <a:solidFill>
                      <a:srgbClr val="FBEBCF"/>
                    </a:solidFill>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BCA6"/>
                      </a:solidFill>
                      <a:prstDash val="solid"/>
                      <a:round/>
                      <a:headEnd type="none" w="med" len="med"/>
                      <a:tailEnd type="none" w="med" len="med"/>
                    </a:lnL>
                    <a:lnR w="12700" cap="flat" cmpd="sng" algn="ctr">
                      <a:solidFill>
                        <a:srgbClr val="C8BCA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BCA6"/>
                      </a:solidFill>
                      <a:prstDash val="solid"/>
                      <a:round/>
                      <a:headEnd type="none" w="med" len="med"/>
                      <a:tailEnd type="none" w="med" len="med"/>
                    </a:lnB>
                    <a:solidFill>
                      <a:srgbClr val="FBEBCF"/>
                    </a:solidFill>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BCA6"/>
                      </a:solidFill>
                      <a:prstDash val="solid"/>
                      <a:round/>
                      <a:headEnd type="none" w="med" len="med"/>
                      <a:tailEnd type="none" w="med" len="med"/>
                    </a:lnL>
                    <a:lnR w="12700" cap="flat" cmpd="sng" algn="ctr">
                      <a:solidFill>
                        <a:srgbClr val="C8BCA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BCA6"/>
                      </a:solidFill>
                      <a:prstDash val="solid"/>
                      <a:round/>
                      <a:headEnd type="none" w="med" len="med"/>
                      <a:tailEnd type="none" w="med" len="med"/>
                    </a:lnB>
                    <a:solidFill>
                      <a:srgbClr val="FBEBCF"/>
                    </a:solidFill>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BCA6"/>
                      </a:solidFill>
                      <a:prstDash val="solid"/>
                      <a:round/>
                      <a:headEnd type="none" w="med" len="med"/>
                      <a:tailEnd type="none" w="med" len="med"/>
                    </a:lnL>
                    <a:lnR w="12700" cap="flat" cmpd="sng" algn="ctr">
                      <a:solidFill>
                        <a:srgbClr val="C8BCA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BCA6"/>
                      </a:solidFill>
                      <a:prstDash val="solid"/>
                      <a:round/>
                      <a:headEnd type="none" w="med" len="med"/>
                      <a:tailEnd type="none" w="med" len="med"/>
                    </a:lnB>
                    <a:solidFill>
                      <a:srgbClr val="FBEBCF"/>
                    </a:solidFill>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BCA6"/>
                      </a:solidFill>
                      <a:prstDash val="solid"/>
                      <a:round/>
                      <a:headEnd type="none" w="med" len="med"/>
                      <a:tailEnd type="none" w="med" len="med"/>
                    </a:lnL>
                    <a:lnR w="12700" cap="flat" cmpd="sng" algn="ctr">
                      <a:solidFill>
                        <a:srgbClr val="C8BCA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BCA6"/>
                      </a:solidFill>
                      <a:prstDash val="solid"/>
                      <a:round/>
                      <a:headEnd type="none" w="med" len="med"/>
                      <a:tailEnd type="none" w="med" len="med"/>
                    </a:lnB>
                    <a:solidFill>
                      <a:srgbClr val="FBEBCF"/>
                    </a:solidFill>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BCA6"/>
                      </a:solidFill>
                      <a:prstDash val="solid"/>
                      <a:round/>
                      <a:headEnd type="none" w="med" len="med"/>
                      <a:tailEnd type="none" w="med" len="med"/>
                    </a:lnL>
                    <a:lnR w="12700" cap="flat" cmpd="sng" algn="ctr">
                      <a:solidFill>
                        <a:srgbClr val="C8BCA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BCA6"/>
                      </a:solidFill>
                      <a:prstDash val="solid"/>
                      <a:round/>
                      <a:headEnd type="none" w="med" len="med"/>
                      <a:tailEnd type="none" w="med" len="med"/>
                    </a:lnB>
                    <a:solidFill>
                      <a:srgbClr val="FBEBCF"/>
                    </a:solidFill>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BCA6"/>
                      </a:solidFill>
                      <a:prstDash val="solid"/>
                      <a:round/>
                      <a:headEnd type="none" w="med" len="med"/>
                      <a:tailEnd type="none" w="med" len="med"/>
                    </a:lnL>
                    <a:lnR w="12700" cap="flat" cmpd="sng" algn="ctr">
                      <a:solidFill>
                        <a:srgbClr val="C8BCA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BCA6"/>
                      </a:solidFill>
                      <a:prstDash val="solid"/>
                      <a:round/>
                      <a:headEnd type="none" w="med" len="med"/>
                      <a:tailEnd type="none" w="med" len="med"/>
                    </a:lnB>
                    <a:solidFill>
                      <a:srgbClr val="FBEBCF"/>
                    </a:solidFill>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BCA6"/>
                      </a:solidFill>
                      <a:prstDash val="solid"/>
                      <a:round/>
                      <a:headEnd type="none" w="med" len="med"/>
                      <a:tailEnd type="none" w="med" len="med"/>
                    </a:lnL>
                    <a:lnR w="12700" cap="flat" cmpd="sng" algn="ctr">
                      <a:solidFill>
                        <a:srgbClr val="C8BCA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BCA6"/>
                      </a:solidFill>
                      <a:prstDash val="solid"/>
                      <a:round/>
                      <a:headEnd type="none" w="med" len="med"/>
                      <a:tailEnd type="none" w="med" len="med"/>
                    </a:lnB>
                    <a:solidFill>
                      <a:srgbClr val="FBEBCF"/>
                    </a:solidFill>
                  </a:tcPr>
                </a:tc>
                <a:tc>
                  <a:txBody>
                    <a:bodyPr/>
                    <a:lstStyle/>
                    <a:p>
                      <a:pPr algn="ctr" indent="0" marL="0">
                        <a:lnSpc>
                          <a:spcPts val="1820"/>
                        </a:lnSpc>
                        <a:buNone/>
                      </a:pPr>
                      <a:r>
                        <a:rPr lang="en-US" sz="1300" dirty="0">
                          <a:solidFill>
                            <a:srgbClr val="13233A"/>
                          </a:solidFill>
                          <a:latin typeface="IBM Plex Sans" pitchFamily="34" charset="0"/>
                          <a:ea typeface="IBM Plex Sans" pitchFamily="34" charset="-122"/>
                          <a:cs typeface="IBM Plex Sans" pitchFamily="34" charset="-120"/>
                        </a:rPr>
                        <a:t>[__]</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8BCA6"/>
                      </a:solidFill>
                      <a:prstDash val="solid"/>
                      <a:round/>
                      <a:headEnd type="none" w="med" len="med"/>
                      <a:tailEnd type="none" w="med" len="med"/>
                    </a:lnL>
                    <a:lnR w="12700" cap="flat" cmpd="sng" algn="ctr">
                      <a:solidFill>
                        <a:srgbClr val="C8BCA6"/>
                      </a:solidFill>
                      <a:prstDash val="solid"/>
                      <a:round/>
                      <a:headEnd type="none" w="med" len="med"/>
                      <a:tailEnd type="none" w="med" len="med"/>
                    </a:lnR>
                    <a:lnT w="12700" cap="flat" cmpd="sng" algn="ctr">
                      <a:solidFill>
                        <a:srgbClr val="BEC0C3"/>
                      </a:solidFill>
                      <a:prstDash val="solid"/>
                      <a:round/>
                      <a:headEnd type="none" w="med" len="med"/>
                      <a:tailEnd type="none" w="med" len="med"/>
                    </a:lnT>
                    <a:lnB w="12700" cap="flat" cmpd="sng" algn="ctr">
                      <a:solidFill>
                        <a:srgbClr val="C8BCA6"/>
                      </a:solidFill>
                      <a:prstDash val="solid"/>
                      <a:round/>
                      <a:headEnd type="none" w="med" len="med"/>
                      <a:tailEnd type="none" w="med" len="med"/>
                    </a:lnB>
                    <a:solidFill>
                      <a:srgbClr val="FBEBCF"/>
                    </a:solidFill>
                  </a:tcPr>
                </a:tc>
              </a:tr>
            </a:tbl>
          </a:graphicData>
        </a:graphic>
      </p:graphicFrame>
      <p:sp>
        <p:nvSpPr>
          <p:cNvPr id="9" name="Shape 6"/>
          <p:cNvSpPr/>
          <p:nvPr/>
        </p:nvSpPr>
        <p:spPr>
          <a:xfrm>
            <a:off x="615950" y="3211388"/>
            <a:ext cx="3509433" cy="995627"/>
          </a:xfrm>
          <a:prstGeom prst="roundRect">
            <a:avLst>
              <a:gd name="adj" fmla="val 7016"/>
            </a:avLst>
          </a:prstGeom>
          <a:solidFill>
            <a:srgbClr val="FBFBF8"/>
          </a:solidFill>
          <a:ln w="12700">
            <a:solidFill>
              <a:srgbClr val="D5DBE1"/>
            </a:solidFill>
            <a:prstDash val="solid"/>
          </a:ln>
        </p:spPr>
      </p:sp>
      <p:sp>
        <p:nvSpPr>
          <p:cNvPr id="10" name="Text 7"/>
          <p:cNvSpPr/>
          <p:nvPr/>
        </p:nvSpPr>
        <p:spPr>
          <a:xfrm>
            <a:off x="774700" y="3370138"/>
            <a:ext cx="3287691" cy="452107"/>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3233A"/>
                </a:solidFill>
                <a:latin typeface="Source Serif 4" pitchFamily="18" charset="0"/>
                <a:ea typeface="Source Serif 4" pitchFamily="18" charset="-122"/>
                <a:cs typeface="Source Serif 4" pitchFamily="18" charset="-120"/>
              </a:rPr>
              <a:t>[−__ %]</a:t>
            </a:r>
            <a:endParaRPr lang="en-US" sz="2400" dirty="0"/>
          </a:p>
        </p:txBody>
      </p:sp>
      <p:sp>
        <p:nvSpPr>
          <p:cNvPr id="11" name="Text 8"/>
          <p:cNvSpPr/>
          <p:nvPr/>
        </p:nvSpPr>
        <p:spPr>
          <a:xfrm>
            <a:off x="774700" y="3834941"/>
            <a:ext cx="32876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NPC, Case C vs Case A</a:t>
            </a:r>
            <a:endParaRPr lang="en-US" sz="1200" dirty="0"/>
          </a:p>
        </p:txBody>
      </p:sp>
      <p:sp>
        <p:nvSpPr>
          <p:cNvPr id="12" name="Shape 9"/>
          <p:cNvSpPr/>
          <p:nvPr/>
        </p:nvSpPr>
        <p:spPr>
          <a:xfrm>
            <a:off x="4341283" y="3211388"/>
            <a:ext cx="3509433" cy="995627"/>
          </a:xfrm>
          <a:prstGeom prst="roundRect">
            <a:avLst>
              <a:gd name="adj" fmla="val 7016"/>
            </a:avLst>
          </a:prstGeom>
          <a:solidFill>
            <a:srgbClr val="FBFBF8"/>
          </a:solidFill>
          <a:ln w="12700">
            <a:solidFill>
              <a:srgbClr val="D5DBE1"/>
            </a:solidFill>
            <a:prstDash val="solid"/>
          </a:ln>
        </p:spPr>
      </p:sp>
      <p:sp>
        <p:nvSpPr>
          <p:cNvPr id="13" name="Text 10"/>
          <p:cNvSpPr/>
          <p:nvPr/>
        </p:nvSpPr>
        <p:spPr>
          <a:xfrm>
            <a:off x="4500033" y="3370138"/>
            <a:ext cx="3287691" cy="452107"/>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3233A"/>
                </a:solidFill>
                <a:latin typeface="Source Serif 4" pitchFamily="18" charset="0"/>
                <a:ea typeface="Source Serif 4" pitchFamily="18" charset="-122"/>
                <a:cs typeface="Source Serif 4" pitchFamily="18" charset="-120"/>
              </a:rPr>
              <a:t>[+__ yr]</a:t>
            </a:r>
            <a:endParaRPr lang="en-US" sz="2400" dirty="0"/>
          </a:p>
        </p:txBody>
      </p:sp>
      <p:sp>
        <p:nvSpPr>
          <p:cNvPr id="14" name="Text 11"/>
          <p:cNvSpPr/>
          <p:nvPr/>
        </p:nvSpPr>
        <p:spPr>
          <a:xfrm>
            <a:off x="4500033" y="3834941"/>
            <a:ext cx="32876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Battery life gain, Case C vs A</a:t>
            </a:r>
            <a:endParaRPr lang="en-US" sz="1200" dirty="0"/>
          </a:p>
        </p:txBody>
      </p:sp>
      <p:sp>
        <p:nvSpPr>
          <p:cNvPr id="15" name="Shape 12"/>
          <p:cNvSpPr/>
          <p:nvPr/>
        </p:nvSpPr>
        <p:spPr>
          <a:xfrm>
            <a:off x="8066617" y="3211388"/>
            <a:ext cx="3509433" cy="995627"/>
          </a:xfrm>
          <a:prstGeom prst="roundRect">
            <a:avLst>
              <a:gd name="adj" fmla="val 7016"/>
            </a:avLst>
          </a:prstGeom>
          <a:solidFill>
            <a:srgbClr val="FBFBF8"/>
          </a:solidFill>
          <a:ln w="12700">
            <a:solidFill>
              <a:srgbClr val="D5DBE1"/>
            </a:solidFill>
            <a:prstDash val="solid"/>
          </a:ln>
        </p:spPr>
      </p:sp>
      <p:sp>
        <p:nvSpPr>
          <p:cNvPr id="16" name="Text 13"/>
          <p:cNvSpPr/>
          <p:nvPr/>
        </p:nvSpPr>
        <p:spPr>
          <a:xfrm>
            <a:off x="8225367" y="3370138"/>
            <a:ext cx="3287691" cy="452107"/>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13233A"/>
                </a:solidFill>
                <a:latin typeface="Source Serif 4" pitchFamily="18" charset="0"/>
                <a:ea typeface="Source Serif 4" pitchFamily="18" charset="-122"/>
                <a:cs typeface="Source Serif 4" pitchFamily="18" charset="-120"/>
              </a:rPr>
              <a:t>[−__ %]</a:t>
            </a:r>
            <a:endParaRPr lang="en-US" sz="2400" dirty="0"/>
          </a:p>
        </p:txBody>
      </p:sp>
      <p:sp>
        <p:nvSpPr>
          <p:cNvPr id="17" name="Text 14"/>
          <p:cNvSpPr/>
          <p:nvPr/>
        </p:nvSpPr>
        <p:spPr>
          <a:xfrm>
            <a:off x="8225367" y="3834941"/>
            <a:ext cx="328769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NPC, Case C vs Case B</a:t>
            </a:r>
            <a:endParaRPr lang="en-US" sz="1200" dirty="0"/>
          </a:p>
        </p:txBody>
      </p:sp>
      <p:sp>
        <p:nvSpPr>
          <p:cNvPr id="18" name="Shape 15"/>
          <p:cNvSpPr/>
          <p:nvPr/>
        </p:nvSpPr>
        <p:spPr>
          <a:xfrm>
            <a:off x="609600" y="6210300"/>
            <a:ext cx="10972800" cy="12700"/>
          </a:xfrm>
          <a:prstGeom prst="rect">
            <a:avLst/>
          </a:prstGeom>
          <a:solidFill>
            <a:srgbClr val="D5DBE1"/>
          </a:solidFill>
          <a:ln/>
        </p:spPr>
      </p:sp>
      <p:sp>
        <p:nvSpPr>
          <p:cNvPr id="19" name="Text 16"/>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20" name="Text 17"/>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22 / 30</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RESULTS</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Optimiser performance: grid search vs PSO</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Shape 5"/>
          <p:cNvSpPr/>
          <p:nvPr/>
        </p:nvSpPr>
        <p:spPr>
          <a:xfrm>
            <a:off x="615950" y="1276350"/>
            <a:ext cx="5118100" cy="2781300"/>
          </a:xfrm>
          <a:prstGeom prst="roundRect">
            <a:avLst>
              <a:gd name="adj" fmla="val 2511"/>
            </a:avLst>
          </a:prstGeom>
          <a:solidFill>
            <a:srgbClr val="FBFBF8"/>
          </a:solidFill>
          <a:ln w="12700">
            <a:solidFill>
              <a:srgbClr val="8A9AAB"/>
            </a:solidFill>
            <a:prstDash val="dash"/>
          </a:ln>
        </p:spPr>
      </p:sp>
      <p:sp>
        <p:nvSpPr>
          <p:cNvPr id="8" name="Text 6"/>
          <p:cNvSpPr/>
          <p:nvPr/>
        </p:nvSpPr>
        <p:spPr>
          <a:xfrm>
            <a:off x="609600" y="4140200"/>
            <a:ext cx="54940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Fig. — NPC landscape from coarse grid search (PV size vs battery energy), infeasible region shaded</a:t>
            </a:r>
            <a:endParaRPr lang="en-US" sz="1200" dirty="0"/>
          </a:p>
        </p:txBody>
      </p:sp>
      <p:sp>
        <p:nvSpPr>
          <p:cNvPr id="9" name="Text 7"/>
          <p:cNvSpPr/>
          <p:nvPr/>
        </p:nvSpPr>
        <p:spPr>
          <a:xfrm>
            <a:off x="609600" y="4643041"/>
            <a:ext cx="549402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Observation:</a:t>
            </a:r>
            <a:r>
              <a:rPr lang="en-US" sz="1300" dirty="0">
                <a:solidFill>
                  <a:srgbClr val="13233A"/>
                </a:solidFill>
                <a:latin typeface="IBM Plex Sans" pitchFamily="34" charset="0"/>
                <a:ea typeface="IBM Plex Sans" pitchFamily="34" charset="-122"/>
                <a:cs typeface="IBM Plex Sans" pitchFamily="34" charset="-120"/>
              </a:rPr>
              <a:t> [__]</a:t>
            </a:r>
            <a:endParaRPr lang="en-US" sz="1300" dirty="0"/>
          </a:p>
        </p:txBody>
      </p:sp>
      <p:sp>
        <p:nvSpPr>
          <p:cNvPr id="10" name="Shape 8"/>
          <p:cNvSpPr/>
          <p:nvPr/>
        </p:nvSpPr>
        <p:spPr>
          <a:xfrm>
            <a:off x="6254750" y="1276350"/>
            <a:ext cx="5118100" cy="2781300"/>
          </a:xfrm>
          <a:prstGeom prst="roundRect">
            <a:avLst>
              <a:gd name="adj" fmla="val 2511"/>
            </a:avLst>
          </a:prstGeom>
          <a:solidFill>
            <a:srgbClr val="FBFBF8"/>
          </a:solidFill>
          <a:ln w="12700">
            <a:solidFill>
              <a:srgbClr val="8A9AAB"/>
            </a:solidFill>
            <a:prstDash val="dash"/>
          </a:ln>
        </p:spPr>
      </p:sp>
      <p:sp>
        <p:nvSpPr>
          <p:cNvPr id="11" name="Text 9"/>
          <p:cNvSpPr/>
          <p:nvPr/>
        </p:nvSpPr>
        <p:spPr>
          <a:xfrm>
            <a:off x="6248400" y="4140200"/>
            <a:ext cx="54940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Fig. — PSO convergence: best NPC vs iteration, grid-search optimum as a dashed line</a:t>
            </a:r>
            <a:endParaRPr lang="en-US" sz="1200" dirty="0"/>
          </a:p>
        </p:txBody>
      </p:sp>
      <p:sp>
        <p:nvSpPr>
          <p:cNvPr id="12" name="Text 10"/>
          <p:cNvSpPr/>
          <p:nvPr/>
        </p:nvSpPr>
        <p:spPr>
          <a:xfrm>
            <a:off x="6248400" y="4643041"/>
            <a:ext cx="549402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Observation:</a:t>
            </a:r>
            <a:r>
              <a:rPr lang="en-US" sz="1300" dirty="0">
                <a:solidFill>
                  <a:srgbClr val="13233A"/>
                </a:solidFill>
                <a:latin typeface="IBM Plex Sans" pitchFamily="34" charset="0"/>
                <a:ea typeface="IBM Plex Sans" pitchFamily="34" charset="-122"/>
                <a:cs typeface="IBM Plex Sans" pitchFamily="34" charset="-120"/>
              </a:rPr>
              <a:t> [__]</a:t>
            </a:r>
            <a:endParaRPr lang="en-US" sz="1300" dirty="0"/>
          </a:p>
        </p:txBody>
      </p:sp>
      <p:sp>
        <p:nvSpPr>
          <p:cNvPr id="13" name="Shape 11"/>
          <p:cNvSpPr/>
          <p:nvPr/>
        </p:nvSpPr>
        <p:spPr>
          <a:xfrm>
            <a:off x="609600" y="6210300"/>
            <a:ext cx="10972800" cy="12700"/>
          </a:xfrm>
          <a:prstGeom prst="rect">
            <a:avLst/>
          </a:prstGeom>
          <a:solidFill>
            <a:srgbClr val="D5DBE1"/>
          </a:solidFill>
          <a:ln/>
        </p:spPr>
      </p:sp>
      <p:sp>
        <p:nvSpPr>
          <p:cNvPr id="14" name="Text 12"/>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15" name="Text 13"/>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23 / 30</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RESULTS</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Power split in action</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Shape 5"/>
          <p:cNvSpPr/>
          <p:nvPr/>
        </p:nvSpPr>
        <p:spPr>
          <a:xfrm>
            <a:off x="615950" y="1276350"/>
            <a:ext cx="5118100" cy="2781300"/>
          </a:xfrm>
          <a:prstGeom prst="roundRect">
            <a:avLst>
              <a:gd name="adj" fmla="val 2511"/>
            </a:avLst>
          </a:prstGeom>
          <a:solidFill>
            <a:srgbClr val="FBFBF8"/>
          </a:solidFill>
          <a:ln w="12700">
            <a:solidFill>
              <a:srgbClr val="8A9AAB"/>
            </a:solidFill>
            <a:prstDash val="dash"/>
          </a:ln>
        </p:spPr>
      </p:sp>
      <p:sp>
        <p:nvSpPr>
          <p:cNvPr id="8" name="Text 6"/>
          <p:cNvSpPr/>
          <p:nvPr/>
        </p:nvSpPr>
        <p:spPr>
          <a:xfrm>
            <a:off x="609600" y="4140200"/>
            <a:ext cx="54940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Fig. — Battery vs supercapacitor power during the worst-case transient</a:t>
            </a:r>
            <a:endParaRPr lang="en-US" sz="1200" dirty="0"/>
          </a:p>
        </p:txBody>
      </p:sp>
      <p:sp>
        <p:nvSpPr>
          <p:cNvPr id="9" name="Text 7"/>
          <p:cNvSpPr/>
          <p:nvPr/>
        </p:nvSpPr>
        <p:spPr>
          <a:xfrm>
            <a:off x="609600" y="4429720"/>
            <a:ext cx="549402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Observation:</a:t>
            </a:r>
            <a:r>
              <a:rPr lang="en-US" sz="1300" dirty="0">
                <a:solidFill>
                  <a:srgbClr val="13233A"/>
                </a:solidFill>
                <a:latin typeface="IBM Plex Sans" pitchFamily="34" charset="0"/>
                <a:ea typeface="IBM Plex Sans" pitchFamily="34" charset="-122"/>
                <a:cs typeface="IBM Plex Sans" pitchFamily="34" charset="-120"/>
              </a:rPr>
              <a:t> [__]</a:t>
            </a:r>
            <a:endParaRPr lang="en-US" sz="1300" dirty="0"/>
          </a:p>
        </p:txBody>
      </p:sp>
      <p:sp>
        <p:nvSpPr>
          <p:cNvPr id="10" name="Shape 8"/>
          <p:cNvSpPr/>
          <p:nvPr/>
        </p:nvSpPr>
        <p:spPr>
          <a:xfrm>
            <a:off x="6254750" y="1276350"/>
            <a:ext cx="5118100" cy="2781300"/>
          </a:xfrm>
          <a:prstGeom prst="roundRect">
            <a:avLst>
              <a:gd name="adj" fmla="val 2511"/>
            </a:avLst>
          </a:prstGeom>
          <a:solidFill>
            <a:srgbClr val="FBFBF8"/>
          </a:solidFill>
          <a:ln w="12700">
            <a:solidFill>
              <a:srgbClr val="8A9AAB"/>
            </a:solidFill>
            <a:prstDash val="dash"/>
          </a:ln>
        </p:spPr>
      </p:sp>
      <p:sp>
        <p:nvSpPr>
          <p:cNvPr id="11" name="Text 9"/>
          <p:cNvSpPr/>
          <p:nvPr/>
        </p:nvSpPr>
        <p:spPr>
          <a:xfrm>
            <a:off x="6248400" y="4140200"/>
            <a:ext cx="54940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Fig. — Battery SoC over a typical week, Case A vs Case C</a:t>
            </a:r>
            <a:endParaRPr lang="en-US" sz="1200" dirty="0"/>
          </a:p>
        </p:txBody>
      </p:sp>
      <p:sp>
        <p:nvSpPr>
          <p:cNvPr id="12" name="Text 10"/>
          <p:cNvSpPr/>
          <p:nvPr/>
        </p:nvSpPr>
        <p:spPr>
          <a:xfrm>
            <a:off x="6248400" y="4429720"/>
            <a:ext cx="549402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Observation:</a:t>
            </a:r>
            <a:r>
              <a:rPr lang="en-US" sz="1300" dirty="0">
                <a:solidFill>
                  <a:srgbClr val="13233A"/>
                </a:solidFill>
                <a:latin typeface="IBM Plex Sans" pitchFamily="34" charset="0"/>
                <a:ea typeface="IBM Plex Sans" pitchFamily="34" charset="-122"/>
                <a:cs typeface="IBM Plex Sans" pitchFamily="34" charset="-120"/>
              </a:rPr>
              <a:t> [__]</a:t>
            </a:r>
            <a:endParaRPr lang="en-US" sz="1300" dirty="0"/>
          </a:p>
        </p:txBody>
      </p:sp>
      <p:sp>
        <p:nvSpPr>
          <p:cNvPr id="13" name="Shape 11"/>
          <p:cNvSpPr/>
          <p:nvPr/>
        </p:nvSpPr>
        <p:spPr>
          <a:xfrm>
            <a:off x="609600" y="6210300"/>
            <a:ext cx="10972800" cy="12700"/>
          </a:xfrm>
          <a:prstGeom prst="rect">
            <a:avLst/>
          </a:prstGeom>
          <a:solidFill>
            <a:srgbClr val="D5DBE1"/>
          </a:solidFill>
          <a:ln/>
        </p:spPr>
      </p:sp>
      <p:sp>
        <p:nvSpPr>
          <p:cNvPr id="14" name="Text 12"/>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15" name="Text 13"/>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24 / 30</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RESULTS</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Battery stress and lifetime</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Shape 5"/>
          <p:cNvSpPr/>
          <p:nvPr/>
        </p:nvSpPr>
        <p:spPr>
          <a:xfrm>
            <a:off x="615950" y="1276350"/>
            <a:ext cx="5118100" cy="2781300"/>
          </a:xfrm>
          <a:prstGeom prst="roundRect">
            <a:avLst>
              <a:gd name="adj" fmla="val 2511"/>
            </a:avLst>
          </a:prstGeom>
          <a:solidFill>
            <a:srgbClr val="FBFBF8"/>
          </a:solidFill>
          <a:ln w="12700">
            <a:solidFill>
              <a:srgbClr val="8A9AAB"/>
            </a:solidFill>
            <a:prstDash val="dash"/>
          </a:ln>
        </p:spPr>
      </p:sp>
      <p:sp>
        <p:nvSpPr>
          <p:cNvPr id="8" name="Text 6"/>
          <p:cNvSpPr/>
          <p:nvPr/>
        </p:nvSpPr>
        <p:spPr>
          <a:xfrm>
            <a:off x="609600" y="4140200"/>
            <a:ext cx="54940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Fig. — Rainflow cycle histograms, Case A vs Case C</a:t>
            </a:r>
            <a:endParaRPr lang="en-US" sz="1200" dirty="0"/>
          </a:p>
        </p:txBody>
      </p:sp>
      <p:sp>
        <p:nvSpPr>
          <p:cNvPr id="9" name="Text 7"/>
          <p:cNvSpPr/>
          <p:nvPr/>
        </p:nvSpPr>
        <p:spPr>
          <a:xfrm>
            <a:off x="609600" y="4429720"/>
            <a:ext cx="549402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Observation:</a:t>
            </a:r>
            <a:r>
              <a:rPr lang="en-US" sz="1300" dirty="0">
                <a:solidFill>
                  <a:srgbClr val="13233A"/>
                </a:solidFill>
                <a:latin typeface="IBM Plex Sans" pitchFamily="34" charset="0"/>
                <a:ea typeface="IBM Plex Sans" pitchFamily="34" charset="-122"/>
                <a:cs typeface="IBM Plex Sans" pitchFamily="34" charset="-120"/>
              </a:rPr>
              <a:t> [__]</a:t>
            </a:r>
            <a:endParaRPr lang="en-US" sz="1300" dirty="0"/>
          </a:p>
        </p:txBody>
      </p:sp>
      <p:sp>
        <p:nvSpPr>
          <p:cNvPr id="10" name="Shape 8"/>
          <p:cNvSpPr/>
          <p:nvPr/>
        </p:nvSpPr>
        <p:spPr>
          <a:xfrm>
            <a:off x="6254750" y="1276350"/>
            <a:ext cx="5118100" cy="2781300"/>
          </a:xfrm>
          <a:prstGeom prst="roundRect">
            <a:avLst>
              <a:gd name="adj" fmla="val 2511"/>
            </a:avLst>
          </a:prstGeom>
          <a:solidFill>
            <a:srgbClr val="FBFBF8"/>
          </a:solidFill>
          <a:ln w="12700">
            <a:solidFill>
              <a:srgbClr val="8A9AAB"/>
            </a:solidFill>
            <a:prstDash val="dash"/>
          </a:ln>
        </p:spPr>
      </p:sp>
      <p:sp>
        <p:nvSpPr>
          <p:cNvPr id="11" name="Text 9"/>
          <p:cNvSpPr/>
          <p:nvPr/>
        </p:nvSpPr>
        <p:spPr>
          <a:xfrm>
            <a:off x="6248400" y="4140200"/>
            <a:ext cx="54940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Fig. — Cumulative battery damage D over 20 years, with replacement points</a:t>
            </a:r>
            <a:endParaRPr lang="en-US" sz="1200" dirty="0"/>
          </a:p>
        </p:txBody>
      </p:sp>
      <p:sp>
        <p:nvSpPr>
          <p:cNvPr id="12" name="Text 10"/>
          <p:cNvSpPr/>
          <p:nvPr/>
        </p:nvSpPr>
        <p:spPr>
          <a:xfrm>
            <a:off x="6248400" y="4429720"/>
            <a:ext cx="549402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Observation:</a:t>
            </a:r>
            <a:r>
              <a:rPr lang="en-US" sz="1300" dirty="0">
                <a:solidFill>
                  <a:srgbClr val="13233A"/>
                </a:solidFill>
                <a:latin typeface="IBM Plex Sans" pitchFamily="34" charset="0"/>
                <a:ea typeface="IBM Plex Sans" pitchFamily="34" charset="-122"/>
                <a:cs typeface="IBM Plex Sans" pitchFamily="34" charset="-120"/>
              </a:rPr>
              <a:t> [__]</a:t>
            </a:r>
            <a:endParaRPr lang="en-US" sz="1300" dirty="0"/>
          </a:p>
        </p:txBody>
      </p:sp>
      <p:sp>
        <p:nvSpPr>
          <p:cNvPr id="13" name="Shape 11"/>
          <p:cNvSpPr/>
          <p:nvPr/>
        </p:nvSpPr>
        <p:spPr>
          <a:xfrm>
            <a:off x="609600" y="6210300"/>
            <a:ext cx="10972800" cy="12700"/>
          </a:xfrm>
          <a:prstGeom prst="rect">
            <a:avLst/>
          </a:prstGeom>
          <a:solidFill>
            <a:srgbClr val="D5DBE1"/>
          </a:solidFill>
          <a:ln/>
        </p:spPr>
      </p:sp>
      <p:sp>
        <p:nvSpPr>
          <p:cNvPr id="14" name="Text 12"/>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15" name="Text 13"/>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25 / 30</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RESULTS</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Cost breakdown and sensitivity</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Shape 5"/>
          <p:cNvSpPr/>
          <p:nvPr/>
        </p:nvSpPr>
        <p:spPr>
          <a:xfrm>
            <a:off x="615950" y="1276350"/>
            <a:ext cx="5118100" cy="2781300"/>
          </a:xfrm>
          <a:prstGeom prst="roundRect">
            <a:avLst>
              <a:gd name="adj" fmla="val 2511"/>
            </a:avLst>
          </a:prstGeom>
          <a:solidFill>
            <a:srgbClr val="FBFBF8"/>
          </a:solidFill>
          <a:ln w="12700">
            <a:solidFill>
              <a:srgbClr val="8A9AAB"/>
            </a:solidFill>
            <a:prstDash val="dash"/>
          </a:ln>
        </p:spPr>
      </p:sp>
      <p:sp>
        <p:nvSpPr>
          <p:cNvPr id="8" name="Text 6"/>
          <p:cNvSpPr/>
          <p:nvPr/>
        </p:nvSpPr>
        <p:spPr>
          <a:xfrm>
            <a:off x="609600" y="4140200"/>
            <a:ext cx="54940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Fig. — NPC breakdown by component (capital, O&amp;M, replacement) for Cases A, B, C</a:t>
            </a:r>
            <a:endParaRPr lang="en-US" sz="1200" dirty="0"/>
          </a:p>
        </p:txBody>
      </p:sp>
      <p:sp>
        <p:nvSpPr>
          <p:cNvPr id="9" name="Text 7"/>
          <p:cNvSpPr/>
          <p:nvPr/>
        </p:nvSpPr>
        <p:spPr>
          <a:xfrm>
            <a:off x="609600" y="4643041"/>
            <a:ext cx="549402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Observation:</a:t>
            </a:r>
            <a:r>
              <a:rPr lang="en-US" sz="1300" dirty="0">
                <a:solidFill>
                  <a:srgbClr val="13233A"/>
                </a:solidFill>
                <a:latin typeface="IBM Plex Sans" pitchFamily="34" charset="0"/>
                <a:ea typeface="IBM Plex Sans" pitchFamily="34" charset="-122"/>
                <a:cs typeface="IBM Plex Sans" pitchFamily="34" charset="-120"/>
              </a:rPr>
              <a:t> [__]</a:t>
            </a:r>
            <a:endParaRPr lang="en-US" sz="1300" dirty="0"/>
          </a:p>
        </p:txBody>
      </p:sp>
      <p:sp>
        <p:nvSpPr>
          <p:cNvPr id="10" name="Shape 8"/>
          <p:cNvSpPr/>
          <p:nvPr/>
        </p:nvSpPr>
        <p:spPr>
          <a:xfrm>
            <a:off x="6254750" y="1276350"/>
            <a:ext cx="5118100" cy="2781300"/>
          </a:xfrm>
          <a:prstGeom prst="roundRect">
            <a:avLst>
              <a:gd name="adj" fmla="val 2511"/>
            </a:avLst>
          </a:prstGeom>
          <a:solidFill>
            <a:srgbClr val="FBFBF8"/>
          </a:solidFill>
          <a:ln w="12700">
            <a:solidFill>
              <a:srgbClr val="8A9AAB"/>
            </a:solidFill>
            <a:prstDash val="dash"/>
          </a:ln>
        </p:spPr>
      </p:sp>
      <p:sp>
        <p:nvSpPr>
          <p:cNvPr id="11" name="Text 9"/>
          <p:cNvSpPr/>
          <p:nvPr/>
        </p:nvSpPr>
        <p:spPr>
          <a:xfrm>
            <a:off x="6248400" y="4140200"/>
            <a:ext cx="54940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Fig. — NPC and battery life vs cut-off frequency f_c (or vs SC price)</a:t>
            </a:r>
            <a:endParaRPr lang="en-US" sz="1200" dirty="0"/>
          </a:p>
        </p:txBody>
      </p:sp>
      <p:sp>
        <p:nvSpPr>
          <p:cNvPr id="12" name="Text 10"/>
          <p:cNvSpPr/>
          <p:nvPr/>
        </p:nvSpPr>
        <p:spPr>
          <a:xfrm>
            <a:off x="6248400" y="4429720"/>
            <a:ext cx="549402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3233A"/>
                </a:solidFill>
                <a:latin typeface="IBM Plex Sans" pitchFamily="34" charset="0"/>
                <a:ea typeface="IBM Plex Sans" pitchFamily="34" charset="-122"/>
                <a:cs typeface="IBM Plex Sans" pitchFamily="34" charset="-120"/>
              </a:rPr>
              <a:t>Observation:</a:t>
            </a:r>
            <a:r>
              <a:rPr lang="en-US" sz="1300" dirty="0">
                <a:solidFill>
                  <a:srgbClr val="13233A"/>
                </a:solidFill>
                <a:latin typeface="IBM Plex Sans" pitchFamily="34" charset="0"/>
                <a:ea typeface="IBM Plex Sans" pitchFamily="34" charset="-122"/>
                <a:cs typeface="IBM Plex Sans" pitchFamily="34" charset="-120"/>
              </a:rPr>
              <a:t> [__]</a:t>
            </a:r>
            <a:endParaRPr lang="en-US" sz="1300" dirty="0"/>
          </a:p>
        </p:txBody>
      </p:sp>
      <p:sp>
        <p:nvSpPr>
          <p:cNvPr id="13" name="Shape 11"/>
          <p:cNvSpPr/>
          <p:nvPr/>
        </p:nvSpPr>
        <p:spPr>
          <a:xfrm>
            <a:off x="609600" y="6210300"/>
            <a:ext cx="10972800" cy="12700"/>
          </a:xfrm>
          <a:prstGeom prst="rect">
            <a:avLst/>
          </a:prstGeom>
          <a:solidFill>
            <a:srgbClr val="D5DBE1"/>
          </a:solidFill>
          <a:ln/>
        </p:spPr>
      </p:sp>
      <p:sp>
        <p:nvSpPr>
          <p:cNvPr id="14" name="Text 12"/>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15" name="Text 13"/>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26 / 30</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3233A"/>
        </a:solidFill>
      </p:bgPr>
    </p:bg>
    <p:spTree>
      <p:nvGrpSpPr>
        <p:cNvPr id="1" name=""/>
        <p:cNvGrpSpPr/>
        <p:nvPr/>
      </p:nvGrpSpPr>
      <p:grpSpPr>
        <a:xfrm>
          <a:off x="0" y="0"/>
          <a:ext cx="0" cy="0"/>
          <a:chOff x="0" y="0"/>
          <a:chExt cx="0" cy="0"/>
        </a:xfrm>
      </p:grpSpPr>
      <p:sp>
        <p:nvSpPr>
          <p:cNvPr id="2" name="Shape 0"/>
          <p:cNvSpPr/>
          <p:nvPr/>
        </p:nvSpPr>
        <p:spPr>
          <a:xfrm>
            <a:off x="0" y="0"/>
            <a:ext cx="12192000" cy="76200"/>
          </a:xfrm>
          <a:prstGeom prst="rect">
            <a:avLst/>
          </a:prstGeom>
          <a:solidFill>
            <a:srgbClr val="E8A33D"/>
          </a:solidFill>
          <a:ln/>
        </p:spPr>
      </p:sp>
      <p:sp>
        <p:nvSpPr>
          <p:cNvPr id="3" name="Text 1"/>
          <p:cNvSpPr/>
          <p:nvPr/>
        </p:nvSpPr>
        <p:spPr>
          <a:xfrm>
            <a:off x="1016000" y="2315245"/>
            <a:ext cx="10464800" cy="256514"/>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E8A33D"/>
                </a:solidFill>
                <a:latin typeface="IBM Plex Sans" pitchFamily="34" charset="0"/>
                <a:ea typeface="IBM Plex Sans" pitchFamily="34" charset="-122"/>
                <a:cs typeface="IBM Plex Sans" pitchFamily="34" charset="-120"/>
              </a:rPr>
              <a:t>KEY RESULT</a:t>
            </a:r>
            <a:endParaRPr lang="en-US" sz="1300" dirty="0"/>
          </a:p>
        </p:txBody>
      </p:sp>
      <p:sp>
        <p:nvSpPr>
          <p:cNvPr id="4" name="Text 2"/>
          <p:cNvSpPr/>
          <p:nvPr>
            <p:ph type="title"/>
          </p:nvPr>
        </p:nvSpPr>
        <p:spPr>
          <a:xfrm>
            <a:off x="1016000" y="2800350"/>
            <a:ext cx="10464800" cy="1193800"/>
          </a:xfrm>
          <a:prstGeom prst="rect">
            <a:avLst/>
          </a:prstGeom>
          <a:noFill/>
          <a:ln/>
        </p:spPr>
        <p:txBody>
          <a:bodyPr wrap="square" lIns="0" tIns="0" rIns="0" bIns="0" rtlCol="0" anchor="t">
            <a:normAutofit/>
          </a:bodyPr>
          <a:lstStyle/>
          <a:p>
            <a:pPr algn="l" indent="0" marL="0">
              <a:lnSpc>
                <a:spcPts val="4600"/>
              </a:lnSpc>
              <a:buNone/>
            </a:pPr>
            <a:r>
              <a:rPr lang="en-US" sz="4000" b="1" i="0" dirty="0">
                <a:solidFill>
                  <a:srgbClr val="FFFFFF"/>
                </a:solidFill>
                <a:latin typeface="IBM Plex Sans" pitchFamily="34" charset="0"/>
                <a:ea typeface="IBM Plex Sans" pitchFamily="34" charset="-122"/>
                <a:cs typeface="IBM Plex Sans" pitchFamily="34" charset="-120"/>
              </a:rPr>
              <a:t>Co-optimising the power split cuts NPC by </a:t>
            </a:r>
            <a:r>
              <a:rPr lang="en-US" sz="4000" b="1" i="0" dirty="0">
                <a:solidFill>
                  <a:srgbClr val="E8A33D"/>
                </a:solidFill>
                <a:latin typeface="IBM Plex Sans" pitchFamily="34" charset="0"/>
                <a:ea typeface="IBM Plex Sans" pitchFamily="34" charset="-122"/>
                <a:cs typeface="IBM Plex Sans" pitchFamily="34" charset="-120"/>
              </a:rPr>
              <a:t>[__] %</a:t>
            </a:r>
            <a:r>
              <a:rPr lang="en-US" sz="4000" b="1" i="0" dirty="0">
                <a:solidFill>
                  <a:srgbClr val="FFFFFF"/>
                </a:solidFill>
                <a:latin typeface="IBM Plex Sans" pitchFamily="34" charset="0"/>
                <a:ea typeface="IBM Plex Sans" pitchFamily="34" charset="-122"/>
                <a:cs typeface="IBM Plex Sans" pitchFamily="34" charset="-120"/>
              </a:rPr>
              <a:t> versus battery-only storage</a:t>
            </a:r>
            <a:endParaRPr lang="en-US" sz="4000" dirty="0"/>
          </a:p>
        </p:txBody>
      </p:sp>
      <p:sp>
        <p:nvSpPr>
          <p:cNvPr id="5" name="Text 3"/>
          <p:cNvSpPr/>
          <p:nvPr/>
        </p:nvSpPr>
        <p:spPr>
          <a:xfrm>
            <a:off x="1016000" y="4222750"/>
            <a:ext cx="10668000"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4DF"/>
                </a:solidFill>
                <a:latin typeface="IBM Plex Sans" pitchFamily="34" charset="0"/>
                <a:ea typeface="IBM Plex Sans" pitchFamily="34" charset="-122"/>
                <a:cs typeface="IBM Plex Sans" pitchFamily="34" charset="-120"/>
              </a:rPr>
              <a:t>…while extending battery life from [__] to [__] years, at the same LPSP ≤ 1 % reliability.</a:t>
            </a:r>
            <a:endParaRPr lang="en-US" sz="1800" dirty="0"/>
          </a:p>
        </p:txBody>
      </p:sp>
      <p:sp>
        <p:nvSpPr>
          <p:cNvPr id="6" name="Shape 4"/>
          <p:cNvSpPr/>
          <p:nvPr/>
        </p:nvSpPr>
        <p:spPr>
          <a:xfrm>
            <a:off x="0" y="6781800"/>
            <a:ext cx="12192000" cy="76200"/>
          </a:xfrm>
          <a:prstGeom prst="rect">
            <a:avLst/>
          </a:prstGeom>
          <a:solidFill>
            <a:srgbClr val="E8A33D"/>
          </a:solidFill>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CONCLUSION</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Conclusions and future work</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Shape 5"/>
          <p:cNvSpPr/>
          <p:nvPr/>
        </p:nvSpPr>
        <p:spPr>
          <a:xfrm>
            <a:off x="615950" y="1276350"/>
            <a:ext cx="5321300" cy="2531600"/>
          </a:xfrm>
          <a:prstGeom prst="roundRect">
            <a:avLst>
              <a:gd name="adj" fmla="val 3762"/>
            </a:avLst>
          </a:prstGeom>
          <a:solidFill>
            <a:srgbClr val="FBFBF8"/>
          </a:solidFill>
          <a:ln w="12700">
            <a:solidFill>
              <a:srgbClr val="D5DBE1"/>
            </a:solidFill>
            <a:prstDash val="solid"/>
          </a:ln>
        </p:spPr>
      </p:sp>
      <p:sp>
        <p:nvSpPr>
          <p:cNvPr id="8" name="Text 6"/>
          <p:cNvSpPr/>
          <p:nvPr/>
        </p:nvSpPr>
        <p:spPr>
          <a:xfrm>
            <a:off x="850900" y="1511300"/>
            <a:ext cx="4996942"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33A"/>
                </a:solidFill>
                <a:latin typeface="IBM Plex Sans" pitchFamily="34" charset="0"/>
                <a:ea typeface="IBM Plex Sans" pitchFamily="34" charset="-122"/>
                <a:cs typeface="IBM Plex Sans" pitchFamily="34" charset="-120"/>
              </a:rPr>
              <a:t>Conclusions</a:t>
            </a:r>
            <a:endParaRPr lang="en-US" sz="1700" dirty="0"/>
          </a:p>
        </p:txBody>
      </p:sp>
      <p:sp>
        <p:nvSpPr>
          <p:cNvPr id="9" name="Text 7"/>
          <p:cNvSpPr/>
          <p:nvPr/>
        </p:nvSpPr>
        <p:spPr>
          <a:xfrm>
            <a:off x="936244" y="1897335"/>
            <a:ext cx="4903978" cy="1701073"/>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A PV–battery–SC DC microgrid for the IITG site was sized for minimum 20-year NPC at LPSP ≤ 1 %</a:t>
            </a:r>
            <a:endParaRPr lang="en-US" sz="1300" dirty="0"/>
          </a:p>
          <a:p>
            <a:pPr algn="l" marL="168656" indent="-168656">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Case C (co-optimised f_c) achieved [__]</a:t>
            </a:r>
            <a:endParaRPr lang="en-US" sz="1300" dirty="0"/>
          </a:p>
          <a:p>
            <a:pPr algn="l" marL="168656" indent="-168656">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Supercapacitors cut battery cycling stress by [__] %, delaying replacements</a:t>
            </a:r>
            <a:endParaRPr lang="en-US" sz="1300" dirty="0"/>
          </a:p>
          <a:p>
            <a:pPr algn="l" marL="168656" indent="-168656">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The XGBoost surrogate sped up evaluation by [__]× with R² of [__]</a:t>
            </a:r>
            <a:endParaRPr lang="en-US" sz="1300" dirty="0"/>
          </a:p>
        </p:txBody>
      </p:sp>
      <p:sp>
        <p:nvSpPr>
          <p:cNvPr id="10" name="Shape 8"/>
          <p:cNvSpPr/>
          <p:nvPr/>
        </p:nvSpPr>
        <p:spPr>
          <a:xfrm>
            <a:off x="6254750" y="1276350"/>
            <a:ext cx="5321300" cy="2531600"/>
          </a:xfrm>
          <a:prstGeom prst="roundRect">
            <a:avLst>
              <a:gd name="adj" fmla="val 3762"/>
            </a:avLst>
          </a:prstGeom>
          <a:solidFill>
            <a:srgbClr val="FBFBF8"/>
          </a:solidFill>
          <a:ln w="12700">
            <a:solidFill>
              <a:srgbClr val="D5DBE1"/>
            </a:solidFill>
            <a:prstDash val="solid"/>
          </a:ln>
        </p:spPr>
      </p:sp>
      <p:sp>
        <p:nvSpPr>
          <p:cNvPr id="11" name="Text 9"/>
          <p:cNvSpPr/>
          <p:nvPr/>
        </p:nvSpPr>
        <p:spPr>
          <a:xfrm>
            <a:off x="6489700" y="1511300"/>
            <a:ext cx="4996942"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3233A"/>
                </a:solidFill>
                <a:latin typeface="IBM Plex Sans" pitchFamily="34" charset="0"/>
                <a:ea typeface="IBM Plex Sans" pitchFamily="34" charset="-122"/>
                <a:cs typeface="IBM Plex Sans" pitchFamily="34" charset="-120"/>
              </a:rPr>
              <a:t>Future work</a:t>
            </a:r>
            <a:endParaRPr lang="en-US" sz="1700" dirty="0"/>
          </a:p>
        </p:txBody>
      </p:sp>
      <p:sp>
        <p:nvSpPr>
          <p:cNvPr id="12" name="Text 10"/>
          <p:cNvSpPr/>
          <p:nvPr/>
        </p:nvSpPr>
        <p:spPr>
          <a:xfrm>
            <a:off x="6575044" y="1897335"/>
            <a:ext cx="4903978" cy="982927"/>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Sub-hourly simulation to capture transients directly</a:t>
            </a:r>
            <a:endParaRPr lang="en-US" sz="1300" dirty="0"/>
          </a:p>
          <a:p>
            <a:pPr algn="l" marL="168656" indent="-168656">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Adaptive, real-time power-split control</a:t>
            </a:r>
            <a:endParaRPr lang="en-US" sz="1300" dirty="0"/>
          </a:p>
          <a:p>
            <a:pPr algn="l" marL="168656" indent="-168656">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Li-ion chemistry and grid-connected scenarios</a:t>
            </a:r>
            <a:endParaRPr lang="en-US" sz="1300" dirty="0"/>
          </a:p>
          <a:p>
            <a:pPr algn="l" marL="168656" indent="-168656">
              <a:lnSpc>
                <a:spcPts val="1885"/>
              </a:lnSpc>
              <a:buSzPct val="100000"/>
              <a:buChar char="•"/>
            </a:pPr>
            <a:r>
              <a:rPr lang="en-US" sz="1300" dirty="0">
                <a:solidFill>
                  <a:srgbClr val="4A5568"/>
                </a:solidFill>
                <a:latin typeface="IBM Plex Sans" pitchFamily="34" charset="0"/>
                <a:ea typeface="IBM Plex Sans" pitchFamily="34" charset="-122"/>
                <a:cs typeface="IBM Plex Sans" pitchFamily="34" charset="-120"/>
              </a:rPr>
              <a:t>Hardware prototype or hardware-in-the-loop validation</a:t>
            </a:r>
            <a:endParaRPr lang="en-US" sz="1300" dirty="0"/>
          </a:p>
        </p:txBody>
      </p:sp>
      <p:sp>
        <p:nvSpPr>
          <p:cNvPr id="13" name="Shape 11"/>
          <p:cNvSpPr/>
          <p:nvPr/>
        </p:nvSpPr>
        <p:spPr>
          <a:xfrm>
            <a:off x="609600" y="6210300"/>
            <a:ext cx="10972800" cy="12700"/>
          </a:xfrm>
          <a:prstGeom prst="rect">
            <a:avLst/>
          </a:prstGeom>
          <a:solidFill>
            <a:srgbClr val="D5DBE1"/>
          </a:solidFill>
          <a:ln/>
        </p:spPr>
      </p:sp>
      <p:sp>
        <p:nvSpPr>
          <p:cNvPr id="14" name="Text 12"/>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15" name="Text 13"/>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28 / 30</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952500"/>
          </a:xfrm>
          <a:prstGeom prst="rect">
            <a:avLst/>
          </a:prstGeom>
          <a:solidFill>
            <a:srgbClr val="13233A"/>
          </a:solidFill>
          <a:ln/>
        </p:spPr>
      </p:sp>
      <p:sp>
        <p:nvSpPr>
          <p:cNvPr id="3" name="Shape 1"/>
          <p:cNvSpPr/>
          <p:nvPr/>
        </p:nvSpPr>
        <p:spPr>
          <a:xfrm>
            <a:off x="0" y="952500"/>
            <a:ext cx="12192000" cy="38100"/>
          </a:xfrm>
          <a:prstGeom prst="rect">
            <a:avLst/>
          </a:prstGeom>
          <a:solidFill>
            <a:srgbClr val="E8A33D"/>
          </a:solidFill>
          <a:ln/>
        </p:spPr>
      </p:sp>
      <p:sp>
        <p:nvSpPr>
          <p:cNvPr id="4" name="Text 2"/>
          <p:cNvSpPr/>
          <p:nvPr/>
        </p:nvSpPr>
        <p:spPr>
          <a:xfrm>
            <a:off x="609600" y="1778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33D"/>
                </a:solidFill>
                <a:latin typeface="IBM Plex Sans" pitchFamily="34" charset="0"/>
                <a:ea typeface="IBM Plex Sans" pitchFamily="34" charset="-122"/>
                <a:cs typeface="IBM Plex Sans" pitchFamily="34" charset="-120"/>
              </a:rPr>
              <a:t>BIBLIOGRAPHY</a:t>
            </a:r>
            <a:endParaRPr lang="en-US" sz="1200" dirty="0"/>
          </a:p>
        </p:txBody>
      </p:sp>
      <p:sp>
        <p:nvSpPr>
          <p:cNvPr id="5" name="Text 3"/>
          <p:cNvSpPr/>
          <p:nvPr>
            <p:ph type="title"/>
          </p:nvPr>
        </p:nvSpPr>
        <p:spPr>
          <a:xfrm>
            <a:off x="609600" y="419100"/>
            <a:ext cx="9810750" cy="388607"/>
          </a:xfrm>
          <a:prstGeom prst="rect">
            <a:avLst/>
          </a:prstGeom>
          <a:noFill/>
          <a:ln/>
        </p:spPr>
        <p:txBody>
          <a:bodyPr wrap="square" lIns="0" tIns="0" rIns="0" bIns="0" rtlCol="0" anchor="t">
            <a:normAutofit/>
          </a:bodyPr>
          <a:lstStyle/>
          <a:p>
            <a:pPr algn="l" indent="0" marL="0">
              <a:lnSpc>
                <a:spcPts val="2860"/>
              </a:lnSpc>
              <a:buNone/>
            </a:pPr>
            <a:r>
              <a:rPr lang="en-US" sz="2600" b="1" i="0" dirty="0">
                <a:solidFill>
                  <a:srgbClr val="FFFFFF"/>
                </a:solidFill>
                <a:latin typeface="IBM Plex Sans" pitchFamily="34" charset="0"/>
                <a:ea typeface="IBM Plex Sans" pitchFamily="34" charset="-122"/>
                <a:cs typeface="IBM Plex Sans" pitchFamily="34" charset="-120"/>
              </a:rPr>
              <a:t>References</a:t>
            </a:r>
            <a:endParaRPr lang="en-US" sz="2600" dirty="0"/>
          </a:p>
        </p:txBody>
      </p:sp>
      <p:sp>
        <p:nvSpPr>
          <p:cNvPr id="6" name="Shape 4"/>
          <p:cNvSpPr/>
          <p:nvPr/>
        </p:nvSpPr>
        <p:spPr>
          <a:xfrm>
            <a:off x="10922000" y="146050"/>
            <a:ext cx="660400" cy="660400"/>
          </a:xfrm>
          <a:prstGeom prst="roundRect">
            <a:avLst>
              <a:gd name="adj" fmla="val 50000"/>
            </a:avLst>
          </a:prstGeom>
          <a:solidFill>
            <a:srgbClr val="FFFFFF"/>
          </a:solidFill>
          <a:ln/>
        </p:spPr>
      </p:sp>
      <p:sp>
        <p:nvSpPr>
          <p:cNvPr id="7" name="Text 5"/>
          <p:cNvSpPr/>
          <p:nvPr/>
        </p:nvSpPr>
        <p:spPr>
          <a:xfrm>
            <a:off x="609600" y="1270000"/>
            <a:ext cx="5494020" cy="6197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33A"/>
                </a:solidFill>
                <a:latin typeface="IBM Plex Sans" pitchFamily="34" charset="0"/>
                <a:ea typeface="IBM Plex Sans" pitchFamily="34" charset="-122"/>
                <a:cs typeface="IBM Plex Sans" pitchFamily="34" charset="-120"/>
              </a:rPr>
              <a:t>[1] A. Kumar, A. R. Singh, Y. Deng, X. He, P. Kumar, R. C. Bansal, “Multiyear load growth based techno-financial evaluation of a microgrid for an academic institution,” IEEE Access, vol. 6, pp. 37533–37555, 2018.</a:t>
            </a:r>
            <a:endParaRPr lang="en-US" sz="1200" dirty="0"/>
          </a:p>
        </p:txBody>
      </p:sp>
      <p:sp>
        <p:nvSpPr>
          <p:cNvPr id="8" name="Text 6"/>
          <p:cNvSpPr/>
          <p:nvPr/>
        </p:nvSpPr>
        <p:spPr>
          <a:xfrm>
            <a:off x="609600" y="1953220"/>
            <a:ext cx="5494020"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33A"/>
                </a:solidFill>
                <a:latin typeface="IBM Plex Sans" pitchFamily="34" charset="0"/>
                <a:ea typeface="IBM Plex Sans" pitchFamily="34" charset="-122"/>
                <a:cs typeface="IBM Plex Sans" pitchFamily="34" charset="-120"/>
              </a:rPr>
              <a:t>[2] CERC, “Determination of levellised generic tariff for FY 2016-17,” Central Electricity Regulatory Commission, New Delhi, 2016.</a:t>
            </a:r>
            <a:endParaRPr lang="en-US" sz="1200" dirty="0"/>
          </a:p>
        </p:txBody>
      </p:sp>
      <p:sp>
        <p:nvSpPr>
          <p:cNvPr id="9" name="Text 7"/>
          <p:cNvSpPr/>
          <p:nvPr/>
        </p:nvSpPr>
        <p:spPr>
          <a:xfrm>
            <a:off x="609600" y="2438338"/>
            <a:ext cx="5494020"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33A"/>
                </a:solidFill>
                <a:latin typeface="IBM Plex Sans" pitchFamily="34" charset="0"/>
                <a:ea typeface="IBM Plex Sans" pitchFamily="34" charset="-122"/>
                <a:cs typeface="IBM Plex Sans" pitchFamily="34" charset="-120"/>
              </a:rPr>
              <a:t>[3] NASA Langley Research Center, POWER Project hourly data (GHI, T2M), accessed [date].</a:t>
            </a:r>
            <a:endParaRPr lang="en-US" sz="1200" dirty="0"/>
          </a:p>
        </p:txBody>
      </p:sp>
      <p:sp>
        <p:nvSpPr>
          <p:cNvPr id="10" name="Text 8"/>
          <p:cNvSpPr/>
          <p:nvPr/>
        </p:nvSpPr>
        <p:spPr>
          <a:xfrm>
            <a:off x="609600" y="2923456"/>
            <a:ext cx="5494020" cy="6197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33A"/>
                </a:solidFill>
                <a:latin typeface="IBM Plex Sans" pitchFamily="34" charset="0"/>
                <a:ea typeface="IBM Plex Sans" pitchFamily="34" charset="-122"/>
                <a:cs typeface="IBM Plex Sans" pitchFamily="34" charset="-120"/>
              </a:rPr>
              <a:t>[4] P. Thounthong, S. Raël, B. Davat, “Energy management of fuel cell/battery/supercapacitor hybrid power source for vehicle applications,” J. Power Sources, 2009.</a:t>
            </a:r>
            <a:endParaRPr lang="en-US" sz="1200" dirty="0"/>
          </a:p>
        </p:txBody>
      </p:sp>
      <p:sp>
        <p:nvSpPr>
          <p:cNvPr id="11" name="Text 9"/>
          <p:cNvSpPr/>
          <p:nvPr/>
        </p:nvSpPr>
        <p:spPr>
          <a:xfrm>
            <a:off x="609600" y="3606676"/>
            <a:ext cx="5494020" cy="6197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33A"/>
                </a:solidFill>
                <a:latin typeface="IBM Plex Sans" pitchFamily="34" charset="0"/>
                <a:ea typeface="IBM Plex Sans" pitchFamily="34" charset="-122"/>
                <a:cs typeface="IBM Plex Sans" pitchFamily="34" charset="-120"/>
              </a:rPr>
              <a:t>[5] S. K. Kollimalla, M. K. Mishra, N. L. Narasamma, “Design and analysis of novel control strategy for battery and supercapacitor storage system,” IEEE Trans. Sustain. Energy, 2014.</a:t>
            </a:r>
            <a:endParaRPr lang="en-US" sz="1200" dirty="0"/>
          </a:p>
        </p:txBody>
      </p:sp>
      <p:sp>
        <p:nvSpPr>
          <p:cNvPr id="12" name="Text 10"/>
          <p:cNvSpPr/>
          <p:nvPr/>
        </p:nvSpPr>
        <p:spPr>
          <a:xfrm>
            <a:off x="6248400" y="1270000"/>
            <a:ext cx="5494020" cy="6197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33A"/>
                </a:solidFill>
                <a:latin typeface="IBM Plex Sans" pitchFamily="34" charset="0"/>
                <a:ea typeface="IBM Plex Sans" pitchFamily="34" charset="-122"/>
                <a:cs typeface="IBM Plex Sans" pitchFamily="34" charset="-120"/>
              </a:rPr>
              <a:t>[6] A. Etxeberria, I. Vechiu, H. Camblong, J. M. Vinassa, “Hybrid energy storage systems for renewable energy sources integration in microgrids: a review,” IPEC, 2010.</a:t>
            </a:r>
            <a:endParaRPr lang="en-US" sz="1200" dirty="0"/>
          </a:p>
        </p:txBody>
      </p:sp>
      <p:sp>
        <p:nvSpPr>
          <p:cNvPr id="13" name="Text 11"/>
          <p:cNvSpPr/>
          <p:nvPr/>
        </p:nvSpPr>
        <p:spPr>
          <a:xfrm>
            <a:off x="6248400" y="1953220"/>
            <a:ext cx="5943600" cy="223507"/>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33A"/>
                </a:solidFill>
                <a:latin typeface="IBM Plex Sans" pitchFamily="34" charset="0"/>
                <a:ea typeface="IBM Plex Sans" pitchFamily="34" charset="-122"/>
                <a:cs typeface="IBM Plex Sans" pitchFamily="34" charset="-120"/>
              </a:rPr>
              <a:t>[7] ASTM E1049-85, Standard practices for cycle counting in fatigue analysis.</a:t>
            </a:r>
            <a:endParaRPr lang="en-US" sz="1200" dirty="0"/>
          </a:p>
        </p:txBody>
      </p:sp>
      <p:sp>
        <p:nvSpPr>
          <p:cNvPr id="14" name="Text 12"/>
          <p:cNvSpPr/>
          <p:nvPr/>
        </p:nvSpPr>
        <p:spPr>
          <a:xfrm>
            <a:off x="6248400" y="2240235"/>
            <a:ext cx="5494020"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33A"/>
                </a:solidFill>
                <a:latin typeface="IBM Plex Sans" pitchFamily="34" charset="0"/>
                <a:ea typeface="IBM Plex Sans" pitchFamily="34" charset="-122"/>
                <a:cs typeface="IBM Plex Sans" pitchFamily="34" charset="-120"/>
              </a:rPr>
              <a:t>[8] J. Kennedy, R. Eberhart, “Particle swarm optimization,” Proc. IEEE ICNN, 1995.</a:t>
            </a:r>
            <a:endParaRPr lang="en-US" sz="1200" dirty="0"/>
          </a:p>
        </p:txBody>
      </p:sp>
      <p:sp>
        <p:nvSpPr>
          <p:cNvPr id="15" name="Text 13"/>
          <p:cNvSpPr/>
          <p:nvPr/>
        </p:nvSpPr>
        <p:spPr>
          <a:xfrm>
            <a:off x="6248400" y="2725341"/>
            <a:ext cx="5494020" cy="421614"/>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33A"/>
                </a:solidFill>
                <a:latin typeface="IBM Plex Sans" pitchFamily="34" charset="0"/>
                <a:ea typeface="IBM Plex Sans" pitchFamily="34" charset="-122"/>
                <a:cs typeface="IBM Plex Sans" pitchFamily="34" charset="-120"/>
              </a:rPr>
              <a:t>[9] T. Chen, C. Guestrin, “XGBoost: a scalable tree boosting system,” Proc. ACM SIGKDD, 2016.</a:t>
            </a:r>
            <a:endParaRPr lang="en-US" sz="1200" dirty="0"/>
          </a:p>
        </p:txBody>
      </p:sp>
      <p:sp>
        <p:nvSpPr>
          <p:cNvPr id="16" name="Text 14"/>
          <p:cNvSpPr/>
          <p:nvPr/>
        </p:nvSpPr>
        <p:spPr>
          <a:xfrm>
            <a:off x="6248400" y="3210458"/>
            <a:ext cx="5494020" cy="6197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3233A"/>
                </a:solidFill>
                <a:latin typeface="IBM Plex Sans" pitchFamily="34" charset="0"/>
                <a:ea typeface="IBM Plex Sans" pitchFamily="34" charset="-122"/>
                <a:cs typeface="IBM Plex Sans" pitchFamily="34" charset="-120"/>
              </a:rPr>
              <a:t>[10] M. D. McKay, R. J. Beckman, W. J. Conover, “A comparison of three methods for selecting values of input variables in the analysis of output from a computer code,” Technometrics, 1979.</a:t>
            </a:r>
            <a:endParaRPr lang="en-US" sz="1200" dirty="0"/>
          </a:p>
        </p:txBody>
      </p:sp>
      <p:sp>
        <p:nvSpPr>
          <p:cNvPr id="17" name="Shape 15"/>
          <p:cNvSpPr/>
          <p:nvPr/>
        </p:nvSpPr>
        <p:spPr>
          <a:xfrm>
            <a:off x="609600" y="6210300"/>
            <a:ext cx="10972800" cy="12700"/>
          </a:xfrm>
          <a:prstGeom prst="rect">
            <a:avLst/>
          </a:prstGeom>
          <a:solidFill>
            <a:srgbClr val="D5DBE1"/>
          </a:solidFill>
          <a:ln/>
        </p:spPr>
      </p:sp>
      <p:sp>
        <p:nvSpPr>
          <p:cNvPr id="18" name="Text 16"/>
          <p:cNvSpPr/>
          <p:nvPr/>
        </p:nvSpPr>
        <p:spPr>
          <a:xfrm>
            <a:off x="609600" y="6365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Amit Raj · Hybrid Energy Storage Application in Microgrid · B.Tech Project, IIT Guwahati</a:t>
            </a:r>
            <a:endParaRPr lang="en-US" sz="1200" dirty="0"/>
          </a:p>
        </p:txBody>
      </p:sp>
      <p:sp>
        <p:nvSpPr>
          <p:cNvPr id="19" name="Text 17"/>
          <p:cNvSpPr/>
          <p:nvPr/>
        </p:nvSpPr>
        <p:spPr>
          <a:xfrm>
            <a:off x="10261600" y="6365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8"/>
                </a:solidFill>
                <a:latin typeface="IBM Plex Sans" pitchFamily="34" charset="0"/>
                <a:ea typeface="IBM Plex Sans" pitchFamily="34" charset="-122"/>
                <a:cs typeface="IBM Plex Sans" pitchFamily="34" charset="-120"/>
              </a:rPr>
              <a:t>29 / 30</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762000"/>
          </a:xfrm>
          <a:prstGeom prst="rect">
            <a:avLst/>
          </a:prstGeom>
          <a:solidFill>
            <a:srgbClr val="13233A"/>
          </a:solidFill>
          <a:ln/>
        </p:spPr>
      </p:sp>
      <p:sp>
        <p:nvSpPr>
          <p:cNvPr id="3" name="Shape 1"/>
          <p:cNvSpPr/>
          <p:nvPr/>
        </p:nvSpPr>
        <p:spPr>
          <a:xfrm>
            <a:off x="0" y="762000"/>
            <a:ext cx="12192000" cy="38100"/>
          </a:xfrm>
          <a:prstGeom prst="rect">
            <a:avLst/>
          </a:prstGeom>
          <a:solidFill>
            <a:srgbClr val="E8A33D"/>
          </a:solidFill>
          <a:ln/>
        </p:spPr>
      </p:sp>
      <p:sp>
        <p:nvSpPr>
          <p:cNvPr id="4" name="Text 2"/>
          <p:cNvSpPr/>
          <p:nvPr/>
        </p:nvSpPr>
        <p:spPr>
          <a:xfrm>
            <a:off x="654304" y="266700"/>
            <a:ext cx="10883392"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FFFFFF"/>
                </a:solidFill>
                <a:latin typeface="IBM Plex Sans" pitchFamily="34" charset="0"/>
                <a:ea typeface="IBM Plex Sans" pitchFamily="34" charset="-122"/>
                <a:cs typeface="IBM Plex Sans" pitchFamily="34" charset="-120"/>
              </a:rPr>
              <a:t>Indian Institute of Technology Guwahati</a:t>
            </a:r>
            <a:endParaRPr lang="en-US" sz="1500" dirty="0"/>
          </a:p>
        </p:txBody>
      </p:sp>
      <p:sp>
        <p:nvSpPr>
          <p:cNvPr id="5" name="Shape 3"/>
          <p:cNvSpPr/>
          <p:nvPr/>
        </p:nvSpPr>
        <p:spPr>
          <a:xfrm>
            <a:off x="5689600" y="2245395"/>
            <a:ext cx="812800" cy="812800"/>
          </a:xfrm>
          <a:prstGeom prst="roundRect">
            <a:avLst>
              <a:gd name="adj" fmla="val 50000"/>
            </a:avLst>
          </a:prstGeom>
          <a:solidFill>
            <a:srgbClr val="F2F4F7"/>
          </a:solidFill>
          <a:ln w="12700">
            <a:solidFill>
              <a:srgbClr val="8A9AAB"/>
            </a:solidFill>
            <a:prstDash val="dash"/>
          </a:ln>
        </p:spPr>
      </p:sp>
      <p:sp>
        <p:nvSpPr>
          <p:cNvPr id="6" name="Text 4"/>
          <p:cNvSpPr/>
          <p:nvPr>
            <p:ph type="title"/>
          </p:nvPr>
        </p:nvSpPr>
        <p:spPr>
          <a:xfrm>
            <a:off x="4055831" y="3242345"/>
            <a:ext cx="4080272" cy="772120"/>
          </a:xfrm>
          <a:prstGeom prst="rect">
            <a:avLst/>
          </a:prstGeom>
          <a:noFill/>
          <a:ln/>
        </p:spPr>
        <p:txBody>
          <a:bodyPr wrap="square" lIns="0" tIns="0" rIns="0" bIns="0" rtlCol="0" anchor="t">
            <a:normAutofit/>
          </a:bodyPr>
          <a:lstStyle/>
          <a:p>
            <a:pPr algn="ctr" indent="0" marL="0">
              <a:lnSpc>
                <a:spcPts val="5880"/>
              </a:lnSpc>
              <a:buNone/>
            </a:pPr>
            <a:r>
              <a:rPr lang="en-US" sz="5600" b="1" i="0" dirty="0">
                <a:solidFill>
                  <a:srgbClr val="13233A"/>
                </a:solidFill>
                <a:latin typeface="IBM Plex Sans" pitchFamily="34" charset="0"/>
                <a:ea typeface="IBM Plex Sans" pitchFamily="34" charset="-122"/>
                <a:cs typeface="IBM Plex Sans" pitchFamily="34" charset="-120"/>
              </a:rPr>
              <a:t>Thank you</a:t>
            </a:r>
            <a:endParaRPr lang="en-US" sz="5600" dirty="0"/>
          </a:p>
        </p:txBody>
      </p:sp>
      <p:sp>
        <p:nvSpPr>
          <p:cNvPr id="7" name="Text 5"/>
          <p:cNvSpPr/>
          <p:nvPr/>
        </p:nvSpPr>
        <p:spPr>
          <a:xfrm>
            <a:off x="4357218" y="4166865"/>
            <a:ext cx="3477498" cy="355600"/>
          </a:xfrm>
          <a:prstGeom prst="rect">
            <a:avLst/>
          </a:prstGeom>
          <a:noFill/>
          <a:ln/>
        </p:spPr>
        <p:txBody>
          <a:bodyPr wrap="square" lIns="0" tIns="0" rIns="0" bIns="0" rtlCol="0" anchor="t">
            <a:normAutofit/>
          </a:bodyPr>
          <a:lstStyle/>
          <a:p>
            <a:pPr algn="ctr" indent="0" marL="0">
              <a:lnSpc>
                <a:spcPts val="2600"/>
              </a:lnSpc>
              <a:buNone/>
            </a:pPr>
            <a:r>
              <a:rPr lang="en-US" sz="2000" dirty="0">
                <a:solidFill>
                  <a:srgbClr val="2E6F95"/>
                </a:solidFill>
                <a:latin typeface="IBM Plex Sans" pitchFamily="34" charset="0"/>
                <a:ea typeface="IBM Plex Sans" pitchFamily="34" charset="-122"/>
                <a:cs typeface="IBM Plex Sans" pitchFamily="34" charset="-120"/>
              </a:rPr>
              <a:t>Questions and discussion</a:t>
            </a:r>
            <a:endParaRPr lang="en-US" sz="2000" dirty="0"/>
          </a:p>
        </p:txBody>
      </p:sp>
      <p:sp>
        <p:nvSpPr>
          <p:cNvPr id="8" name="Text 6"/>
          <p:cNvSpPr/>
          <p:nvPr/>
        </p:nvSpPr>
        <p:spPr>
          <a:xfrm>
            <a:off x="2615492" y="4674865"/>
            <a:ext cx="6960950" cy="274307"/>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Amit Raj · Supervisor: Kuldeep Kumar · Energy Engineering, IIT Guwahati</a:t>
            </a:r>
            <a:endParaRPr lang="en-US" sz="1400" dirty="0"/>
          </a:p>
        </p:txBody>
      </p:sp>
      <p:sp>
        <p:nvSpPr>
          <p:cNvPr id="9" name="Shape 7"/>
          <p:cNvSpPr/>
          <p:nvPr/>
        </p:nvSpPr>
        <p:spPr>
          <a:xfrm>
            <a:off x="0" y="6781800"/>
            <a:ext cx="12192000" cy="76200"/>
          </a:xfrm>
          <a:prstGeom prst="rect">
            <a:avLst/>
          </a:prstGeom>
          <a:solidFill>
            <a:srgbClr val="13233A"/>
          </a:solidFill>
          <a:ln/>
        </p:spPr>
      </p:sp>
    </p:spTree>
  </p:cSld>
  <p:clrMapOvr>
    <a:masterClrMapping/>
  </p:clrMapOvr>
</p:sld>
</file>

<file path=ppt/theme/theme1.xml><?xml version="1.0" encoding="utf-8"?>
<a:theme xmlns:a="http://schemas.openxmlformats.org/drawingml/2006/main" name="Hybrid Energy Storage Application in Microgrid — BTP Final Presentation">
  <a:themeElements>
    <a:clrScheme name="Hybrid Energy Storage Application in Microgrid — BTP Final Presentation">
      <a:dk1>
        <a:srgbClr val="13233A"/>
      </a:dk1>
      <a:lt1>
        <a:srgbClr val="FFFFFF"/>
      </a:lt1>
      <a:dk2>
        <a:srgbClr val="4E5A6B"/>
      </a:dk2>
      <a:lt2>
        <a:srgbClr val="E7E9EB"/>
      </a:lt2>
      <a:accent1>
        <a:srgbClr val="E8A33D"/>
      </a:accent1>
      <a:accent2>
        <a:srgbClr val="2E6F95"/>
      </a:accent2>
      <a:accent3>
        <a:srgbClr val="4A5568"/>
      </a:accent3>
      <a:accent4>
        <a:srgbClr val="5F6B78"/>
      </a:accent4>
      <a:accent5>
        <a:srgbClr val="D5DBE1"/>
      </a:accent5>
      <a:accent6>
        <a:srgbClr val="E4EAF0"/>
      </a:accent6>
      <a:hlink>
        <a:srgbClr val="0563C1"/>
      </a:hlink>
      <a:folHlink>
        <a:srgbClr val="954F72"/>
      </a:folHlink>
    </a:clrScheme>
    <a:fontScheme name="Hybrid Energy Storage Application in Microgrid — BTP Final Presentation">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Energy Storage Application in Microgrid — BTP Final Presentation</dc:title>
  <dc:subject/>
  <dc:creator/>
  <cp:lastModifiedBy/>
  <cp:revision>1</cp:revision>
  <dcterms:created xsi:type="dcterms:W3CDTF">2026-10-29T05:39:17Z</dcterms:created>
  <dcterms:modified xsi:type="dcterms:W3CDTF">2026-10-29T05:39:17Z</dcterms:modified>
</cp:coreProperties>
</file>