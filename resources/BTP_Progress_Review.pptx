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Bottom-up model</c:v>
                </c:pt>
              </c:strCache>
            </c:strRef>
          </c:tx>
          <c:spPr>
            <a:solidFill>
              <a:srgbClr val="1F7A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A5A6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Mean demand (kW)</c:v>
                  </c:pt>
                  <c:pt idx="1">
                    <c:v>Peak demand (kW)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2524</c:v>
                </c:pt>
                <c:pt idx="1">
                  <c:v>3411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Published (Kumar et al.)</c:v>
                </c:pt>
              </c:strCache>
            </c:strRef>
          </c:tx>
          <c:spPr>
            <a:solidFill>
              <a:srgbClr val="C86A0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A5A6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Mean demand (kW)</c:v>
                  </c:pt>
                  <c:pt idx="1">
                    <c:v>Peak demand (kW)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2515.8</c:v>
                </c:pt>
                <c:pt idx="1">
                  <c:v>3075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4A5A6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79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0"/>
          <c:min val="0"/>
        </c:scaling>
        <c:delete val="0"/>
        <c:axPos val="l"/>
        <c:majorGridlines>
          <c:spPr>
            <a:ln w="12700" cap="flat">
              <a:solidFill>
                <a:srgbClr val="DCE3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79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5A6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Step (kW)</c:v>
                </c:pt>
              </c:strCache>
            </c:strRef>
          </c:tx>
          <c:spPr>
            <a:solidFill>
              <a:srgbClr val="C86A0A"/>
            </a:solidFill>
            <a:effectLst/>
          </c:spPr>
          <c:invertIfNegative val="0"/>
          <c:dLbls>
            <c:numFmt formatCode="0&quot; kW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52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Foundry furnace</c:v>
                  </c:pt>
                  <c:pt idx="1">
                    <c:v>HV test set</c:v>
                  </c:pt>
                  <c:pt idx="2">
                    <c:v>CNC milling</c:v>
                  </c:pt>
                  <c:pt idx="3">
                    <c:v>CNC lathe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25</c:v>
                </c:pt>
                <c:pt idx="2">
                  <c:v>18</c:v>
                </c:pt>
                <c:pt idx="3">
                  <c:v>15</c:v>
                </c:pt>
              </c:numCache>
            </c:numRef>
          </c:val>
        </c:ser>
        <c:dLbls>
          <c:numFmt formatCode="0&quot; kW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C252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6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79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Surplus (MWh)</c:v>
                </c:pt>
              </c:strCache>
            </c:strRef>
          </c:tx>
          <c:spPr>
            <a:solidFill>
              <a:srgbClr val="1F7A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A5A6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74</c:v>
                </c:pt>
                <c:pt idx="1">
                  <c:v>62</c:v>
                </c:pt>
                <c:pt idx="2">
                  <c:v>108</c:v>
                </c:pt>
                <c:pt idx="3">
                  <c:v>161</c:v>
                </c:pt>
                <c:pt idx="4">
                  <c:v>178</c:v>
                </c:pt>
                <c:pt idx="5">
                  <c:v>106</c:v>
                </c:pt>
                <c:pt idx="6">
                  <c:v>132</c:v>
                </c:pt>
                <c:pt idx="7">
                  <c:v>41</c:v>
                </c:pt>
                <c:pt idx="8">
                  <c:v>102</c:v>
                </c:pt>
                <c:pt idx="9">
                  <c:v>79</c:v>
                </c:pt>
                <c:pt idx="10">
                  <c:v>95</c:v>
                </c:pt>
                <c:pt idx="11">
                  <c:v>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4A5A6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79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"/>
          <c:min val="0"/>
        </c:scaling>
        <c:delete val="0"/>
        <c:axPos val="l"/>
        <c:majorGridlines>
          <c:spPr>
            <a:ln w="12700" cap="flat">
              <a:solidFill>
                <a:srgbClr val="DCE3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79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NPC</c:v>
                </c:pt>
              </c:strCache>
            </c:strRef>
          </c:tx>
          <c:spPr>
            <a:solidFill>
              <a:srgbClr val="C86A0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52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3.5 MW / 16.8 MWh</c:v>
                  </c:pt>
                  <c:pt idx="1">
                    <c:v>4.0 MW / 15.6 MWh</c:v>
                  </c:pt>
                  <c:pt idx="2">
                    <c:v>4.0 MW / 12.0 MWh</c:v>
                  </c:pt>
                  <c:pt idx="3">
                    <c:v>3.5 MW / 18.0 MWh</c:v>
                  </c:pt>
                  <c:pt idx="4">
                    <c:v>5.0 MW / 7.2 MWh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467.6</c:v>
                </c:pt>
                <c:pt idx="1">
                  <c:v>480.8</c:v>
                </c:pt>
                <c:pt idx="2">
                  <c:v>482.4</c:v>
                </c:pt>
                <c:pt idx="3">
                  <c:v>482.9</c:v>
                </c:pt>
                <c:pt idx="4">
                  <c:v>489.9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C252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6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6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79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problem: cheapest set of PV, battery and supercapacitor sizes that still meets the load for this campus.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5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1005840"/>
            <a:ext cx="2834640" cy="2834640"/>
          </a:xfrm>
          <a:prstGeom prst="ellipse">
            <a:avLst/>
          </a:prstGeom>
          <a:solidFill>
            <a:srgbClr val="1F7A72">
              <a:alpha val="72000"/>
            </a:srgbClr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2468880"/>
            <a:ext cx="2834640" cy="2834640"/>
          </a:xfrm>
          <a:prstGeom prst="ellipse">
            <a:avLst/>
          </a:prstGeom>
          <a:solidFill>
            <a:srgbClr val="C86A0A">
              <a:alpha val="65000"/>
            </a:srgbClr>
          </a:solidFill>
          <a:ln w="12700">
            <a:solidFill>
              <a:srgbClr val="C86A0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234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C86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PROJECT — PROGRESS REVIEW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27632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Optimal Sizing of a PV–Battery–</a:t>
            </a:r>
            <a:endParaRPr lang="en-US" sz="3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Supercapacitor Hybrid Storage</a:t>
            </a:r>
            <a:endParaRPr lang="en-US" sz="3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for a Campus Microgrid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456432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F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data, a validated bottom-up load model, a verified simulator, and a first optimal design for IIT Guwahati.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4315968"/>
            <a:ext cx="2011680" cy="0"/>
          </a:xfrm>
          <a:prstGeom prst="line">
            <a:avLst/>
          </a:prstGeom>
          <a:noFill/>
          <a:ln w="25400">
            <a:solidFill>
              <a:srgbClr val="1F7A7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46634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91947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Raj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Engineering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310128" y="46634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310128" y="491947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Kuldeep Kumar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053328" y="46634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053328" y="491947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Guwahati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– 27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C86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5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Cheapest system that still keeps the lights 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890504" y="64008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352044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9525">
            <a:solidFill>
              <a:srgbClr val="DCE3E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A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773936"/>
            <a:ext cx="182880" cy="182880"/>
          </a:xfrm>
          <a:prstGeom prst="ellipse">
            <a:avLst/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3856" y="17190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5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variables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1488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capacity (kW), battery strings, supercapacitor strings.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06824" y="1554480"/>
            <a:ext cx="352044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9525">
            <a:solidFill>
              <a:srgbClr val="DCE3E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AE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81144" y="1773936"/>
            <a:ext cx="182880" cy="182880"/>
          </a:xfrm>
          <a:prstGeom prst="ellipse">
            <a:avLst/>
          </a:prstGeom>
          <a:solidFill>
            <a:srgbClr val="C86A0A"/>
          </a:solidFill>
          <a:ln w="12700">
            <a:solidFill>
              <a:srgbClr val="C86A0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73752" y="17190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5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21488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Net Present Cost over the project life: capital, replacements and O&amp;M, discounted.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1554480"/>
            <a:ext cx="352044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9525">
            <a:solidFill>
              <a:srgbClr val="DCE3E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AE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21040" y="1773936"/>
            <a:ext cx="182880" cy="182880"/>
          </a:xfrm>
          <a:prstGeom prst="ellipse">
            <a:avLst/>
          </a:prstGeom>
          <a:solidFill>
            <a:srgbClr val="1C2529"/>
          </a:solidFill>
          <a:ln w="12700">
            <a:solidFill>
              <a:srgbClr val="1C252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13648" y="17190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5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8339328" y="21488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LPSP ≤ 1 % — at most 1 % of demanded energy may go unserved. Without it, the cheapest system is no system.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3730752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5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optimisation stages, each checked against the one before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66928" y="4206240"/>
            <a:ext cx="3520440" cy="1691640"/>
          </a:xfrm>
          <a:prstGeom prst="roundRect">
            <a:avLst>
              <a:gd name="adj" fmla="val 3784"/>
            </a:avLst>
          </a:prstGeom>
          <a:solidFill>
            <a:srgbClr val="EEF2F3"/>
          </a:solidFill>
          <a:ln w="9525">
            <a:solidFill>
              <a:srgbClr val="DCE3E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AE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248" y="4407408"/>
            <a:ext cx="384048" cy="384048"/>
          </a:xfrm>
          <a:prstGeom prst="ellipse">
            <a:avLst/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335024" y="44439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081528" y="44622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859536" y="48920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sweep. Slow but honest — the benchmark.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105656" y="5047488"/>
            <a:ext cx="182880" cy="0"/>
          </a:xfrm>
          <a:prstGeom prst="line">
            <a:avLst/>
          </a:prstGeom>
          <a:noFill/>
          <a:ln w="17780">
            <a:solidFill>
              <a:srgbClr val="8A979D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306824" y="4206240"/>
            <a:ext cx="3520440" cy="1691640"/>
          </a:xfrm>
          <a:prstGeom prst="roundRect">
            <a:avLst>
              <a:gd name="adj" fmla="val 3784"/>
            </a:avLst>
          </a:prstGeom>
          <a:solidFill>
            <a:srgbClr val="EEF2F3"/>
          </a:solidFill>
          <a:ln w="9525">
            <a:solidFill>
              <a:srgbClr val="DCE3E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AE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81144" y="4407408"/>
            <a:ext cx="384048" cy="384048"/>
          </a:xfrm>
          <a:prstGeom prst="ellipse">
            <a:avLst/>
          </a:prstGeom>
          <a:solidFill>
            <a:srgbClr val="C86A0A"/>
          </a:solidFill>
          <a:ln w="12700">
            <a:solidFill>
              <a:srgbClr val="C86A0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81144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074920" y="44439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Swarm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821424" y="44622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599432" y="48920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answer with far fewer simulator calls.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845552" y="5047488"/>
            <a:ext cx="182880" cy="0"/>
          </a:xfrm>
          <a:prstGeom prst="line">
            <a:avLst/>
          </a:prstGeom>
          <a:noFill/>
          <a:ln w="17780">
            <a:solidFill>
              <a:srgbClr val="8A979D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046720" y="4206240"/>
            <a:ext cx="3520440" cy="1691640"/>
          </a:xfrm>
          <a:prstGeom prst="roundRect">
            <a:avLst>
              <a:gd name="adj" fmla="val 3784"/>
            </a:avLst>
          </a:prstGeom>
          <a:solidFill>
            <a:srgbClr val="EEF2F3"/>
          </a:solidFill>
          <a:ln w="9525">
            <a:solidFill>
              <a:srgbClr val="DCE3E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AE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21040" y="4407408"/>
            <a:ext cx="384048" cy="384048"/>
          </a:xfrm>
          <a:prstGeom prst="ellipse">
            <a:avLst/>
          </a:prstGeom>
          <a:solidFill>
            <a:srgbClr val="1C2529"/>
          </a:solidFill>
          <a:ln w="12700">
            <a:solidFill>
              <a:srgbClr val="1C252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32104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814816" y="44439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surrogate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0561320" y="44622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8339328" y="48920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cost and reliability; becomes necessary at sub-hourly resolution.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C86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5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 and data sources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890504" y="64008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548640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9525">
            <a:solidFill>
              <a:srgbClr val="DCE3E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AE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86968" y="175564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 resource — NASA POWER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2157984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irradiance and temperature for 26.19° N, 91.69° E. Satellite-derived on a 0.5° grid — about a 50 km cell, so regional rather than rooftop-specific.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3154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1,639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86968" y="3703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kWh/m² per year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401568" y="3154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964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401568" y="3703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W/m² peak GHI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86968" y="4480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4,149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886968" y="50292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daylight hours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401568" y="4480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23.4 °C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3401568" y="50292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temperature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72784" y="1554480"/>
            <a:ext cx="5349240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9525">
            <a:solidFill>
              <a:srgbClr val="DCE3E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AE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565392" y="175564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reference — Kumar et al., IEEE Access 2018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65392" y="2157984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HOMER microgrid study of this exact campus, co-authored by IIT Guwahati faculty. Reports the campus statistics our model is validated against: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65392" y="3063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86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3,075 kW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6565392" y="35295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193024" y="3063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86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2,515.8 kW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8193024" y="35295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820656" y="3063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86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9820656" y="35295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factor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72784" y="4526280"/>
            <a:ext cx="5349240" cy="1463040"/>
          </a:xfrm>
          <a:prstGeom prst="roundRect">
            <a:avLst>
              <a:gd name="adj" fmla="val 4375"/>
            </a:avLst>
          </a:prstGeom>
          <a:solidFill>
            <a:srgbClr val="EEF2F3"/>
          </a:solidFill>
          <a:ln w="9525">
            <a:solidFill>
              <a:srgbClr val="DCE3E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AE">
                <a:alpha val="2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565392" y="46817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Considered and rejected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565392" y="5001768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ELMAS, Fluvius/MODERATE and NREL ResStock load sets. Pairing foreign demand with Guwahati solar creates a seasonal correlation that exists nowhere.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C86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MODEL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5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department by department — and validated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890504" y="64008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507492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9525">
            <a:solidFill>
              <a:srgbClr val="DCE3E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AE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869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departments and facilities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2139696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with a floor-area load, a continuous base load, and an explicit equipment list — plus Guwahati seasonality and the academic calendar.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05256" y="3099816"/>
            <a:ext cx="118872" cy="118872"/>
          </a:xfrm>
          <a:prstGeom prst="ellipse">
            <a:avLst/>
          </a:prstGeom>
          <a:solidFill>
            <a:srgbClr val="C86A0A"/>
          </a:solidFill>
          <a:ln w="12700">
            <a:solidFill>
              <a:srgbClr val="C86A0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33856" y="299923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+ Central Workshop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264408" y="299923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CNC, EDM, welding, foundry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05256" y="3575304"/>
            <a:ext cx="118872" cy="118872"/>
          </a:xfrm>
          <a:prstGeom prst="ellipse">
            <a:avLst/>
          </a:prstGeom>
          <a:solidFill>
            <a:srgbClr val="C86A0A"/>
          </a:solidFill>
          <a:ln w="12700">
            <a:solidFill>
              <a:srgbClr val="C86A0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33856" y="34747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264408" y="347472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M-G sets, PE benches, HV test set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5256" y="4050792"/>
            <a:ext cx="118872" cy="118872"/>
          </a:xfrm>
          <a:prstGeom prst="ellipse">
            <a:avLst/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33856" y="39502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/ Chem Engg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264408" y="395020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fume hoods, furnaces, pilot plant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5256" y="4526280"/>
            <a:ext cx="118872" cy="118872"/>
          </a:xfrm>
          <a:prstGeom prst="ellipse">
            <a:avLst/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33856" y="442569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/ Biosciences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264408" y="442569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cryostats, cold rooms, autoclaves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5256" y="5001768"/>
            <a:ext cx="118872" cy="118872"/>
          </a:xfrm>
          <a:prstGeom prst="ellipse">
            <a:avLst/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33856" y="490118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/ Central Instruments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264408" y="49011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 cluster, NMR, SEM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5256" y="5477256"/>
            <a:ext cx="118872" cy="118872"/>
          </a:xfrm>
          <a:prstGeom prst="ellipse">
            <a:avLst/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33856" y="537667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Hostels and services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3264408" y="537667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pumping, mess, street lighting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861304" y="1554480"/>
            <a:ext cx="5760720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9525">
            <a:solidFill>
              <a:srgbClr val="DCE3E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AE">
                <a:alpha val="2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144768" y="171907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model vs published campus figures</a:t>
            </a:r>
            <a:endParaRPr lang="en-US" sz="125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007608" y="2011680"/>
          <a:ext cx="548640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Shape 26"/>
          <p:cNvSpPr/>
          <p:nvPr/>
        </p:nvSpPr>
        <p:spPr>
          <a:xfrm>
            <a:off x="5861304" y="4800600"/>
            <a:ext cx="5760720" cy="1188720"/>
          </a:xfrm>
          <a:prstGeom prst="roundRect">
            <a:avLst>
              <a:gd name="adj" fmla="val 5385"/>
            </a:avLst>
          </a:prstGeom>
          <a:solidFill>
            <a:srgbClr val="1C2529"/>
          </a:solidFill>
          <a:ln w="9525">
            <a:solidFill>
              <a:srgbClr val="DCE3E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AE">
                <a:alpha val="25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144768" y="49377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0.3 %</a:t>
            </a:r>
            <a:endParaRPr lang="en-US" sz="3400" dirty="0"/>
          </a:p>
        </p:txBody>
      </p:sp>
      <p:sp>
        <p:nvSpPr>
          <p:cNvPr id="31" name="Text 28"/>
          <p:cNvSpPr txBox="1"/>
          <p:nvPr/>
        </p:nvSpPr>
        <p:spPr>
          <a:xfrm>
            <a:off x="7744968" y="4919472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F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on mean demand — never fitted to it. Peak runs 11 % high and load factor 0.74 vs 0.82, so the model is slightly peakier than the real campus.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C86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AND THE TRANSIENT PROBLEM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5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size, and why an hourly model can’t see a supercapacitor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890504" y="64008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3657600" cy="4434840"/>
          </a:xfrm>
          <a:prstGeom prst="roundRect">
            <a:avLst>
              <a:gd name="adj" fmla="val 1750"/>
            </a:avLst>
          </a:prstGeom>
          <a:solidFill>
            <a:srgbClr val="EEF2F3"/>
          </a:solidFill>
          <a:ln w="9525">
            <a:solidFill>
              <a:srgbClr val="DCE3E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AE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59536" y="175564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modelled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139696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+ Central Workshop and EEE, at true machine ratings. Scaling the whole campus down would shrink a 35 kW furnace to 2 kW.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31546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644 kW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373989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demand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59536" y="40690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3.27 GWh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465429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demand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59536" y="49834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0.579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" y="556869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factor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43984" y="1554480"/>
            <a:ext cx="717804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9525">
            <a:solidFill>
              <a:srgbClr val="DCE3E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AE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736592" y="1737360"/>
            <a:ext cx="6629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supercapacitor discharges in seconds. At hourly resolution it has no visible effect, so an optimiser sizes it to zero. The transient is therefore carried as a separate design parameter, from the worst credible coincident switching:</a:t>
            </a:r>
            <a:endParaRPr lang="en-US" sz="1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636008" y="2697480"/>
          <a:ext cx="41148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8979408" y="2743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5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 kW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8979408" y="3246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5 seconds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979408" y="37673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6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465 kJ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8979408" y="4270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to absorb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979408" y="479145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5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strings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8979408" y="52943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modules each, 380 V bus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C86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5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rupee traces to one source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890504" y="64008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298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Kumar et al., Table 2 and Section IV-C — which rest on the CERC benchmark tariff order for FY 2016-17.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6675120" cy="603504"/>
          </a:xfrm>
          <a:prstGeom prst="roundRect">
            <a:avLst>
              <a:gd name="adj" fmla="val 7576"/>
            </a:avLst>
          </a:prstGeom>
          <a:solidFill>
            <a:srgbClr val="EEF2F3"/>
          </a:solidFill>
          <a:ln w="9525">
            <a:solidFill>
              <a:srgbClr val="DCE3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" y="1783080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PV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029968" y="1783080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₹50,502 / kW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675888" y="178308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 per CERC: modules, civil works, mounting, inverter, evacuation. ₹700/kW/yr O&amp;M.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2496312"/>
            <a:ext cx="667512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DCE3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2496312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029968" y="2496312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₹7,333 / kWh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75888" y="2496312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12VRE-3000TF-L lead-acid, ₹22,000 per 3 kWh unit. 85 % round trip, SoC 20–100 %.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3209544"/>
            <a:ext cx="6675120" cy="603504"/>
          </a:xfrm>
          <a:prstGeom prst="roundRect">
            <a:avLst>
              <a:gd name="adj" fmla="val 7576"/>
            </a:avLst>
          </a:prstGeom>
          <a:solidFill>
            <a:srgbClr val="EEF2F3"/>
          </a:solidFill>
          <a:ln w="9525">
            <a:solidFill>
              <a:srgbClr val="DCE3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5528" y="3209544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029968" y="3209544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₹10,000 / kW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675888" y="3209544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Bidirectional, zero O&amp;M.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3922776"/>
            <a:ext cx="667512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DCE3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" y="3922776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2029968" y="3922776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years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675888" y="3922776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O&amp;M ₹500,000/yr. Grid tariff ₹5.96/kWh.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516368" y="1783080"/>
            <a:ext cx="4105656" cy="2743200"/>
          </a:xfrm>
          <a:prstGeom prst="roundRect">
            <a:avLst>
              <a:gd name="adj" fmla="val 2333"/>
            </a:avLst>
          </a:prstGeom>
          <a:solidFill>
            <a:srgbClr val="1C2529"/>
          </a:solidFill>
          <a:ln w="9525">
            <a:solidFill>
              <a:srgbClr val="DCE3E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AE">
                <a:alpha val="2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790688" y="19659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86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APPLIED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790688" y="22402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4.72 %</a:t>
            </a:r>
            <a:endParaRPr lang="en-US" sz="3800" dirty="0"/>
          </a:p>
        </p:txBody>
      </p:sp>
      <p:sp>
        <p:nvSpPr>
          <p:cNvPr id="25" name="Text 23"/>
          <p:cNvSpPr txBox="1"/>
          <p:nvPr/>
        </p:nvSpPr>
        <p:spPr>
          <a:xfrm>
            <a:off x="7790688" y="2971800"/>
            <a:ext cx="3611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AF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discount rate = (1.1070 / 1.0571) − 1. The paper’s 10.70 % is nominal; using it on constant-rupee cash flows makes a year-10 battery replacement look ~40 % cheaper, biasing the design toward undersized storage.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4754880"/>
            <a:ext cx="11055096" cy="1143000"/>
          </a:xfrm>
          <a:prstGeom prst="roundRect">
            <a:avLst>
              <a:gd name="adj" fmla="val 5600"/>
            </a:avLst>
          </a:prstGeom>
          <a:solidFill>
            <a:srgbClr val="EEF2F3"/>
          </a:solidFill>
          <a:ln w="9525">
            <a:solidFill>
              <a:srgbClr val="DCE3E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AE">
                <a:alpha val="2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86968" y="4754880"/>
            <a:ext cx="104150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the paper — placeholders until sourced:  </a:t>
            </a:r>
            <a:pPr indent="0" marL="0">
              <a:buNone/>
            </a:pPr>
            <a:r>
              <a:rPr lang="en-US" sz="125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supercapacitor module price, battery lifetime throughput, PV derating and temperature coefficient.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C86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5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function, verified before trusted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890504" y="64008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534924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9525">
            <a:solidFill>
              <a:srgbClr val="DCE3E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AE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86968" y="178308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simulate(pv_kw, batt_strings, sc_strings)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213055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NPC,  LPSP,  score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86968" y="2651760"/>
            <a:ext cx="329184" cy="329184"/>
          </a:xfrm>
          <a:prstGeom prst="ellipse">
            <a:avLst/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86968" y="2651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615184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output from the paper’s eq. (3), NOCT cell temperature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86968" y="3200400"/>
            <a:ext cx="329184" cy="329184"/>
          </a:xfrm>
          <a:prstGeom prst="ellipse">
            <a:avLst/>
          </a:prstGeom>
          <a:solidFill>
            <a:srgbClr val="C86A0A"/>
          </a:solidFill>
          <a:ln w="12700">
            <a:solidFill>
              <a:srgbClr val="C86A0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6968" y="3200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163824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8,760-hour dispatch tracking battery state of charge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86968" y="3749040"/>
            <a:ext cx="329184" cy="329184"/>
          </a:xfrm>
          <a:prstGeom prst="ellipse">
            <a:avLst/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86968" y="3749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712464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Unmet energy → LPSP; surplus beyond capacity → curtailment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86968" y="4297680"/>
            <a:ext cx="329184" cy="329184"/>
          </a:xfrm>
          <a:prstGeom prst="ellipse">
            <a:avLst/>
          </a:prstGeom>
          <a:solidFill>
            <a:srgbClr val="C86A0A"/>
          </a:solidFill>
          <a:ln w="12700">
            <a:solidFill>
              <a:srgbClr val="C86A0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86968" y="4297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261104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→ battery life → replacements → NPC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86968" y="4846320"/>
            <a:ext cx="329184" cy="329184"/>
          </a:xfrm>
          <a:prstGeom prst="ellipse">
            <a:avLst/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86968" y="4846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809744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folded into one penalised score for the optimiser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86968" y="5440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6.7 ms per evaluation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35624" y="1554480"/>
            <a:ext cx="5486400" cy="4434840"/>
          </a:xfrm>
          <a:prstGeom prst="roundRect">
            <a:avLst>
              <a:gd name="adj" fmla="val 1443"/>
            </a:avLst>
          </a:prstGeom>
          <a:solidFill>
            <a:srgbClr val="EEF2F3"/>
          </a:solidFill>
          <a:ln w="9525">
            <a:solidFill>
              <a:srgbClr val="DCE3E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AE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419088" y="173736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simulator returns plausible numbers, not errors. Seven checks run on every execution: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19088" y="2505456"/>
            <a:ext cx="566928" cy="256032"/>
          </a:xfrm>
          <a:prstGeom prst="roundRect">
            <a:avLst>
              <a:gd name="adj" fmla="val 17857"/>
            </a:avLst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19088" y="250545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7132320" y="24505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PV, no battery  →  LPSP = 1.000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19088" y="2962656"/>
            <a:ext cx="566928" cy="256032"/>
          </a:xfrm>
          <a:prstGeom prst="roundRect">
            <a:avLst>
              <a:gd name="adj" fmla="val 17857"/>
            </a:avLst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19088" y="296265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0" y="29077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system  →  LPSP = 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19088" y="3419856"/>
            <a:ext cx="566928" cy="256032"/>
          </a:xfrm>
          <a:prstGeom prst="roundRect">
            <a:avLst>
              <a:gd name="adj" fmla="val 17857"/>
            </a:avLst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19088" y="341985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7132320" y="33649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 PV lowers LPSP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19088" y="3877056"/>
            <a:ext cx="566928" cy="256032"/>
          </a:xfrm>
          <a:prstGeom prst="roundRect">
            <a:avLst>
              <a:gd name="adj" fmla="val 17857"/>
            </a:avLst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19088" y="387705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7132320" y="38221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 PV raises NPC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19088" y="4334256"/>
            <a:ext cx="566928" cy="256032"/>
          </a:xfrm>
          <a:prstGeom prst="roundRect">
            <a:avLst>
              <a:gd name="adj" fmla="val 17857"/>
            </a:avLst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19088" y="433425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7132320" y="42793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never leaves its limits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19088" y="4791456"/>
            <a:ext cx="566928" cy="256032"/>
          </a:xfrm>
          <a:prstGeom prst="roundRect">
            <a:avLst>
              <a:gd name="adj" fmla="val 17857"/>
            </a:avLst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19088" y="479145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7132320" y="47365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energy balance closes to 0.00 %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19088" y="5248656"/>
            <a:ext cx="566928" cy="256032"/>
          </a:xfrm>
          <a:prstGeom prst="roundRect">
            <a:avLst>
              <a:gd name="adj" fmla="val 17857"/>
            </a:avLst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19088" y="524865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7132320" y="51937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Undersized SC bank is penalised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C86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RESULT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5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Cheapest design meeting LPSP ≤ 1 %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890504" y="64008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2984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sweep of 300 designs — 150 feasible.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35204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3E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AE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41248" y="190195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3,500 kW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5054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06824" y="1737360"/>
            <a:ext cx="35204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3E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AE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81144" y="190195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16,800 kWh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4581144" y="25054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· 280 strings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5204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3E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AE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21040" y="190195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strings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5054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supercapacitor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200400"/>
            <a:ext cx="35204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3E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AE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41248" y="336499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5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0.90 %</a:t>
            </a:r>
            <a:endParaRPr lang="en-US" sz="27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396849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LPSP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06824" y="3200400"/>
            <a:ext cx="35204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3E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AE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581144" y="336499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86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₹467.6 M</a:t>
            </a:r>
            <a:endParaRPr lang="en-US" sz="2700" dirty="0"/>
          </a:p>
        </p:txBody>
      </p:sp>
      <p:sp>
        <p:nvSpPr>
          <p:cNvPr id="20" name="Text 18"/>
          <p:cNvSpPr txBox="1"/>
          <p:nvPr/>
        </p:nvSpPr>
        <p:spPr>
          <a:xfrm>
            <a:off x="4581144" y="396849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present cost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3200400"/>
            <a:ext cx="35204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3E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AE">
                <a:alpha val="2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321040" y="336499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86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₹9.63 / kWh</a:t>
            </a:r>
            <a:endParaRPr lang="en-US" sz="27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396849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LCOE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800600"/>
            <a:ext cx="7132320" cy="1143000"/>
          </a:xfrm>
          <a:prstGeom prst="roundRect">
            <a:avLst>
              <a:gd name="adj" fmla="val 5600"/>
            </a:avLst>
          </a:prstGeom>
          <a:solidFill>
            <a:srgbClr val="EEF2F3"/>
          </a:solidFill>
          <a:ln w="9525">
            <a:solidFill>
              <a:srgbClr val="DCE3E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AE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41248" y="4800600"/>
            <a:ext cx="6629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reports ₹11.96–18.47/kWh off-grid for the whole campus. Ours is lower and explicably so — two departments, no diesel, no biogas, no 10 % load growth.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918704" y="4800600"/>
            <a:ext cx="3703320" cy="1143000"/>
          </a:xfrm>
          <a:prstGeom prst="roundRect">
            <a:avLst>
              <a:gd name="adj" fmla="val 5600"/>
            </a:avLst>
          </a:prstGeom>
          <a:solidFill>
            <a:srgbClr val="EEF2F3"/>
          </a:solidFill>
          <a:ln w="9525">
            <a:solidFill>
              <a:srgbClr val="DCE3E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AE">
                <a:alpha val="2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193024" y="480060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check: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 is interior on both axes — not a grid artefact.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C86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FINDING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5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battery is sized by four cloudy days, not by season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890504" y="64008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667512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9525">
            <a:solidFill>
              <a:srgbClr val="DCE3E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AE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41248" y="171907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energy surplus at the optimum (MWh) — every month positive</a:t>
            </a:r>
            <a:endParaRPr lang="en-US" sz="12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04088" y="2057400"/>
          <a:ext cx="640080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461504" y="1554480"/>
            <a:ext cx="4160520" cy="4434840"/>
          </a:xfrm>
          <a:prstGeom prst="roundRect">
            <a:avLst>
              <a:gd name="adj" fmla="val 1538"/>
            </a:avLst>
          </a:prstGeom>
          <a:solidFill>
            <a:srgbClr val="1C2529"/>
          </a:solidFill>
          <a:ln w="9525">
            <a:solidFill>
              <a:srgbClr val="DCE3E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AE">
                <a:alpha val="2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744968" y="17556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86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DEFICIT RUN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744968" y="20116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days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7744968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21 August · 16,384 kWh short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744968" y="3154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86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CHOSEN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744968" y="341071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13,440 kWh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7744968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· 1.5 days of autonomy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744968" y="452628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optimiser covered 82 % of the worst event on its own. Covering the last 18 % costs more than the reliability it buys.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C86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5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 and storage substitute almost freely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890504" y="64008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694944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9525">
            <a:solidFill>
              <a:srgbClr val="DCE3E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AE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41248" y="17190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present cost of the five cheapest feasible designs (₹ million)</a:t>
            </a:r>
            <a:endParaRPr lang="en-US" sz="12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04088" y="2057400"/>
          <a:ext cx="667512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735824" y="1554480"/>
            <a:ext cx="3886200" cy="2103120"/>
          </a:xfrm>
          <a:prstGeom prst="roundRect">
            <a:avLst>
              <a:gd name="adj" fmla="val 3043"/>
            </a:avLst>
          </a:prstGeom>
          <a:solidFill>
            <a:srgbClr val="EEF2F3"/>
          </a:solidFill>
          <a:ln w="9525">
            <a:solidFill>
              <a:srgbClr val="DCE3E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AE">
                <a:alpha val="2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010144" y="17373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6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4.8 %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8010144" y="242316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spread across designs spanning 3.5–5.0 MW of PV and 7.2–18.0 MWh of battery.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35824" y="3840480"/>
            <a:ext cx="38862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9525">
            <a:solidFill>
              <a:srgbClr val="DCE3E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AE">
                <a:alpha val="2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010144" y="4005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follows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010144" y="434340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flat basin, not a sharp optimum — prices will move the answer, so sensitivity is a headline result.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suited to PSO and a Pareto-front view.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C86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POSITION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5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Limitations, and the next phase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890504" y="64008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534924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9525">
            <a:solidFill>
              <a:srgbClr val="DCE3E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AE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869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5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05256" y="2313432"/>
            <a:ext cx="164592" cy="164592"/>
          </a:xfrm>
          <a:prstGeom prst="ellipse">
            <a:avLst/>
          </a:prstGeom>
          <a:solidFill>
            <a:srgbClr val="C86A0A"/>
          </a:solidFill>
          <a:ln w="12700">
            <a:solidFill>
              <a:srgbClr val="C86A0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07008" y="22402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551176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price, battery throughput, PV derating. Battery throughput drives replacements — the most consequential.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05256" y="3529584"/>
            <a:ext cx="164592" cy="164592"/>
          </a:xfrm>
          <a:prstGeom prst="ellipse">
            <a:avLst/>
          </a:prstGeom>
          <a:solidFill>
            <a:srgbClr val="C86A0A"/>
          </a:solidFill>
          <a:ln w="12700">
            <a:solidFill>
              <a:srgbClr val="C86A0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07008" y="34564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ratings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3767328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are real; their kW figures are engineering estimates, not nameplate.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" y="4745736"/>
            <a:ext cx="164592" cy="164592"/>
          </a:xfrm>
          <a:prstGeom prst="ellipse">
            <a:avLst/>
          </a:prstGeom>
          <a:solidFill>
            <a:srgbClr val="C86A0A"/>
          </a:solidFill>
          <a:ln w="12700">
            <a:solidFill>
              <a:srgbClr val="C86A0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07008" y="467258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resolution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498348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power split is modelled — the supercapacitor is a cost and a constraint, not a simulated device.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35624" y="1554480"/>
            <a:ext cx="5486400" cy="4434840"/>
          </a:xfrm>
          <a:prstGeom prst="roundRect">
            <a:avLst>
              <a:gd name="adj" fmla="val 1443"/>
            </a:avLst>
          </a:prstGeom>
          <a:solidFill>
            <a:srgbClr val="1C2529"/>
          </a:solidFill>
          <a:ln w="9525">
            <a:solidFill>
              <a:srgbClr val="DCE3E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AE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19088" y="175564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86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ONE-MINUTE RESOLUTION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19088" y="2194560"/>
            <a:ext cx="329184" cy="329184"/>
          </a:xfrm>
          <a:prstGeom prst="ellipse">
            <a:avLst/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19088" y="2194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922008" y="214884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Supercapacitor becomes a simulated device against real transients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19088" y="2816352"/>
            <a:ext cx="329184" cy="329184"/>
          </a:xfrm>
          <a:prstGeom prst="ellipse">
            <a:avLst/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19088" y="2816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922008" y="277063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Low-pass filter cut-off becomes a decision variable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19088" y="3438144"/>
            <a:ext cx="329184" cy="329184"/>
          </a:xfrm>
          <a:prstGeom prst="ellipse">
            <a:avLst/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19088" y="3438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922008" y="3392424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current stress becomes observable — rainflow on real cycles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19088" y="4059936"/>
            <a:ext cx="329184" cy="329184"/>
          </a:xfrm>
          <a:prstGeom prst="ellipse">
            <a:avLst/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19088" y="4059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922008" y="401421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vs co-optimised split becomes a measurement, not a claim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419088" y="48006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AF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cost rises from 6.7 ms to ~0.4 s — the point where the surrogate becomes necessary. The hourly model stays: it sizes energy, sub-hourly sizes power.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5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C86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REQUESTS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430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unblock the next phase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240280"/>
            <a:ext cx="3520440" cy="2926080"/>
          </a:xfrm>
          <a:prstGeom prst="roundRect">
            <a:avLst>
              <a:gd name="adj" fmla="val 2188"/>
            </a:avLst>
          </a:prstGeom>
          <a:solidFill>
            <a:srgbClr val="2A353B"/>
          </a:solidFill>
          <a:ln w="9525">
            <a:solidFill>
              <a:srgbClr val="3A46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2487168"/>
            <a:ext cx="420624" cy="420624"/>
          </a:xfrm>
          <a:prstGeom prst="ellipse">
            <a:avLst/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309067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Battery cycle-life data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352044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12VRE-3000TF-L cycles at two depths of discharge — or approval to switch the study to lithium-ion.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06824" y="2240280"/>
            <a:ext cx="3520440" cy="2926080"/>
          </a:xfrm>
          <a:prstGeom prst="roundRect">
            <a:avLst>
              <a:gd name="adj" fmla="val 2188"/>
            </a:avLst>
          </a:prstGeom>
          <a:solidFill>
            <a:srgbClr val="2A353B"/>
          </a:solidFill>
          <a:ln w="9525">
            <a:solidFill>
              <a:srgbClr val="3A46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9432" y="2487168"/>
            <a:ext cx="420624" cy="420624"/>
          </a:xfrm>
          <a:prstGeom prst="ellipse">
            <a:avLst/>
          </a:prstGeom>
          <a:solidFill>
            <a:srgbClr val="C86A0A"/>
          </a:solidFill>
          <a:ln w="12700">
            <a:solidFill>
              <a:srgbClr val="C86A0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9432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309067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 Workshop access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352044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record nameplate ratings for the CNC machines, welding sets and foundry furnace.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2240280"/>
            <a:ext cx="3520440" cy="2926080"/>
          </a:xfrm>
          <a:prstGeom prst="roundRect">
            <a:avLst>
              <a:gd name="adj" fmla="val 2188"/>
            </a:avLst>
          </a:prstGeom>
          <a:solidFill>
            <a:srgbClr val="2A353B"/>
          </a:solidFill>
          <a:ln w="9525">
            <a:solidFill>
              <a:srgbClr val="3A46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9328" y="2487168"/>
            <a:ext cx="420624" cy="420624"/>
          </a:xfrm>
          <a:prstGeom prst="ellipse">
            <a:avLst/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39328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39328" y="309067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Agreement on direction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39328" y="352044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on the one-minute resolution phase before a week is committed to it.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576072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A. Kumar et al., “Multiyear Load Growth Based Techno-Financial Evaluation of a Microgrid for an Academic Institution,” IEEE Access, vol. 6, pp. 37533–37555, 2018.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BTP progress — optimal sizing of a PV-battery-supercapacitor HESS</dc:title>
  <dc:subject>PptxGenJS Presentation</dc:subject>
  <dc:creator>PptxGenJS</dc:creator>
  <cp:lastModifiedBy>PptxGenJS</cp:lastModifiedBy>
  <cp:revision>1</cp:revision>
  <dcterms:created xsi:type="dcterms:W3CDTF">2026-10-05T04:38:39Z</dcterms:created>
  <dcterms:modified xsi:type="dcterms:W3CDTF">2026-10-05T04:38:39Z</dcterms:modified>
</cp:coreProperties>
</file>