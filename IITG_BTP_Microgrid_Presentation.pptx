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6"/>
    <p:sldId id="282" r:id="rId5"/>
    <p:sldId id="283" r:id="rId4"/>
    <p:sldId id="284" r:id="rId3"/>
    <p:sldId id="285" r:id="rId2"/>
    <p:sldId id="286" r:id="rId37"/>
    <p:sldId id="287" r:id="rId38"/>
    <p:sldId id="288" r:id="rId39"/>
    <p:sldId id="289" r:id="rId40"/>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0.xml"/><Relationship Id="rId3" Type="http://schemas.openxmlformats.org/officeDocument/2006/relationships/slide" Target="slides/slide29.xml"/><Relationship Id="rId4" Type="http://schemas.openxmlformats.org/officeDocument/2006/relationships/slide" Target="slides/slide28.xml"/><Relationship Id="rId5" Type="http://schemas.openxmlformats.org/officeDocument/2006/relationships/slide" Target="slides/slide27.xml"/><Relationship Id="rId6" Type="http://schemas.openxmlformats.org/officeDocument/2006/relationships/slide" Target="slides/slide2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your supervisor and the project in one sentence: we size a solar plus battery system for two IIT Guwahati departments at the lowest 15-year cost while keeping unmet demand at or below 1 %, and then test how robust that answer is to weather, demand growth, grid access, a supercapacitor and uncertain inputs. Fill in the roll number and date before presenting, and place the IITG logo in the grey slot.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structure. Part I sets up the problem, Part II positions it in the literature, Part III explains the model and optimiser, Part IV gives the optimal design and stress-tests it, and Part V covers the scenario studies and conclusions. The flow strip at the bottom is the logic of the whole project: data feed a verified simulator, an optimiser searches it, and the optimum is then tested against weather, uncertainty and alternative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microgrid is a local group of generators, storage and loads that can be controlled as one unit and can either connect to the main grid or run islanded (Lasseter 2002; Hatziargyriou et al. 2007). Point out the common bus and the controller. Then the coupling choice: in an AC-coupled system each source has its own converter onto an AC bus; in a DC microgrid PV and batteries share a DC bus, which saves conversion stages (Dragičević et al. 2016). Be explicit that this project models an AC-coupled system, the same topology as the reference study: the PV inverter is inside the CERC all-in PV cost and the battery connects through a bidirectional converter. The off-grid case means islanded operation with no utility connection.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supplies two departments: Mechanical Engineering with the Central Workshop, and Electronics and Electrical Engineering. Annual demand is 3,267 MWh with a 644 kW peak; the load factor (mean over peak) is 0.58. Mechanical plus Workshop is slightly larger. The load is not metered: it is built bottom-up from equipment inventories (rated kW, duty, operating hours), the weekday calendar and two vacation periods, then checked against the campus statistics in Kumar et al. Stress that this is the project's largest assumption and that demand turns out to be the strongest cost driver.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NASA POWER hourly data for the campus point give 1,639 kWh/m² in 2023. Left: monthly sunshine; pre-monsoon months are sunniest and the monsoon brings dull spells. Right: the worst week. Every month has more PV energy than demand, so the shortfall is not seasonal: it comes from runs of consecutive dull days. In this week three deficit days add up to about 13.7 MWh short, which is what sizes the battery. Demand peaks in working hours while PV peaks at noon, and the evening and night load must come from storage.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tension: PV energy is cheap but intermittent; storage removes unmet demand but is expensive and wears out. The Pareto curve on the right, from the 2,700-design sweep, shows the price of reliability: each step towards zero unmet demand costs more. We fix the reliability target at LPSP ≤ 1 % of annual demand and minimise the 15-year net present cost, which includes replacements and salvage, not just capital. Decision variables are PV size, battery strings, converter rating, and supercapacitor strings.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qualitative timeline of the work this project builds on, not a publication count. Borowy and Salameh (1996) sized PV and battery for a target loss-of-power-supply probability at minimum cost. Kennedy and Eberhart (1995) introduced particle swarm optimisation. Lasseter (2002) framed the microgrid concept. HOMER (Lambert et al. 2006) made hourly techno-economic simulation standard. Yang et al. (2008) combined LPSP with a genetic algorithm; Dufo-López and Bernal-Agustín (2008) went multi-objective. Dragičević et al. (2016) reviewed DC microgrids. Xu et al. (2018) modelled battery degradation from counted stress cycles. Kumar et al. (2018) applied HOMER to the IITG campus.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Kumar et al. used HOMER Pro with its multi-year module for the whole IITG campus (peak 3,075 kW, about 60,379 kWh a day), with 10 % yearly load growth over 15 years, comparing 12 off-grid and grid-connected scenarios with PV, food-waste biogas, diesel and lead-acid batteries. Their best off-grid case (scenario 8, load following) had NPC ₹5,835 M and LCOE ₹11.96/kWh; grid-connected LCOE was ₹0.18–1.39/kWh. We take their costs, economics and battery choice; we change the scope (two departments), the tool (our own verified Python model), the battery ageing model, the optimiser and the robustness tests.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across the rows. Each study covers part of the problem. Borowy and Salameh introduced LPSP-constrained least-cost sizing; Yang et al. solved it with a genetic algorithm; Dufo-López and Bernal-Agustín added emissions and unmet load as objectives; Xu et al. showed how to estimate battery life from counted stress cycles; Kumar et al. gave the site, costs and benchmark for IITG. This project combines LPSP-constrained NPC minimisation with cycle-counted ageing, multiple weather years and uncertainty analysis in one reproducible model. Only facts confirmed from the papers' records are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with the claim. None of these techniques is new on its own. The gap is in combining them for this site, and in checking the assumptions a black-box tool hides. HOMER's default battery model treats lifetime throughput as constant regardless of depth of discharge; a single weather year can flatter a design; and the reference paper's inputs were never re-checked against their source. This project addresses each of these in an open, verified Python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map is the spine of the talk. Each question has a method, a script, an answer and the slide where the evidence is shown. Use it to signpost: every result later on answers one of these rows.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modelled system, AC-coupled as in Kumar et al. The PV array feeds the AC bus through its own inverter, whose cost is inside CERC's all-in PV price. The battery bank is 177 strings of 20 × 3 kWh batteries behind a bidirectional converter (efficiency 0.95). Each hour the dispatch is load following: PV serves the load first; surplus charges the battery within its current, converter and state-of-charge limits, and the rest is curtailed; a deficit is drawn from the battery and whatever it cannot supply is unmet demand. The supercapacitor (dashed) is an optional add-on studied separately; it does not take part in the hourly energy balance.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prepare_data.py builds the hourly demand: each department's equipment list gives rated kW, a duty factor and operating hours; a calendar applies weekdays and the two vacation periods (equipment runs at 45 % in vacation); the result is calibrated against the campus statistics and written to data/inputs.csv. NASA POWER supplies hourly irradiance (CERES SYN1deg) and temperature (MERRA-2). The same script writes the worst-case transient (four machines switching together: 93 kW for 5 s) for the supercapacitor study. The 2013–2024 weather years feed the robustness and Monte Carlo studies.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PV model is equation 3 of Kumar et al.: rated capacity times a derating factor of 0.85 times irradiance over 1,000 W/m², corrected for cell temperature with a coefficient of −0.40 %/°C; cell temperature comes from ambient temperature and irradiance through the NOCT model with NOCT 45 °C. The battery is an energy bucket between 20 % and 100 % state of charge, with the 85 % round-trip efficiency split equally between charge and discharge. Charge and discharge are limited by the datasheet currents (57 A and 133.9 A at 12 V). The converter limits both directions to its rating and costs 5 % each 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is LPSP: unmet energy over demand for the year, which must be at most 1 %. It is an energy measure, not a count of shortage hours. Economics follow HOMER's conventions. The real discount rate is (1.1070/1.0571) − 1 = 4.72 %. NPC adds capital, discounted replacements and O&amp;M, and subtracts the discounted salvage value of life left at year 15. LCOE is NPC times the capital recovery factor (0.0945) divided by energy served. Battery life is the shorter of the wear life and the float life. Wear life comes from rainflow-counting the hourly state of charge and Miner's rule on the datasheet cycle-life curve; float life comes from the datasheet's service-life versus temperature curve averaged over the site's hourly temperatures: 12.1 years.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decision variables: PV capacity, number of battery strings, converter rating and supercapacitor strings. Minimise NPC subject to LPSP ≤ 1 % and enough supercapacitor strings to absorb the 465 kJ transient (4 strings). Strings are integers. Constraints are folded into a feasibility-first score: a feasible design scores its NPC; an infeasible one scores 10¹⁰ × (1 + violation), so any feasible design beats any infeasible one and smaller violations rank better. A plain penalty NPC + k × violation can let a slightly unreliable but cheap design win. The supercapacitor count is fixed at the requirement in the final runs, because extra strings only add cost.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function, simulate(), evaluates a design: it computes PV output for the year, steps through the 8,760 hours of dispatch, then computes battery life and the lifecycle cost and folds the constraints into the score. It runs in about 9 ms, which makes the 2,700-design sweep and PSO cheap. Verification means the code does what it is meant to: 35 automated checks pass. These cover physical limits, energy balances that close exactly, monotonic behaviour, hand calculations of LCOE, salvage, cycle life and float life, the penalty logic, and agreement of the 15-year model with the single-year model when there is no growth. Verification is not external validation: there is no measured microgrid to compare against, which is a stated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grid sweep tests 2,700 designs: 12 PV sizes from 1,500 to 7,000 kW, 25 battery sizes from 20 to 500 strings and 9 converter ratings from 600 to 2,200 kW. Its best feasible design costs ₹387.7 M. PSO uses 20 particles for 40 iterations with the Clerc–Kennedy constriction coefficients (w = 0.7298, c1 = c2 = 1.49618), velocity capped at 20 % of the range, absorbing walls, and positions rounded to whole kW and strings with a cache. Five independent seeds all finish within 0.41 % of each other and below the grid best, after about 820 simulations each. A fine local grid of 3,179 designs around the PSO answer finds nothing better. That is strong evidence of a good optimum, not a proof of global optimality.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optimum is 4,368 kW of PV, 10.6 MWh of battery (177 strings), a 998 kW converter and the 4 required supercapacitor strings. NPC is ₹385.1 M, LCOE ₹11.25/kWh, LPSP exactly at the 1 % limit, and battery life 7.7 years, so the bank is replaced once within 15 years. PV capital is the largest item; battery capital plus its replacement is next. The balance: more PV is cheaper than more battery for covering most shortfalls, but PV alone cannot carry the night, and a bigger bank cycles less and lasts longer. The grid sweep's best was ₹387.7 M; PSO is 2.6 M cheaper because it searches between grid points.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NPC over PV and battery size at a 1,000 kW converter; grey is infeasible (LPSP above 1 %), the black line is the 1 % boundary, and both optima sit on it. Right: along that boundary, more PV means less battery is needed, and NPC is flat over a wide range. 6 feasible grid designs lie within 2 % of the cheapest, and the five cheapest are within 1.6 %. Practically, that gives freedom to choose PV and battery sizes to suit roof area, procurement or phasing, at almost no cost penalty.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 year at the optimum. PV generates about 5,593 MWh. About a third goes straight to the load, a third into the battery, and 1,920 MWh (34 %) is curtailed because the battery is full. Battery and converter losses are about 441 MWh. Unmet demand is 33 MWh, 1 % of demand. Right: the sunniest day, when the battery fills by mid-morning and PV is curtailed, and the worst day, when the battery is empty and demand goes unmet in the evening and night. High curtailment is the price of reliability in an islanded system.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rainflow count of the hourly state of charge. Most cycles are 30–50 % deep, the daily charge and discharge. Feeding these depths through the datasheet cycle-life curve and Miner's rule gives a wear life of 7.7 years, shorter than the 12.1-year float life, so this bank is limited by cycling and is replaced once, in year 7.7. Right: bigger banks cycle shallower and last longer, until about 20 MWh where they hit the float-life ceiling. That is why lifecycle cost, not capital cost, decides the bank size: a cheaper small bank needs more replacements. Replacements cost ₹54.6 M in present value.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2023-optimised design was run unchanged on 12 years of NASA weather, 2013–2024, with the 2023 load. It misses the 1 % target in 8 of 12 years; the worst is 2022 at 2.43 %. 2023 was the second-sunniest year in the record, which flatters the design. The robust design was explicitly optimised, not picked by trial: PSO (20 particles, 30 iterations, started from the 2023 optimum) minimised the mean NPC over the 12 years subject to LPSP ≤ 1 % in every year. It needs 5,246 kW PV and 11.8 MWh battery and costs ₹438 M on average, 14 % more. In 2023 itself the nominal design has 17 shortage events totalling 133 hours; the longest lasts 14 hours.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input is changed on its own, PSO re-optimises the design, and the plot shows the percentage change in the re-optimised NPC from the base. That is the cost of the best design under the new conditions, not of today's design. Demand dominates: ±20 % demand moves cost by about ±20 %, almost proportionally, because every component scales with it. PV price is next, then battery price and battery cycle life. The discount rate and converter price hardly matter. PV derating is limited to ±6 % so it stays physical.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constraint itself is varied and the design re-optimised for each target. Going from 1 % to 0.1 % unmet demand raises NPC by 22 %; relaxing to 10 % cuts it by 28 %. The design changes too: tighter targets need much more battery, while PV changes less. The tornado chart in plot_results.py gives the same ranking as the spider plot. The practical point: the 1 % target is a choice with a price, and should be agreed with the institute, for example by exempting loads that can be shed.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Sensitivity moves one input at a time; this moves all of them at once. 1,000 samples, design fixed at the optimum. Prices of PV, battery and converter, the real discount rate and battery cycle life are uniform within ±20 %; PV derating within ±6 %; demand within ±10 %; and the weather year is drawn uniformly from 2013–2024. 90 % of sampled NPCs fall between ₹343 M and ₹436 M: this is the 5th to 95th percentile of the sampled outcomes, not a statistical confidence interval. The design misses the 1 % target in 60 % of samples. The right panel shows that prices and cycle life drive cost, while demand and weather drive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demand growing 10 % a year (Kumar et al.), year-15 demand is 3.8 times year 1, and today's optimum fails from year 2. Two strategies, both meeting 1 % in every year: build everything for year 15 at the start, or add capacity at the start of years 1, 6 and 11. Each is optimised with PSO plus a local search and two seeds, which agree within 0.12 %. Staging costs ₹880 M against ₹1,305 M, 33 % less. Two effects: money spent later is discounted, and the early oversized battery in the build-once plan cycles shallowly for years and still ages. The staged LCOE of ₹13.08/kWh lies inside the paper's off-grid range of ₹11.96–18.47/kWh.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grid at the Assam commercial tariff of ₹5.96/kWh, buying everything costs ₹206 M. Adding 2,400 kW of PV cuts this to ₹142 M (₹4.11/kWh), the cheapest option overall, because PV's lifetime cost is about ₹4.3/kWh, below the tariff. Exports are paid at the tariff, as the paper assumes, but capped at the 644 kW peak load: without a cap more PV would always look profitable. The battery never pays: every MWh adds cost, even with no export payment, because storing a kWh in lead-acid costs more than buying one. Important: the grid is assumed always available, so this is not the same reliability boundary as off-grid; outages are not modelled.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hourly model cannot see a supercapacitor. sc_study.py builds a synthetic 1-second load for a working hour from the equipment list: machines switch on and off as Markov chains, direct-on-line motors draw a starting surge, and welders flicker. Left: one 30-minute window at 1 s, 1 min and 1 h. Right: a first-order low-pass filter with time constant τ sends the slow part of the storage power to the battery and the fast part to the supercapacitor. The design transient is 93 kW for 5 s, 465 kJ, needing 4 strings of 24 modules (16 V, 58 F). For this 10.6 MWh bank that step is only 0.0088 C, far below the C/10 rate the battery is rated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only economic value here is longer battery life. sc_study.py rainflow-counts the battery's second-scale cycles with and without the supercapacitor, adds them to the hourly cycles, and converts the life gain into NPC saved. Those cycles are far shallower than the datasheet's lowest point (20 % DoD), so two bounds are used: extending the datasheet's log-log slope (upper) or constant wear per kWh (lower). At τ = 1 s the SC and its DC–DC stage cost ₹2.59 M and save ₹0.05–2.60 M; at τ = 2 s ₹3.82 M against ₹0.07–3.60 M. At best it breaks even; longer filters cost more than they save. A smaller bank saves fewer rupees, not more, because it is cheaper to replace. Technical benefit is not economic benefit, and several inputs are placeholders.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Kumar et al. cite the CERC FY 2016-17 tariff order (Petition SM/03/2016, 29 April 2016) for the PV cost and discount rate. The order says ₹530.02 lakh/MW, which is ₹53,002/kW, and a discount factor of 10.64 % (12.76 % × 0.70 × (1 − 34.61 %) + 16 % × 0.30). The paper uses ₹50,502/kW and 10.70 %. 10.70 % is the earlier figure that the order replaces; 50,502 does not appear in the order. We do not speculate about why. Re-running with the CERC values raises NPC by 2.3 % to ₹393.9 M, and re-optimising returns the same design. We keep the paper's values as the base case for comparability and report the corrected case. The lesson for reproducibility: check inputs against the primary source, not the citing paper.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the threads together. Cost is set mostly by demand and the PV and battery prices. Reliability is set by weather and demand, and a single-year optimum sits exactly on the 1 % boundary, so any worse year breaks it. Robustness costs about 14 % for weather alone. Growth favours staging. Grid access changes the answer completely. The supercapacitor's case is conditional. The central message: optimal sizing is a trade-off between lifecycle cost, reliability and robustness, and the cheapest nominal design is the least robust 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Conclusions are the verified numbers. Limitations are stated plainly: the load is synthetic, the model is verified but not validated against a measured system, the supercapacitor inputs are placeholders, the battery costs date from 2016, and the grid case ignores outages. Future work follows directly from the limitations: meter data, a multi-year design as the headline result, LFP batteries, diesel backup as in the reference study, CO₂ accounting and real supercapacitor quotes.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full list in References.md and resources/SOURCES.md. Thank your supervisor, Kuldeep Kumar, the Department of Energy Engineering, and the providers of open data (NASA POWER) and the reference study. 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419100"/>
            <a:ext cx="9525000" cy="363207"/>
          </a:xfrm>
          <a:prstGeom prst="rect">
            <a:avLst/>
          </a:prstGeom>
          <a:noFill/>
          <a:ln/>
        </p:spPr>
        <p:txBody>
          <a:bodyPr wrap="square" lIns="0" tIns="0" rIns="0" bIns="0" rtlCol="0" anchor="t"/>
          <a:lstStyle>
            <a:lvl1pPr algn="l" indent="0" marL="0">
              <a:lnSpc>
                <a:spcPct val="115000"/>
              </a:lnSpc>
              <a:buNone/>
              <a:defRPr lang="en-US" sz="2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087107"/>
            <a:ext cx="10769600" cy="4958093"/>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419100"/>
            <a:ext cx="9525000" cy="363207"/>
          </a:xfrm>
          <a:prstGeom prst="rect">
            <a:avLst/>
          </a:prstGeom>
          <a:noFill/>
          <a:ln/>
        </p:spPr>
        <p:txBody>
          <a:bodyPr wrap="square" lIns="0" tIns="0" rIns="0" bIns="0" rtlCol="0" anchor="t"/>
          <a:lstStyle>
            <a:lvl1pPr algn="l" indent="0" marL="0">
              <a:lnSpc>
                <a:spcPct val="115000"/>
              </a:lnSpc>
              <a:buNone/>
              <a:defRPr lang="en-US" sz="2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087107"/>
            <a:ext cx="10769600" cy="4958093"/>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58952"/>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58952"/>
            <a:ext cx="12191695" cy="36576"/>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55448"/>
            <a:ext cx="10881360" cy="292608"/>
          </a:xfrm>
          <a:prstGeom prst="rect">
            <a:avLst/>
          </a:prstGeom>
          <a:noFill/>
        </p:spPr>
        <p:txBody>
          <a:bodyPr wrap="square" lIns="27432" rIns="27432" tIns="27432" bIns="27432" anchor="t"/>
          <a:lstStyle/>
          <a:p>
            <a:pPr algn="l">
              <a:spcAft>
                <a:spcPts val="400"/>
              </a:spcAft>
            </a:pPr>
            <a:r>
              <a:rPr sz="1500" b="1" i="0">
                <a:solidFill>
                  <a:srgbClr val="FFFFFF"/>
                </a:solidFill>
              </a:rPr>
              <a:t>Indian Institute of Technology Guwahati</a:t>
            </a:r>
          </a:p>
        </p:txBody>
      </p:sp>
      <p:sp>
        <p:nvSpPr>
          <p:cNvPr id="5" name="TextBox 4"/>
          <p:cNvSpPr txBox="1"/>
          <p:nvPr/>
        </p:nvSpPr>
        <p:spPr>
          <a:xfrm>
            <a:off x="658368" y="429768"/>
            <a:ext cx="10881360" cy="237744"/>
          </a:xfrm>
          <a:prstGeom prst="rect">
            <a:avLst/>
          </a:prstGeom>
          <a:noFill/>
        </p:spPr>
        <p:txBody>
          <a:bodyPr wrap="square" lIns="27432" rIns="27432" tIns="27432" bIns="27432" anchor="t"/>
          <a:lstStyle/>
          <a:p>
            <a:pPr algn="l">
              <a:spcAft>
                <a:spcPts val="400"/>
              </a:spcAft>
            </a:pPr>
            <a:r>
              <a:rPr sz="1200" b="0" i="0">
                <a:solidFill>
                  <a:srgbClr val="C9D4DF"/>
                </a:solidFill>
              </a:rPr>
              <a:t>Department of Energy Engineering</a:t>
            </a:r>
          </a:p>
        </p:txBody>
      </p:sp>
      <p:sp>
        <p:nvSpPr>
          <p:cNvPr id="6" name="Logo slot"/>
          <p:cNvSpPr/>
          <p:nvPr/>
        </p:nvSpPr>
        <p:spPr>
          <a:xfrm>
            <a:off x="5623560" y="1124712"/>
            <a:ext cx="941832" cy="941832"/>
          </a:xfrm>
          <a:prstGeom prst="roundRect">
            <a:avLst>
              <a:gd name="adj" fmla="val 50000"/>
            </a:avLst>
          </a:prstGeom>
          <a:solidFill>
            <a:srgbClr val="F2F4F7"/>
          </a:solidFill>
          <a:ln w="9525">
            <a:solidFill>
              <a:srgbClr val="8A9A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2651760"/>
            <a:ext cx="7616952" cy="274320"/>
          </a:xfrm>
          <a:prstGeom prst="rect">
            <a:avLst/>
          </a:prstGeom>
          <a:noFill/>
        </p:spPr>
        <p:txBody>
          <a:bodyPr wrap="square" lIns="27432" rIns="27432" tIns="27432" bIns="27432" anchor="t"/>
          <a:lstStyle/>
          <a:p>
            <a:pPr algn="ctr">
              <a:spcAft>
                <a:spcPts val="400"/>
              </a:spcAft>
            </a:pPr>
            <a:r>
              <a:rPr sz="1300" b="1" i="0">
                <a:solidFill>
                  <a:srgbClr val="2E6F95"/>
                </a:solidFill>
              </a:rPr>
              <a:t>B.TECH PROJECT · FINAL PRESENTATION</a:t>
            </a:r>
          </a:p>
        </p:txBody>
      </p:sp>
      <p:sp>
        <p:nvSpPr>
          <p:cNvPr id="8" name="TextBox 7"/>
          <p:cNvSpPr txBox="1"/>
          <p:nvPr/>
        </p:nvSpPr>
        <p:spPr>
          <a:xfrm>
            <a:off x="914400" y="2999232"/>
            <a:ext cx="10360152" cy="1143000"/>
          </a:xfrm>
          <a:prstGeom prst="rect">
            <a:avLst/>
          </a:prstGeom>
          <a:noFill/>
        </p:spPr>
        <p:txBody>
          <a:bodyPr wrap="square" lIns="27432" rIns="27432" tIns="27432" bIns="27432" anchor="ctr"/>
          <a:lstStyle/>
          <a:p>
            <a:pPr algn="ctr">
              <a:spcAft>
                <a:spcPts val="400"/>
              </a:spcAft>
            </a:pPr>
            <a:r>
              <a:rPr sz="3600" b="1" i="0">
                <a:solidFill>
                  <a:srgbClr val="13233A"/>
                </a:solidFill>
              </a:rPr>
              <a:t>Optimal Cost Sizing of a PV–Battery Microgrid for IIT Guwahati</a:t>
            </a:r>
          </a:p>
        </p:txBody>
      </p:sp>
      <p:sp>
        <p:nvSpPr>
          <p:cNvPr id="9" name="TextBox 8"/>
          <p:cNvSpPr txBox="1"/>
          <p:nvPr/>
        </p:nvSpPr>
        <p:spPr>
          <a:xfrm>
            <a:off x="914400" y="4187952"/>
            <a:ext cx="10360152" cy="365760"/>
          </a:xfrm>
          <a:prstGeom prst="rect">
            <a:avLst/>
          </a:prstGeom>
          <a:noFill/>
        </p:spPr>
        <p:txBody>
          <a:bodyPr wrap="square" lIns="27432" rIns="27432" tIns="27432" bIns="27432" anchor="t"/>
          <a:lstStyle/>
          <a:p>
            <a:pPr algn="ctr">
              <a:spcAft>
                <a:spcPts val="400"/>
              </a:spcAft>
            </a:pPr>
            <a:r>
              <a:rPr sz="1700" b="0" i="0">
                <a:solidFill>
                  <a:srgbClr val="4A5568"/>
                </a:solidFill>
              </a:rPr>
              <a:t>Lifecycle economics, reliability and robustness analysis</a:t>
            </a:r>
          </a:p>
        </p:txBody>
      </p:sp>
      <p:cxnSp>
        <p:nvCxnSpPr>
          <p:cNvPr id="10" name="Connector 9"/>
          <p:cNvCxnSpPr/>
          <p:nvPr/>
        </p:nvCxnSpPr>
        <p:spPr>
          <a:xfrm>
            <a:off x="2286000" y="5074920"/>
            <a:ext cx="7616952" cy="0"/>
          </a:xfrm>
          <a:prstGeom prst="line">
            <a:avLst/>
          </a:prstGeom>
          <a:ln w="9525">
            <a:solidFill>
              <a:srgbClr val="D5DB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03120" y="5230368"/>
            <a:ext cx="3657600" cy="237744"/>
          </a:xfrm>
          <a:prstGeom prst="rect">
            <a:avLst/>
          </a:prstGeom>
          <a:noFill/>
        </p:spPr>
        <p:txBody>
          <a:bodyPr wrap="square" lIns="27432" rIns="27432" tIns="27432" bIns="27432" anchor="t"/>
          <a:lstStyle/>
          <a:p>
            <a:pPr algn="ctr">
              <a:spcAft>
                <a:spcPts val="400"/>
              </a:spcAft>
            </a:pPr>
            <a:r>
              <a:rPr sz="1200" b="1" i="0">
                <a:solidFill>
                  <a:srgbClr val="5F6B78"/>
                </a:solidFill>
              </a:rPr>
              <a:t>PRESENTED BY</a:t>
            </a:r>
          </a:p>
        </p:txBody>
      </p:sp>
      <p:sp>
        <p:nvSpPr>
          <p:cNvPr id="12" name="TextBox 11"/>
          <p:cNvSpPr txBox="1"/>
          <p:nvPr/>
        </p:nvSpPr>
        <p:spPr>
          <a:xfrm>
            <a:off x="2103120" y="5486400"/>
            <a:ext cx="3657600" cy="310896"/>
          </a:xfrm>
          <a:prstGeom prst="rect">
            <a:avLst/>
          </a:prstGeom>
          <a:noFill/>
        </p:spPr>
        <p:txBody>
          <a:bodyPr wrap="square" lIns="27432" rIns="27432" tIns="27432" bIns="27432" anchor="t"/>
          <a:lstStyle/>
          <a:p>
            <a:pPr algn="ctr">
              <a:spcAft>
                <a:spcPts val="400"/>
              </a:spcAft>
            </a:pPr>
            <a:r>
              <a:rPr sz="1600" b="1" i="0">
                <a:solidFill>
                  <a:srgbClr val="13233A"/>
                </a:solidFill>
              </a:rPr>
              <a:t>Amit Raj</a:t>
            </a:r>
          </a:p>
        </p:txBody>
      </p:sp>
      <p:sp>
        <p:nvSpPr>
          <p:cNvPr id="13" name="TextBox 12"/>
          <p:cNvSpPr txBox="1"/>
          <p:nvPr/>
        </p:nvSpPr>
        <p:spPr>
          <a:xfrm>
            <a:off x="2103120" y="5815584"/>
            <a:ext cx="3657600" cy="274320"/>
          </a:xfrm>
          <a:prstGeom prst="rect">
            <a:avLst/>
          </a:prstGeom>
          <a:noFill/>
        </p:spPr>
        <p:txBody>
          <a:bodyPr wrap="square" lIns="27432" rIns="27432" tIns="27432" bIns="27432" anchor="t"/>
          <a:lstStyle/>
          <a:p>
            <a:pPr algn="ctr">
              <a:spcAft>
                <a:spcPts val="400"/>
              </a:spcAft>
            </a:pPr>
            <a:r>
              <a:rPr sz="1200" b="0" i="0">
                <a:solidFill>
                  <a:srgbClr val="4A5568"/>
                </a:solidFill>
              </a:rPr>
              <a:t>Roll No. [add before presenting]</a:t>
            </a:r>
          </a:p>
        </p:txBody>
      </p:sp>
      <p:sp>
        <p:nvSpPr>
          <p:cNvPr id="14" name="TextBox 13"/>
          <p:cNvSpPr txBox="1"/>
          <p:nvPr/>
        </p:nvSpPr>
        <p:spPr>
          <a:xfrm>
            <a:off x="6428232" y="5230368"/>
            <a:ext cx="3657600" cy="237744"/>
          </a:xfrm>
          <a:prstGeom prst="rect">
            <a:avLst/>
          </a:prstGeom>
          <a:noFill/>
        </p:spPr>
        <p:txBody>
          <a:bodyPr wrap="square" lIns="27432" rIns="27432" tIns="27432" bIns="27432" anchor="t"/>
          <a:lstStyle/>
          <a:p>
            <a:pPr algn="ctr">
              <a:spcAft>
                <a:spcPts val="400"/>
              </a:spcAft>
            </a:pPr>
            <a:r>
              <a:rPr sz="1200" b="1" i="0">
                <a:solidFill>
                  <a:srgbClr val="5F6B78"/>
                </a:solidFill>
              </a:rPr>
              <a:t>UNDER THE GUIDANCE OF</a:t>
            </a:r>
          </a:p>
        </p:txBody>
      </p:sp>
      <p:sp>
        <p:nvSpPr>
          <p:cNvPr id="15" name="TextBox 14"/>
          <p:cNvSpPr txBox="1"/>
          <p:nvPr/>
        </p:nvSpPr>
        <p:spPr>
          <a:xfrm>
            <a:off x="6428232" y="5486400"/>
            <a:ext cx="3657600" cy="310896"/>
          </a:xfrm>
          <a:prstGeom prst="rect">
            <a:avLst/>
          </a:prstGeom>
          <a:noFill/>
        </p:spPr>
        <p:txBody>
          <a:bodyPr wrap="square" lIns="27432" rIns="27432" tIns="27432" bIns="27432" anchor="t"/>
          <a:lstStyle/>
          <a:p>
            <a:pPr algn="ctr">
              <a:spcAft>
                <a:spcPts val="400"/>
              </a:spcAft>
            </a:pPr>
            <a:r>
              <a:rPr sz="1600" b="1" i="0">
                <a:solidFill>
                  <a:srgbClr val="13233A"/>
                </a:solidFill>
              </a:rPr>
              <a:t>Kuldeep Kumar</a:t>
            </a:r>
          </a:p>
        </p:txBody>
      </p:sp>
      <p:sp>
        <p:nvSpPr>
          <p:cNvPr id="16" name="TextBox 15"/>
          <p:cNvSpPr txBox="1"/>
          <p:nvPr/>
        </p:nvSpPr>
        <p:spPr>
          <a:xfrm>
            <a:off x="6428232" y="5815584"/>
            <a:ext cx="3657600" cy="274320"/>
          </a:xfrm>
          <a:prstGeom prst="rect">
            <a:avLst/>
          </a:prstGeom>
          <a:noFill/>
        </p:spPr>
        <p:txBody>
          <a:bodyPr wrap="square" lIns="27432" rIns="27432" tIns="27432" bIns="27432" anchor="t"/>
          <a:lstStyle/>
          <a:p>
            <a:pPr algn="ctr">
              <a:spcAft>
                <a:spcPts val="400"/>
              </a:spcAft>
            </a:pPr>
            <a:r>
              <a:rPr sz="1200" b="0" i="0">
                <a:solidFill>
                  <a:srgbClr val="4A5568"/>
                </a:solidFill>
              </a:rPr>
              <a:t>[Presentation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ROADMAP</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Outline of the talk</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 / 34</a:t>
            </a:r>
          </a:p>
        </p:txBody>
      </p:sp>
      <p:sp>
        <p:nvSpPr>
          <p:cNvPr id="9" name="Rounded Rectangle 8"/>
          <p:cNvSpPr/>
          <p:nvPr/>
        </p:nvSpPr>
        <p:spPr>
          <a:xfrm>
            <a:off x="609904" y="1261872"/>
            <a:ext cx="3511296" cy="1481328"/>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1072" y="1389888"/>
            <a:ext cx="1097280" cy="411480"/>
          </a:xfrm>
          <a:prstGeom prst="rect">
            <a:avLst/>
          </a:prstGeom>
          <a:noFill/>
        </p:spPr>
        <p:txBody>
          <a:bodyPr wrap="square" lIns="27432" rIns="27432" tIns="27432" bIns="27432" anchor="t"/>
          <a:lstStyle/>
          <a:p>
            <a:pPr algn="l">
              <a:spcAft>
                <a:spcPts val="400"/>
              </a:spcAft>
            </a:pPr>
            <a:r>
              <a:rPr sz="2400" b="1" i="0">
                <a:solidFill>
                  <a:srgbClr val="2E6F95"/>
                </a:solidFill>
              </a:rPr>
              <a:t>01</a:t>
            </a:r>
          </a:p>
        </p:txBody>
      </p:sp>
      <p:sp>
        <p:nvSpPr>
          <p:cNvPr id="11" name="TextBox 10"/>
          <p:cNvSpPr txBox="1"/>
          <p:nvPr/>
        </p:nvSpPr>
        <p:spPr>
          <a:xfrm>
            <a:off x="1661464" y="1444751"/>
            <a:ext cx="2322576" cy="365760"/>
          </a:xfrm>
          <a:prstGeom prst="rect">
            <a:avLst/>
          </a:prstGeom>
          <a:noFill/>
        </p:spPr>
        <p:txBody>
          <a:bodyPr wrap="square" lIns="27432" rIns="27432" tIns="27432" bIns="27432" anchor="t"/>
          <a:lstStyle/>
          <a:p>
            <a:pPr algn="r">
              <a:spcAft>
                <a:spcPts val="400"/>
              </a:spcAft>
            </a:pPr>
            <a:r>
              <a:rPr sz="1200" b="0" i="0">
                <a:solidFill>
                  <a:srgbClr val="5F6B78"/>
                </a:solidFill>
              </a:rPr>
              <a:t>Slides 3–6</a:t>
            </a:r>
          </a:p>
        </p:txBody>
      </p:sp>
      <p:sp>
        <p:nvSpPr>
          <p:cNvPr id="12" name="TextBox 11"/>
          <p:cNvSpPr txBox="1"/>
          <p:nvPr/>
        </p:nvSpPr>
        <p:spPr>
          <a:xfrm>
            <a:off x="811072" y="1828800"/>
            <a:ext cx="3145536" cy="347472"/>
          </a:xfrm>
          <a:prstGeom prst="rect">
            <a:avLst/>
          </a:prstGeom>
          <a:noFill/>
        </p:spPr>
        <p:txBody>
          <a:bodyPr wrap="square" lIns="27432" rIns="27432" tIns="27432" bIns="27432" anchor="t"/>
          <a:lstStyle/>
          <a:p>
            <a:pPr algn="l">
              <a:spcAft>
                <a:spcPts val="400"/>
              </a:spcAft>
            </a:pPr>
            <a:r>
              <a:rPr sz="1700" b="1" i="0">
                <a:solidFill>
                  <a:srgbClr val="13233A"/>
                </a:solidFill>
              </a:rPr>
              <a:t>Introduction</a:t>
            </a:r>
          </a:p>
        </p:txBody>
      </p:sp>
      <p:sp>
        <p:nvSpPr>
          <p:cNvPr id="13" name="TextBox 12"/>
          <p:cNvSpPr txBox="1"/>
          <p:nvPr/>
        </p:nvSpPr>
        <p:spPr>
          <a:xfrm>
            <a:off x="811072" y="2194560"/>
            <a:ext cx="3145536" cy="502920"/>
          </a:xfrm>
          <a:prstGeom prst="rect">
            <a:avLst/>
          </a:prstGeom>
          <a:noFill/>
        </p:spPr>
        <p:txBody>
          <a:bodyPr wrap="square" lIns="27432" rIns="27432" tIns="27432" bIns="27432" anchor="t"/>
          <a:lstStyle/>
          <a:p>
            <a:pPr algn="l">
              <a:spcAft>
                <a:spcPts val="400"/>
              </a:spcAft>
            </a:pPr>
            <a:r>
              <a:rPr sz="1300" b="0" i="0">
                <a:solidFill>
                  <a:srgbClr val="4A5568"/>
                </a:solidFill>
              </a:rPr>
              <a:t>Microgrids, IITG demand, solar resource, objectives</a:t>
            </a:r>
          </a:p>
        </p:txBody>
      </p:sp>
      <p:sp>
        <p:nvSpPr>
          <p:cNvPr id="14" name="Rounded Rectangle 13"/>
          <p:cNvSpPr/>
          <p:nvPr/>
        </p:nvSpPr>
        <p:spPr>
          <a:xfrm>
            <a:off x="4340656" y="1261872"/>
            <a:ext cx="3511296" cy="1481328"/>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1824" y="1389888"/>
            <a:ext cx="1097280" cy="411480"/>
          </a:xfrm>
          <a:prstGeom prst="rect">
            <a:avLst/>
          </a:prstGeom>
          <a:noFill/>
        </p:spPr>
        <p:txBody>
          <a:bodyPr wrap="square" lIns="27432" rIns="27432" tIns="27432" bIns="27432" anchor="t"/>
          <a:lstStyle/>
          <a:p>
            <a:pPr algn="l">
              <a:spcAft>
                <a:spcPts val="400"/>
              </a:spcAft>
            </a:pPr>
            <a:r>
              <a:rPr sz="2400" b="1" i="0">
                <a:solidFill>
                  <a:srgbClr val="2E6F95"/>
                </a:solidFill>
              </a:rPr>
              <a:t>02</a:t>
            </a:r>
          </a:p>
        </p:txBody>
      </p:sp>
      <p:sp>
        <p:nvSpPr>
          <p:cNvPr id="16" name="TextBox 15"/>
          <p:cNvSpPr txBox="1"/>
          <p:nvPr/>
        </p:nvSpPr>
        <p:spPr>
          <a:xfrm>
            <a:off x="5392216" y="1444751"/>
            <a:ext cx="2322576" cy="365760"/>
          </a:xfrm>
          <a:prstGeom prst="rect">
            <a:avLst/>
          </a:prstGeom>
          <a:noFill/>
        </p:spPr>
        <p:txBody>
          <a:bodyPr wrap="square" lIns="27432" rIns="27432" tIns="27432" bIns="27432" anchor="t"/>
          <a:lstStyle/>
          <a:p>
            <a:pPr algn="r">
              <a:spcAft>
                <a:spcPts val="400"/>
              </a:spcAft>
            </a:pPr>
            <a:r>
              <a:rPr sz="1200" b="0" i="0">
                <a:solidFill>
                  <a:srgbClr val="5F6B78"/>
                </a:solidFill>
              </a:rPr>
              <a:t>Slides 7–11</a:t>
            </a:r>
          </a:p>
        </p:txBody>
      </p:sp>
      <p:sp>
        <p:nvSpPr>
          <p:cNvPr id="17" name="TextBox 16"/>
          <p:cNvSpPr txBox="1"/>
          <p:nvPr/>
        </p:nvSpPr>
        <p:spPr>
          <a:xfrm>
            <a:off x="4541824" y="1828800"/>
            <a:ext cx="3145536" cy="347472"/>
          </a:xfrm>
          <a:prstGeom prst="rect">
            <a:avLst/>
          </a:prstGeom>
          <a:noFill/>
        </p:spPr>
        <p:txBody>
          <a:bodyPr wrap="square" lIns="27432" rIns="27432" tIns="27432" bIns="27432" anchor="t"/>
          <a:lstStyle/>
          <a:p>
            <a:pPr algn="l">
              <a:spcAft>
                <a:spcPts val="400"/>
              </a:spcAft>
            </a:pPr>
            <a:r>
              <a:rPr sz="1700" b="1" i="0">
                <a:solidFill>
                  <a:srgbClr val="13233A"/>
                </a:solidFill>
              </a:rPr>
              <a:t>Literature and gap</a:t>
            </a:r>
          </a:p>
        </p:txBody>
      </p:sp>
      <p:sp>
        <p:nvSpPr>
          <p:cNvPr id="18" name="TextBox 17"/>
          <p:cNvSpPr txBox="1"/>
          <p:nvPr/>
        </p:nvSpPr>
        <p:spPr>
          <a:xfrm>
            <a:off x="4541824" y="2194560"/>
            <a:ext cx="3145536" cy="502920"/>
          </a:xfrm>
          <a:prstGeom prst="rect">
            <a:avLst/>
          </a:prstGeom>
          <a:noFill/>
        </p:spPr>
        <p:txBody>
          <a:bodyPr wrap="square" lIns="27432" rIns="27432" tIns="27432" bIns="27432" anchor="t"/>
          <a:lstStyle/>
          <a:p>
            <a:pPr algn="l">
              <a:spcAft>
                <a:spcPts val="400"/>
              </a:spcAft>
            </a:pPr>
            <a:r>
              <a:rPr sz="1300" b="0" i="0">
                <a:solidFill>
                  <a:srgbClr val="4A5568"/>
                </a:solidFill>
              </a:rPr>
              <a:t>Landscape, reference study, comparison, contribution</a:t>
            </a:r>
          </a:p>
        </p:txBody>
      </p:sp>
      <p:sp>
        <p:nvSpPr>
          <p:cNvPr id="19" name="Rounded Rectangle 18"/>
          <p:cNvSpPr/>
          <p:nvPr/>
        </p:nvSpPr>
        <p:spPr>
          <a:xfrm>
            <a:off x="8071408" y="1261872"/>
            <a:ext cx="3511296" cy="1481328"/>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2576" y="1389888"/>
            <a:ext cx="1097280" cy="411480"/>
          </a:xfrm>
          <a:prstGeom prst="rect">
            <a:avLst/>
          </a:prstGeom>
          <a:noFill/>
        </p:spPr>
        <p:txBody>
          <a:bodyPr wrap="square" lIns="27432" rIns="27432" tIns="27432" bIns="27432" anchor="t"/>
          <a:lstStyle/>
          <a:p>
            <a:pPr algn="l">
              <a:spcAft>
                <a:spcPts val="400"/>
              </a:spcAft>
            </a:pPr>
            <a:r>
              <a:rPr sz="2400" b="1" i="0">
                <a:solidFill>
                  <a:srgbClr val="2E6F95"/>
                </a:solidFill>
              </a:rPr>
              <a:t>03</a:t>
            </a:r>
          </a:p>
        </p:txBody>
      </p:sp>
      <p:sp>
        <p:nvSpPr>
          <p:cNvPr id="21" name="TextBox 20"/>
          <p:cNvSpPr txBox="1"/>
          <p:nvPr/>
        </p:nvSpPr>
        <p:spPr>
          <a:xfrm>
            <a:off x="9122968" y="1444751"/>
            <a:ext cx="2322576" cy="365760"/>
          </a:xfrm>
          <a:prstGeom prst="rect">
            <a:avLst/>
          </a:prstGeom>
          <a:noFill/>
        </p:spPr>
        <p:txBody>
          <a:bodyPr wrap="square" lIns="27432" rIns="27432" tIns="27432" bIns="27432" anchor="t"/>
          <a:lstStyle/>
          <a:p>
            <a:pPr algn="r">
              <a:spcAft>
                <a:spcPts val="400"/>
              </a:spcAft>
            </a:pPr>
            <a:r>
              <a:rPr sz="1200" b="0" i="0">
                <a:solidFill>
                  <a:srgbClr val="5F6B78"/>
                </a:solidFill>
              </a:rPr>
              <a:t>Slides 12–18</a:t>
            </a:r>
          </a:p>
        </p:txBody>
      </p:sp>
      <p:sp>
        <p:nvSpPr>
          <p:cNvPr id="22" name="TextBox 21"/>
          <p:cNvSpPr txBox="1"/>
          <p:nvPr/>
        </p:nvSpPr>
        <p:spPr>
          <a:xfrm>
            <a:off x="8272576" y="1828800"/>
            <a:ext cx="3145536" cy="347472"/>
          </a:xfrm>
          <a:prstGeom prst="rect">
            <a:avLst/>
          </a:prstGeom>
          <a:noFill/>
        </p:spPr>
        <p:txBody>
          <a:bodyPr wrap="square" lIns="27432" rIns="27432" tIns="27432" bIns="27432" anchor="t"/>
          <a:lstStyle/>
          <a:p>
            <a:pPr algn="l">
              <a:spcAft>
                <a:spcPts val="400"/>
              </a:spcAft>
            </a:pPr>
            <a:r>
              <a:rPr sz="1700" b="1" i="0">
                <a:solidFill>
                  <a:srgbClr val="13233A"/>
                </a:solidFill>
              </a:rPr>
              <a:t>Modelling and optimisation</a:t>
            </a:r>
          </a:p>
        </p:txBody>
      </p:sp>
      <p:sp>
        <p:nvSpPr>
          <p:cNvPr id="23" name="TextBox 22"/>
          <p:cNvSpPr txBox="1"/>
          <p:nvPr/>
        </p:nvSpPr>
        <p:spPr>
          <a:xfrm>
            <a:off x="8272576" y="2194560"/>
            <a:ext cx="3145536" cy="502920"/>
          </a:xfrm>
          <a:prstGeom prst="rect">
            <a:avLst/>
          </a:prstGeom>
          <a:noFill/>
        </p:spPr>
        <p:txBody>
          <a:bodyPr wrap="square" lIns="27432" rIns="27432" tIns="27432" bIns="27432" anchor="t"/>
          <a:lstStyle/>
          <a:p>
            <a:pPr algn="l">
              <a:spcAft>
                <a:spcPts val="400"/>
              </a:spcAft>
            </a:pPr>
            <a:r>
              <a:rPr sz="1300" b="0" i="0">
                <a:solidFill>
                  <a:srgbClr val="4A5568"/>
                </a:solidFill>
              </a:rPr>
              <a:t>Architecture, data, component and cost models, PSO</a:t>
            </a:r>
          </a:p>
        </p:txBody>
      </p:sp>
      <p:sp>
        <p:nvSpPr>
          <p:cNvPr id="24" name="Rounded Rectangle 23"/>
          <p:cNvSpPr/>
          <p:nvPr/>
        </p:nvSpPr>
        <p:spPr>
          <a:xfrm>
            <a:off x="609904" y="2962656"/>
            <a:ext cx="3511296" cy="1481328"/>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1072" y="3090672"/>
            <a:ext cx="1097280" cy="411480"/>
          </a:xfrm>
          <a:prstGeom prst="rect">
            <a:avLst/>
          </a:prstGeom>
          <a:noFill/>
        </p:spPr>
        <p:txBody>
          <a:bodyPr wrap="square" lIns="27432" rIns="27432" tIns="27432" bIns="27432" anchor="t"/>
          <a:lstStyle/>
          <a:p>
            <a:pPr algn="l">
              <a:spcAft>
                <a:spcPts val="400"/>
              </a:spcAft>
            </a:pPr>
            <a:r>
              <a:rPr sz="2400" b="1" i="0">
                <a:solidFill>
                  <a:srgbClr val="2E6F95"/>
                </a:solidFill>
              </a:rPr>
              <a:t>04</a:t>
            </a:r>
          </a:p>
        </p:txBody>
      </p:sp>
      <p:sp>
        <p:nvSpPr>
          <p:cNvPr id="26" name="TextBox 25"/>
          <p:cNvSpPr txBox="1"/>
          <p:nvPr/>
        </p:nvSpPr>
        <p:spPr>
          <a:xfrm>
            <a:off x="1661464" y="3145536"/>
            <a:ext cx="2322576" cy="365760"/>
          </a:xfrm>
          <a:prstGeom prst="rect">
            <a:avLst/>
          </a:prstGeom>
          <a:noFill/>
        </p:spPr>
        <p:txBody>
          <a:bodyPr wrap="square" lIns="27432" rIns="27432" tIns="27432" bIns="27432" anchor="t"/>
          <a:lstStyle/>
          <a:p>
            <a:pPr algn="r">
              <a:spcAft>
                <a:spcPts val="400"/>
              </a:spcAft>
            </a:pPr>
            <a:r>
              <a:rPr sz="1200" b="0" i="0">
                <a:solidFill>
                  <a:srgbClr val="5F6B78"/>
                </a:solidFill>
              </a:rPr>
              <a:t>Slides 19–22</a:t>
            </a:r>
          </a:p>
        </p:txBody>
      </p:sp>
      <p:sp>
        <p:nvSpPr>
          <p:cNvPr id="27" name="TextBox 26"/>
          <p:cNvSpPr txBox="1"/>
          <p:nvPr/>
        </p:nvSpPr>
        <p:spPr>
          <a:xfrm>
            <a:off x="811072" y="3529584"/>
            <a:ext cx="3145536" cy="347472"/>
          </a:xfrm>
          <a:prstGeom prst="rect">
            <a:avLst/>
          </a:prstGeom>
          <a:noFill/>
        </p:spPr>
        <p:txBody>
          <a:bodyPr wrap="square" lIns="27432" rIns="27432" tIns="27432" bIns="27432" anchor="t"/>
          <a:lstStyle/>
          <a:p>
            <a:pPr algn="l">
              <a:spcAft>
                <a:spcPts val="400"/>
              </a:spcAft>
            </a:pPr>
            <a:r>
              <a:rPr sz="1700" b="1" i="0">
                <a:solidFill>
                  <a:srgbClr val="13233A"/>
                </a:solidFill>
              </a:rPr>
              <a:t>Optimal design</a:t>
            </a:r>
          </a:p>
        </p:txBody>
      </p:sp>
      <p:sp>
        <p:nvSpPr>
          <p:cNvPr id="28" name="TextBox 27"/>
          <p:cNvSpPr txBox="1"/>
          <p:nvPr/>
        </p:nvSpPr>
        <p:spPr>
          <a:xfrm>
            <a:off x="811072" y="3895344"/>
            <a:ext cx="3145536" cy="502920"/>
          </a:xfrm>
          <a:prstGeom prst="rect">
            <a:avLst/>
          </a:prstGeom>
          <a:noFill/>
        </p:spPr>
        <p:txBody>
          <a:bodyPr wrap="square" lIns="27432" rIns="27432" tIns="27432" bIns="27432" anchor="t"/>
          <a:lstStyle/>
          <a:p>
            <a:pPr algn="l">
              <a:spcAft>
                <a:spcPts val="400"/>
              </a:spcAft>
            </a:pPr>
            <a:r>
              <a:rPr sz="1300" b="0" i="0">
                <a:solidFill>
                  <a:srgbClr val="4A5568"/>
                </a:solidFill>
              </a:rPr>
              <a:t>Sizing, design space, dispatch, battery ageing</a:t>
            </a:r>
          </a:p>
        </p:txBody>
      </p:sp>
      <p:sp>
        <p:nvSpPr>
          <p:cNvPr id="29" name="Rounded Rectangle 28"/>
          <p:cNvSpPr/>
          <p:nvPr/>
        </p:nvSpPr>
        <p:spPr>
          <a:xfrm>
            <a:off x="4340656" y="2962656"/>
            <a:ext cx="3511296" cy="1481328"/>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41824" y="3090672"/>
            <a:ext cx="1097280" cy="411480"/>
          </a:xfrm>
          <a:prstGeom prst="rect">
            <a:avLst/>
          </a:prstGeom>
          <a:noFill/>
        </p:spPr>
        <p:txBody>
          <a:bodyPr wrap="square" lIns="27432" rIns="27432" tIns="27432" bIns="27432" anchor="t"/>
          <a:lstStyle/>
          <a:p>
            <a:pPr algn="l">
              <a:spcAft>
                <a:spcPts val="400"/>
              </a:spcAft>
            </a:pPr>
            <a:r>
              <a:rPr sz="2400" b="1" i="0">
                <a:solidFill>
                  <a:srgbClr val="2E6F95"/>
                </a:solidFill>
              </a:rPr>
              <a:t>05</a:t>
            </a:r>
          </a:p>
        </p:txBody>
      </p:sp>
      <p:sp>
        <p:nvSpPr>
          <p:cNvPr id="31" name="TextBox 30"/>
          <p:cNvSpPr txBox="1"/>
          <p:nvPr/>
        </p:nvSpPr>
        <p:spPr>
          <a:xfrm>
            <a:off x="5392216" y="3145536"/>
            <a:ext cx="2322576" cy="365760"/>
          </a:xfrm>
          <a:prstGeom prst="rect">
            <a:avLst/>
          </a:prstGeom>
          <a:noFill/>
        </p:spPr>
        <p:txBody>
          <a:bodyPr wrap="square" lIns="27432" rIns="27432" tIns="27432" bIns="27432" anchor="t"/>
          <a:lstStyle/>
          <a:p>
            <a:pPr algn="r">
              <a:spcAft>
                <a:spcPts val="400"/>
              </a:spcAft>
            </a:pPr>
            <a:r>
              <a:rPr sz="1200" b="0" i="0">
                <a:solidFill>
                  <a:srgbClr val="5F6B78"/>
                </a:solidFill>
              </a:rPr>
              <a:t>Slides 23–26</a:t>
            </a:r>
          </a:p>
        </p:txBody>
      </p:sp>
      <p:sp>
        <p:nvSpPr>
          <p:cNvPr id="32" name="TextBox 31"/>
          <p:cNvSpPr txBox="1"/>
          <p:nvPr/>
        </p:nvSpPr>
        <p:spPr>
          <a:xfrm>
            <a:off x="4541824" y="3529584"/>
            <a:ext cx="3145536" cy="347472"/>
          </a:xfrm>
          <a:prstGeom prst="rect">
            <a:avLst/>
          </a:prstGeom>
          <a:noFill/>
        </p:spPr>
        <p:txBody>
          <a:bodyPr wrap="square" lIns="27432" rIns="27432" tIns="27432" bIns="27432" anchor="t"/>
          <a:lstStyle/>
          <a:p>
            <a:pPr algn="l">
              <a:spcAft>
                <a:spcPts val="400"/>
              </a:spcAft>
            </a:pPr>
            <a:r>
              <a:rPr sz="1700" b="1" i="0">
                <a:solidFill>
                  <a:srgbClr val="13233A"/>
                </a:solidFill>
              </a:rPr>
              <a:t>Robustness</a:t>
            </a:r>
          </a:p>
        </p:txBody>
      </p:sp>
      <p:sp>
        <p:nvSpPr>
          <p:cNvPr id="33" name="TextBox 32"/>
          <p:cNvSpPr txBox="1"/>
          <p:nvPr/>
        </p:nvSpPr>
        <p:spPr>
          <a:xfrm>
            <a:off x="4541824" y="3895344"/>
            <a:ext cx="3145536" cy="502920"/>
          </a:xfrm>
          <a:prstGeom prst="rect">
            <a:avLst/>
          </a:prstGeom>
          <a:noFill/>
        </p:spPr>
        <p:txBody>
          <a:bodyPr wrap="square" lIns="27432" rIns="27432" tIns="27432" bIns="27432" anchor="t"/>
          <a:lstStyle/>
          <a:p>
            <a:pPr algn="l">
              <a:spcAft>
                <a:spcPts val="400"/>
              </a:spcAft>
            </a:pPr>
            <a:r>
              <a:rPr sz="1300" b="0" i="0">
                <a:solidFill>
                  <a:srgbClr val="4A5568"/>
                </a:solidFill>
              </a:rPr>
              <a:t>Weather years, sensitivity, reliability target, Monte Carlo</a:t>
            </a:r>
          </a:p>
        </p:txBody>
      </p:sp>
      <p:sp>
        <p:nvSpPr>
          <p:cNvPr id="34" name="Rounded Rectangle 33"/>
          <p:cNvSpPr/>
          <p:nvPr/>
        </p:nvSpPr>
        <p:spPr>
          <a:xfrm>
            <a:off x="8071408" y="2962656"/>
            <a:ext cx="3511296" cy="1481328"/>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2576" y="3090672"/>
            <a:ext cx="1097280" cy="411480"/>
          </a:xfrm>
          <a:prstGeom prst="rect">
            <a:avLst/>
          </a:prstGeom>
          <a:noFill/>
        </p:spPr>
        <p:txBody>
          <a:bodyPr wrap="square" lIns="27432" rIns="27432" tIns="27432" bIns="27432" anchor="t"/>
          <a:lstStyle/>
          <a:p>
            <a:pPr algn="l">
              <a:spcAft>
                <a:spcPts val="400"/>
              </a:spcAft>
            </a:pPr>
            <a:r>
              <a:rPr sz="2400" b="1" i="0">
                <a:solidFill>
                  <a:srgbClr val="2E6F95"/>
                </a:solidFill>
              </a:rPr>
              <a:t>06</a:t>
            </a:r>
          </a:p>
        </p:txBody>
      </p:sp>
      <p:sp>
        <p:nvSpPr>
          <p:cNvPr id="36" name="TextBox 35"/>
          <p:cNvSpPr txBox="1"/>
          <p:nvPr/>
        </p:nvSpPr>
        <p:spPr>
          <a:xfrm>
            <a:off x="9122968" y="3145536"/>
            <a:ext cx="2322576" cy="365760"/>
          </a:xfrm>
          <a:prstGeom prst="rect">
            <a:avLst/>
          </a:prstGeom>
          <a:noFill/>
        </p:spPr>
        <p:txBody>
          <a:bodyPr wrap="square" lIns="27432" rIns="27432" tIns="27432" bIns="27432" anchor="t"/>
          <a:lstStyle/>
          <a:p>
            <a:pPr algn="r">
              <a:spcAft>
                <a:spcPts val="400"/>
              </a:spcAft>
            </a:pPr>
            <a:r>
              <a:rPr sz="1200" b="0" i="0">
                <a:solidFill>
                  <a:srgbClr val="5F6B78"/>
                </a:solidFill>
              </a:rPr>
              <a:t>Slides 27–34</a:t>
            </a:r>
          </a:p>
        </p:txBody>
      </p:sp>
      <p:sp>
        <p:nvSpPr>
          <p:cNvPr id="37" name="TextBox 36"/>
          <p:cNvSpPr txBox="1"/>
          <p:nvPr/>
        </p:nvSpPr>
        <p:spPr>
          <a:xfrm>
            <a:off x="8272576" y="3529584"/>
            <a:ext cx="3145536" cy="347472"/>
          </a:xfrm>
          <a:prstGeom prst="rect">
            <a:avLst/>
          </a:prstGeom>
          <a:noFill/>
        </p:spPr>
        <p:txBody>
          <a:bodyPr wrap="square" lIns="27432" rIns="27432" tIns="27432" bIns="27432" anchor="t"/>
          <a:lstStyle/>
          <a:p>
            <a:pPr algn="l">
              <a:spcAft>
                <a:spcPts val="400"/>
              </a:spcAft>
            </a:pPr>
            <a:r>
              <a:rPr sz="1700" b="1" i="0">
                <a:solidFill>
                  <a:srgbClr val="13233A"/>
                </a:solidFill>
              </a:rPr>
              <a:t>Scenarios and conclusions</a:t>
            </a:r>
          </a:p>
        </p:txBody>
      </p:sp>
      <p:sp>
        <p:nvSpPr>
          <p:cNvPr id="38" name="TextBox 37"/>
          <p:cNvSpPr txBox="1"/>
          <p:nvPr/>
        </p:nvSpPr>
        <p:spPr>
          <a:xfrm>
            <a:off x="8272576" y="3895344"/>
            <a:ext cx="3145536" cy="502920"/>
          </a:xfrm>
          <a:prstGeom prst="rect">
            <a:avLst/>
          </a:prstGeom>
          <a:noFill/>
        </p:spPr>
        <p:txBody>
          <a:bodyPr wrap="square" lIns="27432" rIns="27432" tIns="27432" bIns="27432" anchor="t"/>
          <a:lstStyle/>
          <a:p>
            <a:pPr algn="l">
              <a:spcAft>
                <a:spcPts val="400"/>
              </a:spcAft>
            </a:pPr>
            <a:r>
              <a:rPr sz="1300" b="0" i="0">
                <a:solidFill>
                  <a:srgbClr val="4A5568"/>
                </a:solidFill>
              </a:rPr>
              <a:t>Load growth, grid access, supercapacitor, CERC check</a:t>
            </a:r>
          </a:p>
        </p:txBody>
      </p:sp>
      <p:sp>
        <p:nvSpPr>
          <p:cNvPr id="39" name="Rounded Rectangle 38"/>
          <p:cNvSpPr/>
          <p:nvPr/>
        </p:nvSpPr>
        <p:spPr>
          <a:xfrm>
            <a:off x="609904" y="4892040"/>
            <a:ext cx="1627632" cy="640080"/>
          </a:xfrm>
          <a:prstGeom prst="roundRect">
            <a:avLst>
              <a:gd name="adj" fmla="val 12000"/>
            </a:avLst>
          </a:prstGeom>
          <a:solidFill>
            <a:srgbClr val="FFFFFF"/>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Demand + weather data</a:t>
            </a:r>
          </a:p>
        </p:txBody>
      </p:sp>
      <p:sp>
        <p:nvSpPr>
          <p:cNvPr id="40" name="Rounded Rectangle 39"/>
          <p:cNvSpPr/>
          <p:nvPr/>
        </p:nvSpPr>
        <p:spPr>
          <a:xfrm>
            <a:off x="2478938" y="4892040"/>
            <a:ext cx="1627632" cy="640080"/>
          </a:xfrm>
          <a:prstGeom prst="roundRect">
            <a:avLst>
              <a:gd name="adj" fmla="val 12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FFFFFF"/>
                </a:solidFill>
              </a:rPr>
              <a:t>Hourly simulator</a:t>
            </a:r>
          </a:p>
        </p:txBody>
      </p:sp>
      <p:cxnSp>
        <p:nvCxnSpPr>
          <p:cNvPr id="41" name="Connector 40"/>
          <p:cNvCxnSpPr/>
          <p:nvPr/>
        </p:nvCxnSpPr>
        <p:spPr>
          <a:xfrm>
            <a:off x="2264968" y="5212079"/>
            <a:ext cx="186538" cy="0"/>
          </a:xfrm>
          <a:prstGeom prst="line">
            <a:avLst/>
          </a:prstGeom>
          <a:ln w="25400">
            <a:solidFill>
              <a:srgbClr val="E8A3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347972" y="4892040"/>
            <a:ext cx="1627632" cy="640080"/>
          </a:xfrm>
          <a:prstGeom prst="roundRect">
            <a:avLst>
              <a:gd name="adj" fmla="val 12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FFFFFF"/>
                </a:solidFill>
              </a:rPr>
              <a:t>PSO optimiser</a:t>
            </a:r>
          </a:p>
        </p:txBody>
      </p:sp>
      <p:cxnSp>
        <p:nvCxnSpPr>
          <p:cNvPr id="43" name="Connector 42"/>
          <p:cNvCxnSpPr/>
          <p:nvPr/>
        </p:nvCxnSpPr>
        <p:spPr>
          <a:xfrm>
            <a:off x="4134002" y="5212079"/>
            <a:ext cx="186538" cy="0"/>
          </a:xfrm>
          <a:prstGeom prst="line">
            <a:avLst/>
          </a:prstGeom>
          <a:ln w="25400">
            <a:solidFill>
              <a:srgbClr val="E8A3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217005" y="4892040"/>
            <a:ext cx="1627632" cy="640080"/>
          </a:xfrm>
          <a:prstGeom prst="roundRect">
            <a:avLst>
              <a:gd name="adj" fmla="val 12000"/>
            </a:avLst>
          </a:prstGeom>
          <a:solidFill>
            <a:srgbClr val="FFFFFF"/>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Optimal design</a:t>
            </a:r>
          </a:p>
        </p:txBody>
      </p:sp>
      <p:cxnSp>
        <p:nvCxnSpPr>
          <p:cNvPr id="45" name="Connector 44"/>
          <p:cNvCxnSpPr/>
          <p:nvPr/>
        </p:nvCxnSpPr>
        <p:spPr>
          <a:xfrm>
            <a:off x="6003036" y="5212079"/>
            <a:ext cx="186537" cy="0"/>
          </a:xfrm>
          <a:prstGeom prst="line">
            <a:avLst/>
          </a:prstGeom>
          <a:ln w="25400">
            <a:solidFill>
              <a:srgbClr val="E8A3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8086039" y="4892040"/>
            <a:ext cx="1627632" cy="640080"/>
          </a:xfrm>
          <a:prstGeom prst="roundRect">
            <a:avLst>
              <a:gd name="adj" fmla="val 12000"/>
            </a:avLst>
          </a:prstGeom>
          <a:solidFill>
            <a:srgbClr val="FFFFFF"/>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Stress tests</a:t>
            </a:r>
          </a:p>
        </p:txBody>
      </p:sp>
      <p:cxnSp>
        <p:nvCxnSpPr>
          <p:cNvPr id="47" name="Connector 46"/>
          <p:cNvCxnSpPr/>
          <p:nvPr/>
        </p:nvCxnSpPr>
        <p:spPr>
          <a:xfrm>
            <a:off x="7872069" y="5212079"/>
            <a:ext cx="186538" cy="0"/>
          </a:xfrm>
          <a:prstGeom prst="line">
            <a:avLst/>
          </a:prstGeom>
          <a:ln w="25400">
            <a:solidFill>
              <a:srgbClr val="E8A3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955072" y="4892040"/>
            <a:ext cx="1627632" cy="640080"/>
          </a:xfrm>
          <a:prstGeom prst="roundRect">
            <a:avLst>
              <a:gd name="adj" fmla="val 12000"/>
            </a:avLst>
          </a:prstGeom>
          <a:solidFill>
            <a:srgbClr val="FFFFFF"/>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Engineering decisions</a:t>
            </a:r>
          </a:p>
        </p:txBody>
      </p:sp>
      <p:cxnSp>
        <p:nvCxnSpPr>
          <p:cNvPr id="49" name="Connector 48"/>
          <p:cNvCxnSpPr/>
          <p:nvPr/>
        </p:nvCxnSpPr>
        <p:spPr>
          <a:xfrm>
            <a:off x="9741103" y="5212079"/>
            <a:ext cx="186537" cy="0"/>
          </a:xfrm>
          <a:prstGeom prst="line">
            <a:avLst/>
          </a:prstGeom>
          <a:ln w="25400">
            <a:solidFill>
              <a:srgbClr val="E8A3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09904" y="5669280"/>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The logic of the project: every result in Parts IV–V comes from the same verified simulator.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INTRODUCTION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What is a microgrid?</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3 / 34</a:t>
            </a:r>
          </a:p>
        </p:txBody>
      </p:sp>
      <p:sp>
        <p:nvSpPr>
          <p:cNvPr id="9" name="TextBox 8"/>
          <p:cNvSpPr txBox="1"/>
          <p:nvPr/>
        </p:nvSpPr>
        <p:spPr>
          <a:xfrm>
            <a:off x="609904" y="1280160"/>
            <a:ext cx="4937760" cy="1188720"/>
          </a:xfrm>
          <a:prstGeom prst="rect">
            <a:avLst/>
          </a:prstGeom>
          <a:noFill/>
        </p:spPr>
        <p:txBody>
          <a:bodyPr wrap="square" lIns="27432" rIns="27432" tIns="27432" bIns="27432" anchor="t"/>
          <a:lstStyle/>
          <a:p>
            <a:pPr algn="l">
              <a:spcAft>
                <a:spcPts val="400"/>
              </a:spcAft>
            </a:pPr>
            <a:r>
              <a:rPr sz="1600" b="0" i="0">
                <a:solidFill>
                  <a:srgbClr val="4A5568"/>
                </a:solidFill>
              </a:rPr>
              <a:t>A microgrid is a </a:t>
            </a:r>
            <a:r>
              <a:rPr sz="1600" b="1" i="0">
                <a:solidFill>
                  <a:srgbClr val="13233A"/>
                </a:solidFill>
              </a:rPr>
              <a:t>local group of generators, storage and loads</a:t>
            </a:r>
            <a:r>
              <a:rPr sz="1600" b="0" i="0">
                <a:solidFill>
                  <a:srgbClr val="4A5568"/>
                </a:solidFill>
              </a:rPr>
              <a:t> controlled as one unit — connected to the main grid or running on its own (islanded).</a:t>
            </a:r>
          </a:p>
        </p:txBody>
      </p:sp>
      <p:sp>
        <p:nvSpPr>
          <p:cNvPr id="10" name="TextBox 9"/>
          <p:cNvSpPr txBox="1"/>
          <p:nvPr/>
        </p:nvSpPr>
        <p:spPr>
          <a:xfrm>
            <a:off x="609904" y="2514600"/>
            <a:ext cx="4937760" cy="1828800"/>
          </a:xfrm>
          <a:prstGeom prst="rect">
            <a:avLst/>
          </a:prstGeom>
          <a:noFill/>
        </p:spPr>
        <p:txBody>
          <a:bodyPr wrap="square" lIns="27432" rIns="27432" tIns="27432" bIns="27432" anchor="t"/>
          <a:lstStyle/>
          <a:p>
            <a:pPr algn="l" marL="201168" indent="-182880">
              <a:spcAft>
                <a:spcPts val="600"/>
              </a:spcAft>
              <a:buChar char="•"/>
            </a:pPr>
            <a:r>
              <a:rPr sz="1500" b="0" i="0">
                <a:solidFill>
                  <a:srgbClr val="4A5568"/>
                </a:solidFill>
              </a:rPr>
              <a:t>Generation sits close to the load</a:t>
            </a:r>
          </a:p>
          <a:p>
            <a:pPr algn="l" marL="201168" indent="-182880">
              <a:spcAft>
                <a:spcPts val="600"/>
              </a:spcAft>
              <a:buChar char="•"/>
            </a:pPr>
            <a:r>
              <a:rPr sz="1500" b="0" i="0">
                <a:solidFill>
                  <a:srgbClr val="4A5568"/>
                </a:solidFill>
              </a:rPr>
              <a:t>Storage covers the gap between supply and demand</a:t>
            </a:r>
          </a:p>
          <a:p>
            <a:pPr algn="l" marL="201168" indent="-182880">
              <a:spcAft>
                <a:spcPts val="600"/>
              </a:spcAft>
              <a:buChar char="•"/>
            </a:pPr>
            <a:r>
              <a:rPr sz="1500" b="0" i="0">
                <a:solidFill>
                  <a:srgbClr val="4A5568"/>
                </a:solidFill>
              </a:rPr>
              <a:t>A controller dispatches every unit, hour by hour</a:t>
            </a:r>
          </a:p>
          <a:p>
            <a:pPr algn="l" marL="201168" indent="-182880">
              <a:spcAft>
                <a:spcPts val="600"/>
              </a:spcAft>
              <a:buChar char="•"/>
            </a:pPr>
            <a:r>
              <a:rPr sz="1500" b="0" i="0">
                <a:solidFill>
                  <a:srgbClr val="4A5568"/>
                </a:solidFill>
              </a:rPr>
              <a:t>Islanded operation: every kWh must come from local sources</a:t>
            </a:r>
          </a:p>
        </p:txBody>
      </p:sp>
      <p:sp>
        <p:nvSpPr>
          <p:cNvPr id="11" name="Rounded Rectangle 10"/>
          <p:cNvSpPr/>
          <p:nvPr/>
        </p:nvSpPr>
        <p:spPr>
          <a:xfrm>
            <a:off x="7818120" y="1280160"/>
            <a:ext cx="1828800" cy="457200"/>
          </a:xfrm>
          <a:prstGeom prst="roundRect">
            <a:avLst>
              <a:gd name="adj" fmla="val 12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FFFFFF"/>
                </a:solidFill>
              </a:rPr>
              <a:t>Utility grid</a:t>
            </a:r>
          </a:p>
        </p:txBody>
      </p:sp>
      <p:sp>
        <p:nvSpPr>
          <p:cNvPr id="12" name="Rounded Rectangle 11"/>
          <p:cNvSpPr/>
          <p:nvPr/>
        </p:nvSpPr>
        <p:spPr>
          <a:xfrm>
            <a:off x="8046720" y="1938528"/>
            <a:ext cx="1371600" cy="329184"/>
          </a:xfrm>
          <a:prstGeom prst="roundRect">
            <a:avLst>
              <a:gd name="adj" fmla="val 12000"/>
            </a:avLst>
          </a:prstGeom>
          <a:solidFill>
            <a:srgbClr val="FFFFFF"/>
          </a:solidFill>
          <a:ln w="12700">
            <a:solidFill>
              <a:srgbClr val="8A9AA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100" b="0" i="0">
                <a:solidFill>
                  <a:srgbClr val="13233A"/>
                </a:solidFill>
              </a:rPr>
              <a:t>PCC switch</a:t>
            </a:r>
          </a:p>
        </p:txBody>
      </p:sp>
      <p:cxnSp>
        <p:nvCxnSpPr>
          <p:cNvPr id="13" name="Connector 12"/>
          <p:cNvCxnSpPr/>
          <p:nvPr/>
        </p:nvCxnSpPr>
        <p:spPr>
          <a:xfrm>
            <a:off x="8732520" y="1737360"/>
            <a:ext cx="0" cy="201168"/>
          </a:xfrm>
          <a:prstGeom prst="line">
            <a:avLst/>
          </a:prstGeom>
          <a:ln w="19050">
            <a:solidFill>
              <a:srgbClr val="13233A"/>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89320" y="2514600"/>
            <a:ext cx="5486400" cy="384048"/>
          </a:xfrm>
          <a:prstGeom prst="roundRect">
            <a:avLst>
              <a:gd name="adj" fmla="val 12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Common bus  (AC or DC)</a:t>
            </a:r>
          </a:p>
        </p:txBody>
      </p:sp>
      <p:cxnSp>
        <p:nvCxnSpPr>
          <p:cNvPr id="15" name="Connector 14"/>
          <p:cNvCxnSpPr/>
          <p:nvPr/>
        </p:nvCxnSpPr>
        <p:spPr>
          <a:xfrm>
            <a:off x="8732520" y="2267712"/>
            <a:ext cx="0" cy="246888"/>
          </a:xfrm>
          <a:prstGeom prst="line">
            <a:avLst/>
          </a:prstGeom>
          <a:ln w="19050">
            <a:solidFill>
              <a:srgbClr val="13233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620256" y="2898648"/>
            <a:ext cx="0" cy="301752"/>
          </a:xfrm>
          <a:prstGeom prst="line">
            <a:avLst/>
          </a:prstGeom>
          <a:ln w="19050">
            <a:solidFill>
              <a:srgbClr val="13233A"/>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989320" y="3200400"/>
            <a:ext cx="1261872" cy="868680"/>
          </a:xfrm>
          <a:prstGeom prst="roundRect">
            <a:avLst>
              <a:gd name="adj" fmla="val 12000"/>
            </a:avLst>
          </a:prstGeom>
          <a:solidFill>
            <a:srgbClr val="FBFB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1F7A72"/>
                </a:solidFill>
              </a:rPr>
              <a:t>Solar PV</a:t>
            </a:r>
          </a:p>
          <a:p>
            <a:pPr algn="ctr">
              <a:spcAft>
                <a:spcPts val="0"/>
              </a:spcAft>
            </a:pPr>
            <a:r>
              <a:rPr sz="1100" b="0" i="0">
                <a:solidFill>
                  <a:srgbClr val="4A5568"/>
                </a:solidFill>
              </a:rPr>
              <a:t>arrays, inverter</a:t>
            </a:r>
          </a:p>
        </p:txBody>
      </p:sp>
      <p:cxnSp>
        <p:nvCxnSpPr>
          <p:cNvPr id="18" name="Connector 17"/>
          <p:cNvCxnSpPr/>
          <p:nvPr/>
        </p:nvCxnSpPr>
        <p:spPr>
          <a:xfrm>
            <a:off x="8028431" y="2898648"/>
            <a:ext cx="0" cy="301752"/>
          </a:xfrm>
          <a:prstGeom prst="line">
            <a:avLst/>
          </a:prstGeom>
          <a:ln w="19050">
            <a:solidFill>
              <a:srgbClr val="13233A"/>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97496" y="3200400"/>
            <a:ext cx="1261872" cy="868680"/>
          </a:xfrm>
          <a:prstGeom prst="roundRect">
            <a:avLst>
              <a:gd name="adj" fmla="val 12000"/>
            </a:avLst>
          </a:prstGeom>
          <a:solidFill>
            <a:srgbClr val="FBFB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2A78D6"/>
                </a:solidFill>
              </a:rPr>
              <a:t>Storage</a:t>
            </a:r>
          </a:p>
          <a:p>
            <a:pPr algn="ctr">
              <a:spcAft>
                <a:spcPts val="0"/>
              </a:spcAft>
            </a:pPr>
            <a:r>
              <a:rPr sz="1100" b="0" i="0">
                <a:solidFill>
                  <a:srgbClr val="4A5568"/>
                </a:solidFill>
              </a:rPr>
              <a:t>battery, supercap.</a:t>
            </a:r>
          </a:p>
        </p:txBody>
      </p:sp>
      <p:cxnSp>
        <p:nvCxnSpPr>
          <p:cNvPr id="20" name="Connector 19"/>
          <p:cNvCxnSpPr/>
          <p:nvPr/>
        </p:nvCxnSpPr>
        <p:spPr>
          <a:xfrm>
            <a:off x="9436607" y="2898648"/>
            <a:ext cx="0" cy="301752"/>
          </a:xfrm>
          <a:prstGeom prst="line">
            <a:avLst/>
          </a:prstGeom>
          <a:ln w="19050">
            <a:solidFill>
              <a:srgbClr val="13233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05672" y="3200400"/>
            <a:ext cx="1261872" cy="868680"/>
          </a:xfrm>
          <a:prstGeom prst="roundRect">
            <a:avLst>
              <a:gd name="adj" fmla="val 12000"/>
            </a:avLst>
          </a:prstGeom>
          <a:solidFill>
            <a:srgbClr val="FBFB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8A9AAB"/>
                </a:solidFill>
              </a:rPr>
              <a:t>Generators</a:t>
            </a:r>
          </a:p>
          <a:p>
            <a:pPr algn="ctr">
              <a:spcAft>
                <a:spcPts val="0"/>
              </a:spcAft>
            </a:pPr>
            <a:r>
              <a:rPr sz="1100" b="0" i="0">
                <a:solidFill>
                  <a:srgbClr val="4A5568"/>
                </a:solidFill>
              </a:rPr>
              <a:t>diesel, biogas</a:t>
            </a:r>
          </a:p>
        </p:txBody>
      </p:sp>
      <p:cxnSp>
        <p:nvCxnSpPr>
          <p:cNvPr id="22" name="Connector 21"/>
          <p:cNvCxnSpPr/>
          <p:nvPr/>
        </p:nvCxnSpPr>
        <p:spPr>
          <a:xfrm>
            <a:off x="10844783" y="2898648"/>
            <a:ext cx="0" cy="301752"/>
          </a:xfrm>
          <a:prstGeom prst="line">
            <a:avLst/>
          </a:prstGeom>
          <a:ln w="19050">
            <a:solidFill>
              <a:srgbClr val="13233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13847" y="3200400"/>
            <a:ext cx="1261872" cy="868680"/>
          </a:xfrm>
          <a:prstGeom prst="roundRect">
            <a:avLst>
              <a:gd name="adj" fmla="val 12000"/>
            </a:avLst>
          </a:prstGeom>
          <a:solidFill>
            <a:srgbClr val="FBFB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C86A0A"/>
                </a:solidFill>
              </a:rPr>
              <a:t>Loads</a:t>
            </a:r>
          </a:p>
          <a:p>
            <a:pPr algn="ctr">
              <a:spcAft>
                <a:spcPts val="0"/>
              </a:spcAft>
            </a:pPr>
            <a:r>
              <a:rPr sz="1100" b="0" i="0">
                <a:solidFill>
                  <a:srgbClr val="4A5568"/>
                </a:solidFill>
              </a:rPr>
              <a:t>labs, workshops</a:t>
            </a:r>
          </a:p>
        </p:txBody>
      </p:sp>
      <p:sp>
        <p:nvSpPr>
          <p:cNvPr id="24" name="Rounded Rectangle 23"/>
          <p:cNvSpPr/>
          <p:nvPr/>
        </p:nvSpPr>
        <p:spPr>
          <a:xfrm>
            <a:off x="5989320" y="4315968"/>
            <a:ext cx="5486400" cy="411480"/>
          </a:xfrm>
          <a:prstGeom prst="roundRect">
            <a:avLst>
              <a:gd name="adj" fmla="val 12000"/>
            </a:avLst>
          </a:prstGeom>
          <a:solidFill>
            <a:srgbClr val="FFFFFF"/>
          </a:solidFill>
          <a:ln w="12700">
            <a:solidFill>
              <a:srgbClr val="2E6F9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Energy management system: monitors and dispatches every unit</a:t>
            </a:r>
          </a:p>
        </p:txBody>
      </p:sp>
      <p:sp>
        <p:nvSpPr>
          <p:cNvPr id="25" name="Rounded Rectangle 24"/>
          <p:cNvSpPr/>
          <p:nvPr/>
        </p:nvSpPr>
        <p:spPr>
          <a:xfrm>
            <a:off x="609904" y="4919472"/>
            <a:ext cx="5349240" cy="118872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4496" y="5029200"/>
            <a:ext cx="5020055" cy="365760"/>
          </a:xfrm>
          <a:prstGeom prst="rect">
            <a:avLst/>
          </a:prstGeom>
          <a:noFill/>
        </p:spPr>
        <p:txBody>
          <a:bodyPr wrap="square" lIns="27432" rIns="27432" tIns="27432" bIns="27432" anchor="t"/>
          <a:lstStyle/>
          <a:p>
            <a:pPr algn="l">
              <a:spcAft>
                <a:spcPts val="400"/>
              </a:spcAft>
            </a:pPr>
            <a:r>
              <a:rPr sz="1400" b="1" i="0">
                <a:solidFill>
                  <a:srgbClr val="2E6F95"/>
                </a:solidFill>
              </a:rPr>
              <a:t>AC-coupled  ·  this project</a:t>
            </a:r>
          </a:p>
        </p:txBody>
      </p:sp>
      <p:sp>
        <p:nvSpPr>
          <p:cNvPr id="27" name="TextBox 26"/>
          <p:cNvSpPr txBox="1"/>
          <p:nvPr/>
        </p:nvSpPr>
        <p:spPr>
          <a:xfrm>
            <a:off x="774496" y="5440680"/>
            <a:ext cx="5020055" cy="594359"/>
          </a:xfrm>
          <a:prstGeom prst="rect">
            <a:avLst/>
          </a:prstGeom>
          <a:noFill/>
        </p:spPr>
        <p:txBody>
          <a:bodyPr wrap="square" lIns="27432" rIns="27432" tIns="27432" bIns="27432" anchor="t"/>
          <a:lstStyle/>
          <a:p>
            <a:pPr algn="l">
              <a:spcAft>
                <a:spcPts val="400"/>
              </a:spcAft>
            </a:pPr>
            <a:r>
              <a:rPr sz="1300" b="0" i="0">
                <a:solidFill>
                  <a:srgbClr val="4A5568"/>
                </a:solidFill>
              </a:rPr>
              <a:t>PV inverter and battery converter each feed an AC bus. Same topology as Kumar et al. (2018).</a:t>
            </a:r>
          </a:p>
        </p:txBody>
      </p:sp>
      <p:sp>
        <p:nvSpPr>
          <p:cNvPr id="28" name="Rounded Rectangle 27"/>
          <p:cNvSpPr/>
          <p:nvPr/>
        </p:nvSpPr>
        <p:spPr>
          <a:xfrm>
            <a:off x="6233464" y="4919472"/>
            <a:ext cx="5349240" cy="118872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8056" y="5029200"/>
            <a:ext cx="5020055" cy="365760"/>
          </a:xfrm>
          <a:prstGeom prst="rect">
            <a:avLst/>
          </a:prstGeom>
          <a:noFill/>
        </p:spPr>
        <p:txBody>
          <a:bodyPr wrap="square" lIns="27432" rIns="27432" tIns="27432" bIns="27432" anchor="t"/>
          <a:lstStyle/>
          <a:p>
            <a:pPr algn="l">
              <a:spcAft>
                <a:spcPts val="400"/>
              </a:spcAft>
            </a:pPr>
            <a:r>
              <a:rPr sz="1400" b="1" i="0">
                <a:solidFill>
                  <a:srgbClr val="13233A"/>
                </a:solidFill>
              </a:rPr>
              <a:t>DC-coupled</a:t>
            </a:r>
          </a:p>
        </p:txBody>
      </p:sp>
      <p:sp>
        <p:nvSpPr>
          <p:cNvPr id="30" name="TextBox 29"/>
          <p:cNvSpPr txBox="1"/>
          <p:nvPr/>
        </p:nvSpPr>
        <p:spPr>
          <a:xfrm>
            <a:off x="6398056" y="5440680"/>
            <a:ext cx="5020055" cy="594359"/>
          </a:xfrm>
          <a:prstGeom prst="rect">
            <a:avLst/>
          </a:prstGeom>
          <a:noFill/>
        </p:spPr>
        <p:txBody>
          <a:bodyPr wrap="square" lIns="27432" rIns="27432" tIns="27432" bIns="27432" anchor="t"/>
          <a:lstStyle/>
          <a:p>
            <a:pPr algn="l">
              <a:spcAft>
                <a:spcPts val="400"/>
              </a:spcAft>
            </a:pPr>
            <a:r>
              <a:rPr sz="1300" b="0" i="0">
                <a:solidFill>
                  <a:srgbClr val="4A5568"/>
                </a:solidFill>
              </a:rPr>
              <a:t>PV and batteries share a DC bus: fewer conversion stages, natural for storage and supercapacitors.</a:t>
            </a:r>
          </a:p>
        </p:txBody>
      </p:sp>
      <p:sp>
        <p:nvSpPr>
          <p:cNvPr id="31" name="TextBox 30"/>
          <p:cNvSpPr txBox="1"/>
          <p:nvPr/>
        </p:nvSpPr>
        <p:spPr>
          <a:xfrm>
            <a:off x="609904" y="6108192"/>
            <a:ext cx="10972800" cy="274320"/>
          </a:xfrm>
          <a:prstGeom prst="rect">
            <a:avLst/>
          </a:prstGeom>
          <a:noFill/>
        </p:spPr>
        <p:txBody>
          <a:bodyPr wrap="square" lIns="27432" rIns="27432" tIns="27432" bIns="27432" anchor="t"/>
          <a:lstStyle/>
          <a:p>
            <a:pPr algn="l">
              <a:spcAft>
                <a:spcPts val="400"/>
              </a:spcAft>
            </a:pPr>
            <a:r>
              <a:rPr sz="1000" b="0" i="1">
                <a:solidFill>
                  <a:srgbClr val="5F6B78"/>
                </a:solidFill>
              </a:rPr>
              <a:t>Lasseter (2002); Hatziargyriou et al. (2007); Dragičević et al. (2016).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INTRODUCTION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IIT Guwahati departmental electricity demand</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4 / 34</a:t>
            </a:r>
          </a:p>
        </p:txBody>
      </p:sp>
      <p:pic>
        <p:nvPicPr>
          <p:cNvPr id="9" name="load_departments" descr="Project figure load_departments.png: load departments"/>
          <p:cNvPicPr>
            <a:picLocks noChangeAspect="1"/>
          </p:cNvPicPr>
          <p:nvPr/>
        </p:nvPicPr>
        <p:blipFill>
          <a:blip r:embed="rId2"/>
          <a:stretch>
            <a:fillRect/>
          </a:stretch>
        </p:blipFill>
        <p:spPr>
          <a:xfrm>
            <a:off x="609904" y="1261872"/>
            <a:ext cx="7818120" cy="2736342"/>
          </a:xfrm>
          <a:prstGeom prst="rect">
            <a:avLst/>
          </a:prstGeom>
          <a:ln w="9525">
            <a:solidFill>
              <a:srgbClr val="D5DBE1"/>
            </a:solidFill>
          </a:ln>
        </p:spPr>
      </p:pic>
      <p:sp>
        <p:nvSpPr>
          <p:cNvPr id="10" name="TextBox 9"/>
          <p:cNvSpPr txBox="1"/>
          <p:nvPr/>
        </p:nvSpPr>
        <p:spPr>
          <a:xfrm>
            <a:off x="609904" y="4043934"/>
            <a:ext cx="7818120" cy="274320"/>
          </a:xfrm>
          <a:prstGeom prst="rect">
            <a:avLst/>
          </a:prstGeom>
          <a:noFill/>
        </p:spPr>
        <p:txBody>
          <a:bodyPr wrap="square" lIns="27432" rIns="27432" tIns="27432" bIns="27432" anchor="t"/>
          <a:lstStyle/>
          <a:p>
            <a:pPr algn="l">
              <a:spcAft>
                <a:spcPts val="400"/>
              </a:spcAft>
            </a:pPr>
            <a:r>
              <a:rPr sz="1100" b="0" i="1">
                <a:solidFill>
                  <a:srgbClr val="5F6B78"/>
                </a:solidFill>
              </a:rPr>
              <a:t>Average weekday by department, and monthly energy (dips = vacations). Source: prepare_data.py.</a:t>
            </a:r>
          </a:p>
        </p:txBody>
      </p:sp>
      <p:sp>
        <p:nvSpPr>
          <p:cNvPr id="11" name="Rounded Rectangle 10"/>
          <p:cNvSpPr/>
          <p:nvPr/>
        </p:nvSpPr>
        <p:spPr>
          <a:xfrm>
            <a:off x="8641080" y="1261872"/>
            <a:ext cx="2944368" cy="89611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1335024"/>
            <a:ext cx="2670048" cy="492861"/>
          </a:xfrm>
          <a:prstGeom prst="rect">
            <a:avLst/>
          </a:prstGeom>
          <a:noFill/>
        </p:spPr>
        <p:txBody>
          <a:bodyPr wrap="square" lIns="27432" rIns="27432" tIns="27432" bIns="27432" anchor="b"/>
          <a:lstStyle/>
          <a:p>
            <a:pPr algn="l">
              <a:spcAft>
                <a:spcPts val="400"/>
              </a:spcAft>
            </a:pPr>
            <a:r>
              <a:rPr sz="2600" b="1" i="0">
                <a:solidFill>
                  <a:srgbClr val="C86A0A"/>
                </a:solidFill>
              </a:rPr>
              <a:t>3,267 MWh</a:t>
            </a:r>
          </a:p>
        </p:txBody>
      </p:sp>
      <p:sp>
        <p:nvSpPr>
          <p:cNvPr id="13" name="TextBox 12"/>
          <p:cNvSpPr txBox="1"/>
          <p:nvPr/>
        </p:nvSpPr>
        <p:spPr>
          <a:xfrm>
            <a:off x="8778240" y="1781616"/>
            <a:ext cx="2670048" cy="358444"/>
          </a:xfrm>
          <a:prstGeom prst="rect">
            <a:avLst/>
          </a:prstGeom>
          <a:noFill/>
        </p:spPr>
        <p:txBody>
          <a:bodyPr wrap="square" lIns="27432" rIns="27432" tIns="27432" bIns="27432" anchor="t"/>
          <a:lstStyle/>
          <a:p>
            <a:pPr algn="l">
              <a:spcAft>
                <a:spcPts val="400"/>
              </a:spcAft>
            </a:pPr>
            <a:r>
              <a:rPr sz="1200" b="0" i="0">
                <a:solidFill>
                  <a:srgbClr val="4A5568"/>
                </a:solidFill>
              </a:rPr>
              <a:t>annual demand</a:t>
            </a:r>
          </a:p>
        </p:txBody>
      </p:sp>
      <p:sp>
        <p:nvSpPr>
          <p:cNvPr id="14" name="Rounded Rectangle 13"/>
          <p:cNvSpPr/>
          <p:nvPr/>
        </p:nvSpPr>
        <p:spPr>
          <a:xfrm>
            <a:off x="8641080" y="2267712"/>
            <a:ext cx="2944368" cy="89611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2340864"/>
            <a:ext cx="2670048" cy="492861"/>
          </a:xfrm>
          <a:prstGeom prst="rect">
            <a:avLst/>
          </a:prstGeom>
          <a:noFill/>
        </p:spPr>
        <p:txBody>
          <a:bodyPr wrap="square" lIns="27432" rIns="27432" tIns="27432" bIns="27432" anchor="b"/>
          <a:lstStyle/>
          <a:p>
            <a:pPr algn="l">
              <a:spcAft>
                <a:spcPts val="400"/>
              </a:spcAft>
            </a:pPr>
            <a:r>
              <a:rPr sz="2600" b="1" i="0">
                <a:solidFill>
                  <a:srgbClr val="C86A0A"/>
                </a:solidFill>
              </a:rPr>
              <a:t>644 kW</a:t>
            </a:r>
          </a:p>
        </p:txBody>
      </p:sp>
      <p:sp>
        <p:nvSpPr>
          <p:cNvPr id="16" name="TextBox 15"/>
          <p:cNvSpPr txBox="1"/>
          <p:nvPr/>
        </p:nvSpPr>
        <p:spPr>
          <a:xfrm>
            <a:off x="8778240" y="2787456"/>
            <a:ext cx="2670048" cy="358444"/>
          </a:xfrm>
          <a:prstGeom prst="rect">
            <a:avLst/>
          </a:prstGeom>
          <a:noFill/>
        </p:spPr>
        <p:txBody>
          <a:bodyPr wrap="square" lIns="27432" rIns="27432" tIns="27432" bIns="27432" anchor="t"/>
          <a:lstStyle/>
          <a:p>
            <a:pPr algn="l">
              <a:spcAft>
                <a:spcPts val="400"/>
              </a:spcAft>
            </a:pPr>
            <a:r>
              <a:rPr sz="1200" b="0" i="0">
                <a:solidFill>
                  <a:srgbClr val="4A5568"/>
                </a:solidFill>
              </a:rPr>
              <a:t>peak demand</a:t>
            </a:r>
          </a:p>
        </p:txBody>
      </p:sp>
      <p:sp>
        <p:nvSpPr>
          <p:cNvPr id="17" name="Rounded Rectangle 16"/>
          <p:cNvSpPr/>
          <p:nvPr/>
        </p:nvSpPr>
        <p:spPr>
          <a:xfrm>
            <a:off x="8641080" y="3273552"/>
            <a:ext cx="2944368" cy="89611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0" y="3346704"/>
            <a:ext cx="2670048" cy="492861"/>
          </a:xfrm>
          <a:prstGeom prst="rect">
            <a:avLst/>
          </a:prstGeom>
          <a:noFill/>
        </p:spPr>
        <p:txBody>
          <a:bodyPr wrap="square" lIns="27432" rIns="27432" tIns="27432" bIns="27432" anchor="b"/>
          <a:lstStyle/>
          <a:p>
            <a:pPr algn="l">
              <a:spcAft>
                <a:spcPts val="400"/>
              </a:spcAft>
            </a:pPr>
            <a:r>
              <a:rPr sz="2600" b="1" i="0">
                <a:solidFill>
                  <a:srgbClr val="C86A0A"/>
                </a:solidFill>
              </a:rPr>
              <a:t>0.58</a:t>
            </a:r>
          </a:p>
        </p:txBody>
      </p:sp>
      <p:sp>
        <p:nvSpPr>
          <p:cNvPr id="19" name="TextBox 18"/>
          <p:cNvSpPr txBox="1"/>
          <p:nvPr/>
        </p:nvSpPr>
        <p:spPr>
          <a:xfrm>
            <a:off x="8778240" y="3793296"/>
            <a:ext cx="2670048" cy="358444"/>
          </a:xfrm>
          <a:prstGeom prst="rect">
            <a:avLst/>
          </a:prstGeom>
          <a:noFill/>
        </p:spPr>
        <p:txBody>
          <a:bodyPr wrap="square" lIns="27432" rIns="27432" tIns="27432" bIns="27432" anchor="t"/>
          <a:lstStyle/>
          <a:p>
            <a:pPr algn="l">
              <a:spcAft>
                <a:spcPts val="400"/>
              </a:spcAft>
            </a:pPr>
            <a:r>
              <a:rPr sz="1200" b="0" i="0">
                <a:solidFill>
                  <a:srgbClr val="4A5568"/>
                </a:solidFill>
              </a:rPr>
              <a:t>load factor (mean / peak)</a:t>
            </a:r>
          </a:p>
        </p:txBody>
      </p:sp>
      <p:sp>
        <p:nvSpPr>
          <p:cNvPr id="20" name="Rounded Rectangle 19"/>
          <p:cNvSpPr/>
          <p:nvPr/>
        </p:nvSpPr>
        <p:spPr>
          <a:xfrm>
            <a:off x="609904" y="4572000"/>
            <a:ext cx="10972800" cy="1572768"/>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4496" y="4681728"/>
            <a:ext cx="10643616" cy="365760"/>
          </a:xfrm>
          <a:prstGeom prst="rect">
            <a:avLst/>
          </a:prstGeom>
          <a:noFill/>
        </p:spPr>
        <p:txBody>
          <a:bodyPr wrap="square" lIns="27432" rIns="27432" tIns="27432" bIns="27432" anchor="t"/>
          <a:lstStyle/>
          <a:p>
            <a:pPr algn="l">
              <a:spcAft>
                <a:spcPts val="400"/>
              </a:spcAft>
            </a:pPr>
            <a:r>
              <a:rPr sz="1400" b="1" i="0">
                <a:solidFill>
                  <a:srgbClr val="13233A"/>
                </a:solidFill>
              </a:rPr>
              <a:t>How the hourly load was built  ·  assumption, not metered data</a:t>
            </a:r>
          </a:p>
        </p:txBody>
      </p:sp>
      <p:sp>
        <p:nvSpPr>
          <p:cNvPr id="22" name="TextBox 21"/>
          <p:cNvSpPr txBox="1"/>
          <p:nvPr/>
        </p:nvSpPr>
        <p:spPr>
          <a:xfrm>
            <a:off x="774496" y="5093208"/>
            <a:ext cx="10643616" cy="978407"/>
          </a:xfrm>
          <a:prstGeom prst="rect">
            <a:avLst/>
          </a:prstGeom>
          <a:noFill/>
        </p:spPr>
        <p:txBody>
          <a:bodyPr wrap="square" lIns="27432" rIns="27432" tIns="27432" bIns="27432" anchor="t"/>
          <a:lstStyle/>
          <a:p>
            <a:pPr algn="l" marL="201168" indent="-182880">
              <a:spcAft>
                <a:spcPts val="400"/>
              </a:spcAft>
              <a:buChar char="•"/>
            </a:pPr>
            <a:r>
              <a:rPr sz="1300" b="0" i="0">
                <a:solidFill>
                  <a:srgbClr val="4A5568"/>
                </a:solidFill>
              </a:rPr>
              <a:t>Equipment inventory per department → rated kW × duty × operating hours → weekday and two-vacation calendar → hourly profile, calibrated against campus statistics (Kumar et al. 2018).</a:t>
            </a:r>
          </a:p>
          <a:p>
            <a:pPr algn="l" marL="201168" indent="-182880">
              <a:spcAft>
                <a:spcPts val="400"/>
              </a:spcAft>
              <a:buChar char="•"/>
            </a:pPr>
            <a:r>
              <a:rPr sz="1300" b="0" i="0">
                <a:solidFill>
                  <a:srgbClr val="4A5568"/>
                </a:solidFill>
              </a:rPr>
              <a:t>Mechanical + Workshop 1,702 MWh (52 %) · Electronics + Electrical 1,565 MWh (48 %). Power ratings are engineering estimates.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INTRODUCTION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Solar resource and why storage is needed</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5 / 34</a:t>
            </a:r>
          </a:p>
        </p:txBody>
      </p:sp>
      <p:pic>
        <p:nvPicPr>
          <p:cNvPr id="9" name="solar_resource" descr="Project figure solar_resource.png: solar resource"/>
          <p:cNvPicPr>
            <a:picLocks noChangeAspect="1"/>
          </p:cNvPicPr>
          <p:nvPr/>
        </p:nvPicPr>
        <p:blipFill>
          <a:blip r:embed="rId2"/>
          <a:stretch>
            <a:fillRect/>
          </a:stretch>
        </p:blipFill>
        <p:spPr>
          <a:xfrm>
            <a:off x="609904" y="1261872"/>
            <a:ext cx="5394960" cy="1798320"/>
          </a:xfrm>
          <a:prstGeom prst="rect">
            <a:avLst/>
          </a:prstGeom>
          <a:ln w="9525">
            <a:solidFill>
              <a:srgbClr val="D5DBE1"/>
            </a:solidFill>
          </a:ln>
        </p:spPr>
      </p:pic>
      <p:pic>
        <p:nvPicPr>
          <p:cNvPr id="10" name="load_worst_week" descr="Project figure load_worst_week.png: load worst week"/>
          <p:cNvPicPr>
            <a:picLocks noChangeAspect="1"/>
          </p:cNvPicPr>
          <p:nvPr/>
        </p:nvPicPr>
        <p:blipFill>
          <a:blip r:embed="rId3"/>
          <a:stretch>
            <a:fillRect/>
          </a:stretch>
        </p:blipFill>
        <p:spPr>
          <a:xfrm>
            <a:off x="6187744" y="1261872"/>
            <a:ext cx="5394960" cy="2059893"/>
          </a:xfrm>
          <a:prstGeom prst="rect">
            <a:avLst/>
          </a:prstGeom>
          <a:ln w="9525">
            <a:solidFill>
              <a:srgbClr val="D5DBE1"/>
            </a:solidFill>
          </a:ln>
        </p:spPr>
      </p:pic>
      <p:sp>
        <p:nvSpPr>
          <p:cNvPr id="11" name="TextBox 10"/>
          <p:cNvSpPr txBox="1"/>
          <p:nvPr/>
        </p:nvSpPr>
        <p:spPr>
          <a:xfrm>
            <a:off x="609904" y="3096768"/>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NASA POWER, 26.16 °N 91.77 °E, 2023.</a:t>
            </a:r>
          </a:p>
        </p:txBody>
      </p:sp>
      <p:sp>
        <p:nvSpPr>
          <p:cNvPr id="12" name="TextBox 11"/>
          <p:cNvSpPr txBox="1"/>
          <p:nvPr/>
        </p:nvSpPr>
        <p:spPr>
          <a:xfrm>
            <a:off x="6187744" y="3358341"/>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Worst week: PV (teal) against demand (amber).</a:t>
            </a:r>
          </a:p>
        </p:txBody>
      </p:sp>
      <p:sp>
        <p:nvSpPr>
          <p:cNvPr id="13" name="Rounded Rectangle 12"/>
          <p:cNvSpPr/>
          <p:nvPr/>
        </p:nvSpPr>
        <p:spPr>
          <a:xfrm>
            <a:off x="609904" y="4160520"/>
            <a:ext cx="3511296"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064" y="4233672"/>
            <a:ext cx="3236976" cy="578358"/>
          </a:xfrm>
          <a:prstGeom prst="rect">
            <a:avLst/>
          </a:prstGeom>
          <a:noFill/>
        </p:spPr>
        <p:txBody>
          <a:bodyPr wrap="square" lIns="27432" rIns="27432" tIns="27432" bIns="27432" anchor="b"/>
          <a:lstStyle/>
          <a:p>
            <a:pPr algn="l">
              <a:spcAft>
                <a:spcPts val="400"/>
              </a:spcAft>
            </a:pPr>
            <a:r>
              <a:rPr sz="2600" b="1" i="0">
                <a:solidFill>
                  <a:srgbClr val="1F7A72"/>
                </a:solidFill>
              </a:rPr>
              <a:t>1,639 kWh/m²</a:t>
            </a:r>
          </a:p>
        </p:txBody>
      </p:sp>
      <p:sp>
        <p:nvSpPr>
          <p:cNvPr id="15" name="TextBox 14"/>
          <p:cNvSpPr txBox="1"/>
          <p:nvPr/>
        </p:nvSpPr>
        <p:spPr>
          <a:xfrm>
            <a:off x="747064" y="4770424"/>
            <a:ext cx="3236976" cy="420623"/>
          </a:xfrm>
          <a:prstGeom prst="rect">
            <a:avLst/>
          </a:prstGeom>
          <a:noFill/>
        </p:spPr>
        <p:txBody>
          <a:bodyPr wrap="square" lIns="27432" rIns="27432" tIns="27432" bIns="27432" anchor="t"/>
          <a:lstStyle/>
          <a:p>
            <a:pPr algn="l">
              <a:spcAft>
                <a:spcPts val="400"/>
              </a:spcAft>
            </a:pPr>
            <a:r>
              <a:rPr sz="1200" b="0" i="0">
                <a:solidFill>
                  <a:srgbClr val="4A5568"/>
                </a:solidFill>
              </a:rPr>
              <a:t>global horizontal irradiation, 2023</a:t>
            </a:r>
          </a:p>
        </p:txBody>
      </p:sp>
      <p:sp>
        <p:nvSpPr>
          <p:cNvPr id="16" name="Rounded Rectangle 15"/>
          <p:cNvSpPr/>
          <p:nvPr/>
        </p:nvSpPr>
        <p:spPr>
          <a:xfrm>
            <a:off x="4340656" y="4160520"/>
            <a:ext cx="3511296"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7816" y="4233672"/>
            <a:ext cx="3236976" cy="578358"/>
          </a:xfrm>
          <a:prstGeom prst="rect">
            <a:avLst/>
          </a:prstGeom>
          <a:noFill/>
        </p:spPr>
        <p:txBody>
          <a:bodyPr wrap="square" lIns="27432" rIns="27432" tIns="27432" bIns="27432" anchor="b"/>
          <a:lstStyle/>
          <a:p>
            <a:pPr algn="l">
              <a:spcAft>
                <a:spcPts val="400"/>
              </a:spcAft>
            </a:pPr>
            <a:r>
              <a:rPr sz="2600" b="1" i="0">
                <a:solidFill>
                  <a:srgbClr val="1F7A72"/>
                </a:solidFill>
              </a:rPr>
              <a:t>12 / 12</a:t>
            </a:r>
          </a:p>
        </p:txBody>
      </p:sp>
      <p:sp>
        <p:nvSpPr>
          <p:cNvPr id="18" name="TextBox 17"/>
          <p:cNvSpPr txBox="1"/>
          <p:nvPr/>
        </p:nvSpPr>
        <p:spPr>
          <a:xfrm>
            <a:off x="4477816" y="4770424"/>
            <a:ext cx="3236976" cy="420623"/>
          </a:xfrm>
          <a:prstGeom prst="rect">
            <a:avLst/>
          </a:prstGeom>
          <a:noFill/>
        </p:spPr>
        <p:txBody>
          <a:bodyPr wrap="square" lIns="27432" rIns="27432" tIns="27432" bIns="27432" anchor="t"/>
          <a:lstStyle/>
          <a:p>
            <a:pPr algn="l">
              <a:spcAft>
                <a:spcPts val="400"/>
              </a:spcAft>
            </a:pPr>
            <a:r>
              <a:rPr sz="1200" b="0" i="0">
                <a:solidFill>
                  <a:srgbClr val="4A5568"/>
                </a:solidFill>
              </a:rPr>
              <a:t>months in which PV energy exceeds demand</a:t>
            </a:r>
          </a:p>
        </p:txBody>
      </p:sp>
      <p:sp>
        <p:nvSpPr>
          <p:cNvPr id="19" name="Rounded Rectangle 18"/>
          <p:cNvSpPr/>
          <p:nvPr/>
        </p:nvSpPr>
        <p:spPr>
          <a:xfrm>
            <a:off x="8071408" y="4160520"/>
            <a:ext cx="3511296"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8568" y="4233672"/>
            <a:ext cx="3236976" cy="578358"/>
          </a:xfrm>
          <a:prstGeom prst="rect">
            <a:avLst/>
          </a:prstGeom>
          <a:noFill/>
        </p:spPr>
        <p:txBody>
          <a:bodyPr wrap="square" lIns="27432" rIns="27432" tIns="27432" bIns="27432" anchor="b"/>
          <a:lstStyle/>
          <a:p>
            <a:pPr algn="l">
              <a:spcAft>
                <a:spcPts val="400"/>
              </a:spcAft>
            </a:pPr>
            <a:r>
              <a:rPr sz="2600" b="1" i="0">
                <a:solidFill>
                  <a:srgbClr val="E34948"/>
                </a:solidFill>
              </a:rPr>
              <a:t>3 days</a:t>
            </a:r>
          </a:p>
        </p:txBody>
      </p:sp>
      <p:sp>
        <p:nvSpPr>
          <p:cNvPr id="21" name="TextBox 20"/>
          <p:cNvSpPr txBox="1"/>
          <p:nvPr/>
        </p:nvSpPr>
        <p:spPr>
          <a:xfrm>
            <a:off x="8208568" y="4770424"/>
            <a:ext cx="3236976" cy="420623"/>
          </a:xfrm>
          <a:prstGeom prst="rect">
            <a:avLst/>
          </a:prstGeom>
          <a:noFill/>
        </p:spPr>
        <p:txBody>
          <a:bodyPr wrap="square" lIns="27432" rIns="27432" tIns="27432" bIns="27432" anchor="t"/>
          <a:lstStyle/>
          <a:p>
            <a:pPr algn="l">
              <a:spcAft>
                <a:spcPts val="400"/>
              </a:spcAft>
            </a:pPr>
            <a:r>
              <a:rPr sz="1200" b="0" i="0">
                <a:solidFill>
                  <a:srgbClr val="4A5568"/>
                </a:solidFill>
              </a:rPr>
              <a:t>dull spell, ≈13.7 MWh short: this sizes the battery</a:t>
            </a:r>
          </a:p>
        </p:txBody>
      </p:sp>
      <p:sp>
        <p:nvSpPr>
          <p:cNvPr id="22" name="Rounded Rectangle 21"/>
          <p:cNvSpPr/>
          <p:nvPr/>
        </p:nvSpPr>
        <p:spPr>
          <a:xfrm>
            <a:off x="609904" y="5440680"/>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784" y="5440680"/>
            <a:ext cx="10607040" cy="566928"/>
          </a:xfrm>
          <a:prstGeom prst="rect">
            <a:avLst/>
          </a:prstGeom>
          <a:noFill/>
        </p:spPr>
        <p:txBody>
          <a:bodyPr wrap="square" lIns="27432" rIns="27432" tIns="27432" bIns="27432" anchor="ctr"/>
          <a:lstStyle/>
          <a:p>
            <a:pPr algn="l">
              <a:spcAft>
                <a:spcPts val="400"/>
              </a:spcAft>
            </a:pPr>
            <a:r>
              <a:rPr sz="1400" b="1" i="0">
                <a:solidFill>
                  <a:srgbClr val="E8A33D"/>
                </a:solidFill>
              </a:rPr>
              <a:t>Takeaway  </a:t>
            </a:r>
            <a:r>
              <a:rPr sz="1400" b="0" i="0">
                <a:solidFill>
                  <a:srgbClr val="FFFFFF"/>
                </a:solidFill>
              </a:rPr>
              <a:t>Storage is needed for nights and multi-day cloudy spells, not for seasons.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INTRODUCTION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Research motivation and objectives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6 / 34</a:t>
            </a:r>
          </a:p>
        </p:txBody>
      </p:sp>
      <p:sp>
        <p:nvSpPr>
          <p:cNvPr id="9" name="Oval 8"/>
          <p:cNvSpPr/>
          <p:nvPr/>
        </p:nvSpPr>
        <p:spPr>
          <a:xfrm>
            <a:off x="609904" y="1353312"/>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9984" y="1298448"/>
            <a:ext cx="4754880" cy="320040"/>
          </a:xfrm>
          <a:prstGeom prst="rect">
            <a:avLst/>
          </a:prstGeom>
          <a:noFill/>
        </p:spPr>
        <p:txBody>
          <a:bodyPr wrap="square" lIns="27432" rIns="27432" tIns="27432" bIns="27432" anchor="t"/>
          <a:lstStyle/>
          <a:p>
            <a:pPr algn="l">
              <a:spcAft>
                <a:spcPts val="400"/>
              </a:spcAft>
            </a:pPr>
            <a:r>
              <a:rPr sz="1600" b="1" i="0">
                <a:solidFill>
                  <a:srgbClr val="13233A"/>
                </a:solidFill>
              </a:rPr>
              <a:t>Cost</a:t>
            </a:r>
          </a:p>
        </p:txBody>
      </p:sp>
      <p:sp>
        <p:nvSpPr>
          <p:cNvPr id="11" name="TextBox 10"/>
          <p:cNvSpPr txBox="1"/>
          <p:nvPr/>
        </p:nvSpPr>
        <p:spPr>
          <a:xfrm>
            <a:off x="1249984" y="1627631"/>
            <a:ext cx="4754880" cy="640080"/>
          </a:xfrm>
          <a:prstGeom prst="rect">
            <a:avLst/>
          </a:prstGeom>
          <a:noFill/>
        </p:spPr>
        <p:txBody>
          <a:bodyPr wrap="square" lIns="27432" rIns="27432" tIns="27432" bIns="27432" anchor="t"/>
          <a:lstStyle/>
          <a:p>
            <a:pPr algn="l">
              <a:spcAft>
                <a:spcPts val="400"/>
              </a:spcAft>
            </a:pPr>
            <a:r>
              <a:rPr sz="1300" b="0" i="0">
                <a:solidFill>
                  <a:srgbClr val="4A5568"/>
                </a:solidFill>
              </a:rPr>
              <a:t>PV is cheap per kWh but only produces in daylight; batteries and replacements dominate later costs.</a:t>
            </a:r>
          </a:p>
        </p:txBody>
      </p:sp>
      <p:sp>
        <p:nvSpPr>
          <p:cNvPr id="12" name="Oval 11"/>
          <p:cNvSpPr/>
          <p:nvPr/>
        </p:nvSpPr>
        <p:spPr>
          <a:xfrm>
            <a:off x="609904" y="2340864"/>
            <a:ext cx="457200" cy="457200"/>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9984" y="2286000"/>
            <a:ext cx="4754880" cy="320040"/>
          </a:xfrm>
          <a:prstGeom prst="rect">
            <a:avLst/>
          </a:prstGeom>
          <a:noFill/>
        </p:spPr>
        <p:txBody>
          <a:bodyPr wrap="square" lIns="27432" rIns="27432" tIns="27432" bIns="27432" anchor="t"/>
          <a:lstStyle/>
          <a:p>
            <a:pPr algn="l">
              <a:spcAft>
                <a:spcPts val="400"/>
              </a:spcAft>
            </a:pPr>
            <a:r>
              <a:rPr sz="1600" b="1" i="0">
                <a:solidFill>
                  <a:srgbClr val="13233A"/>
                </a:solidFill>
              </a:rPr>
              <a:t>Reliability</a:t>
            </a:r>
          </a:p>
        </p:txBody>
      </p:sp>
      <p:sp>
        <p:nvSpPr>
          <p:cNvPr id="14" name="TextBox 13"/>
          <p:cNvSpPr txBox="1"/>
          <p:nvPr/>
        </p:nvSpPr>
        <p:spPr>
          <a:xfrm>
            <a:off x="1249984" y="2615184"/>
            <a:ext cx="4754880" cy="640080"/>
          </a:xfrm>
          <a:prstGeom prst="rect">
            <a:avLst/>
          </a:prstGeom>
          <a:noFill/>
        </p:spPr>
        <p:txBody>
          <a:bodyPr wrap="square" lIns="27432" rIns="27432" tIns="27432" bIns="27432" anchor="t"/>
          <a:lstStyle/>
          <a:p>
            <a:pPr algn="l">
              <a:spcAft>
                <a:spcPts val="400"/>
              </a:spcAft>
            </a:pPr>
            <a:r>
              <a:rPr sz="1300" b="0" i="0">
                <a:solidFill>
                  <a:srgbClr val="4A5568"/>
                </a:solidFill>
              </a:rPr>
              <a:t>Each step towards zero unmet demand needs more storage and PV, at a rising price.</a:t>
            </a:r>
          </a:p>
        </p:txBody>
      </p:sp>
      <p:sp>
        <p:nvSpPr>
          <p:cNvPr id="15" name="Oval 14"/>
          <p:cNvSpPr/>
          <p:nvPr/>
        </p:nvSpPr>
        <p:spPr>
          <a:xfrm>
            <a:off x="609904" y="3328416"/>
            <a:ext cx="457200" cy="4572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49984" y="3273552"/>
            <a:ext cx="4754880" cy="320040"/>
          </a:xfrm>
          <a:prstGeom prst="rect">
            <a:avLst/>
          </a:prstGeom>
          <a:noFill/>
        </p:spPr>
        <p:txBody>
          <a:bodyPr wrap="square" lIns="27432" rIns="27432" tIns="27432" bIns="27432" anchor="t"/>
          <a:lstStyle/>
          <a:p>
            <a:pPr algn="l">
              <a:spcAft>
                <a:spcPts val="400"/>
              </a:spcAft>
            </a:pPr>
            <a:r>
              <a:rPr sz="1600" b="1" i="0">
                <a:solidFill>
                  <a:srgbClr val="13233A"/>
                </a:solidFill>
              </a:rPr>
              <a:t>Lifetime</a:t>
            </a:r>
          </a:p>
        </p:txBody>
      </p:sp>
      <p:sp>
        <p:nvSpPr>
          <p:cNvPr id="17" name="TextBox 16"/>
          <p:cNvSpPr txBox="1"/>
          <p:nvPr/>
        </p:nvSpPr>
        <p:spPr>
          <a:xfrm>
            <a:off x="1249984" y="3602736"/>
            <a:ext cx="4754880" cy="640080"/>
          </a:xfrm>
          <a:prstGeom prst="rect">
            <a:avLst/>
          </a:prstGeom>
          <a:noFill/>
        </p:spPr>
        <p:txBody>
          <a:bodyPr wrap="square" lIns="27432" rIns="27432" tIns="27432" bIns="27432" anchor="t"/>
          <a:lstStyle/>
          <a:p>
            <a:pPr algn="l">
              <a:spcAft>
                <a:spcPts val="400"/>
              </a:spcAft>
            </a:pPr>
            <a:r>
              <a:rPr sz="1300" b="0" i="0">
                <a:solidFill>
                  <a:srgbClr val="4A5568"/>
                </a:solidFill>
              </a:rPr>
              <a:t>Batteries wear out within the 15-year horizon, so ageing has to be modelled, not assumed.</a:t>
            </a:r>
          </a:p>
        </p:txBody>
      </p:sp>
      <p:pic>
        <p:nvPicPr>
          <p:cNvPr id="18" name="pareto" descr="Project figure pareto.png: pareto"/>
          <p:cNvPicPr>
            <a:picLocks noChangeAspect="1"/>
          </p:cNvPicPr>
          <p:nvPr/>
        </p:nvPicPr>
        <p:blipFill>
          <a:blip r:embed="rId2"/>
          <a:stretch>
            <a:fillRect/>
          </a:stretch>
        </p:blipFill>
        <p:spPr>
          <a:xfrm>
            <a:off x="6451904" y="1261872"/>
            <a:ext cx="4958079" cy="2788920"/>
          </a:xfrm>
          <a:prstGeom prst="rect">
            <a:avLst/>
          </a:prstGeom>
          <a:ln w="9525">
            <a:solidFill>
              <a:srgbClr val="D5DBE1"/>
            </a:solidFill>
          </a:ln>
        </p:spPr>
      </p:pic>
      <p:sp>
        <p:nvSpPr>
          <p:cNvPr id="19" name="TextBox 18"/>
          <p:cNvSpPr txBox="1"/>
          <p:nvPr/>
        </p:nvSpPr>
        <p:spPr>
          <a:xfrm>
            <a:off x="6279184" y="4087368"/>
            <a:ext cx="5303520" cy="274320"/>
          </a:xfrm>
          <a:prstGeom prst="rect">
            <a:avLst/>
          </a:prstGeom>
          <a:noFill/>
        </p:spPr>
        <p:txBody>
          <a:bodyPr wrap="square" lIns="27432" rIns="27432" tIns="27432" bIns="27432" anchor="t"/>
          <a:lstStyle/>
          <a:p>
            <a:pPr algn="l">
              <a:spcAft>
                <a:spcPts val="400"/>
              </a:spcAft>
            </a:pPr>
            <a:r>
              <a:rPr sz="1100" b="0" i="1">
                <a:solidFill>
                  <a:srgbClr val="5F6B78"/>
                </a:solidFill>
              </a:rPr>
              <a:t>Cheapest design at each reliability level (grid sweep).</a:t>
            </a:r>
          </a:p>
        </p:txBody>
      </p:sp>
      <p:sp>
        <p:nvSpPr>
          <p:cNvPr id="20" name="Rounded Rectangle 19"/>
          <p:cNvSpPr/>
          <p:nvPr/>
        </p:nvSpPr>
        <p:spPr>
          <a:xfrm>
            <a:off x="609904" y="4434840"/>
            <a:ext cx="10972800" cy="1691640"/>
          </a:xfrm>
          <a:prstGeom prst="roundRect">
            <a:avLst>
              <a:gd name="adj" fmla="val 5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4496" y="4544568"/>
            <a:ext cx="10643616" cy="365760"/>
          </a:xfrm>
          <a:prstGeom prst="rect">
            <a:avLst/>
          </a:prstGeom>
          <a:noFill/>
        </p:spPr>
        <p:txBody>
          <a:bodyPr wrap="square" lIns="27432" rIns="27432" tIns="27432" bIns="27432" anchor="t"/>
          <a:lstStyle/>
          <a:p>
            <a:pPr algn="l">
              <a:spcAft>
                <a:spcPts val="400"/>
              </a:spcAft>
            </a:pPr>
            <a:r>
              <a:rPr sz="1500" b="1" i="0">
                <a:solidFill>
                  <a:srgbClr val="E8A33D"/>
                </a:solidFill>
              </a:rPr>
              <a:t>Objective</a:t>
            </a:r>
          </a:p>
        </p:txBody>
      </p:sp>
      <p:sp>
        <p:nvSpPr>
          <p:cNvPr id="22" name="TextBox 21"/>
          <p:cNvSpPr txBox="1"/>
          <p:nvPr/>
        </p:nvSpPr>
        <p:spPr>
          <a:xfrm>
            <a:off x="774496" y="4956048"/>
            <a:ext cx="10643616" cy="1097279"/>
          </a:xfrm>
          <a:prstGeom prst="rect">
            <a:avLst/>
          </a:prstGeom>
          <a:noFill/>
        </p:spPr>
        <p:txBody>
          <a:bodyPr wrap="square" lIns="27432" rIns="27432" tIns="27432" bIns="27432" anchor="t"/>
          <a:lstStyle/>
          <a:p>
            <a:pPr algn="l">
              <a:spcAft>
                <a:spcPts val="400"/>
              </a:spcAft>
            </a:pPr>
            <a:r>
              <a:rPr sz="1500" b="0" i="0">
                <a:solidFill>
                  <a:srgbClr val="FFFFFF"/>
                </a:solidFill>
              </a:rPr>
              <a:t>Find the least-cost PV–battery configuration that supplies both departments with </a:t>
            </a:r>
            <a:r>
              <a:rPr sz="1500" b="1" i="0">
                <a:solidFill>
                  <a:srgbClr val="E8A33D"/>
                </a:solidFill>
              </a:rPr>
              <a:t>unmet demand ≤ 1 %</a:t>
            </a:r>
            <a:r>
              <a:rPr sz="1500" b="0" i="0">
                <a:solidFill>
                  <a:srgbClr val="FFFFFF"/>
                </a:solidFill>
              </a:rPr>
              <a:t>, over a </a:t>
            </a:r>
            <a:r>
              <a:rPr sz="1500" b="1" i="0">
                <a:solidFill>
                  <a:srgbClr val="E8A33D"/>
                </a:solidFill>
              </a:rPr>
              <a:t>15-year lifecycle</a:t>
            </a:r>
            <a:r>
              <a:rPr sz="1500" b="0" i="0">
                <a:solidFill>
                  <a:srgbClr val="FFFFFF"/>
                </a:solidFill>
              </a:rPr>
              <a:t> — then test that answer against weather, demand growth, grid access, a supercapacitor and uncertain inputs.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LITERATURE REVIEW</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Research landscape</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7 / 34</a:t>
            </a:r>
          </a:p>
        </p:txBody>
      </p:sp>
      <p:cxnSp>
        <p:nvCxnSpPr>
          <p:cNvPr id="9" name="Connector 8"/>
          <p:cNvCxnSpPr/>
          <p:nvPr/>
        </p:nvCxnSpPr>
        <p:spPr>
          <a:xfrm>
            <a:off x="609904" y="3017520"/>
            <a:ext cx="10972800" cy="0"/>
          </a:xfrm>
          <a:prstGeom prst="line">
            <a:avLst/>
          </a:prstGeom>
          <a:ln w="31750">
            <a:solidFill>
              <a:srgbClr val="1323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85976" y="2907791"/>
            <a:ext cx="219456" cy="219456"/>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 y="132588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1995</a:t>
            </a:r>
          </a:p>
        </p:txBody>
      </p:sp>
      <p:sp>
        <p:nvSpPr>
          <p:cNvPr id="12" name="TextBox 11"/>
          <p:cNvSpPr txBox="1"/>
          <p:nvPr/>
        </p:nvSpPr>
        <p:spPr>
          <a:xfrm>
            <a:off x="646480" y="165506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Particle swarm optimisation</a:t>
            </a:r>
          </a:p>
        </p:txBody>
      </p:sp>
      <p:sp>
        <p:nvSpPr>
          <p:cNvPr id="13" name="TextBox 12"/>
          <p:cNvSpPr txBox="1"/>
          <p:nvPr/>
        </p:nvSpPr>
        <p:spPr>
          <a:xfrm>
            <a:off x="646480" y="228600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Kennedy &amp; Eberhart</a:t>
            </a:r>
          </a:p>
        </p:txBody>
      </p:sp>
      <p:cxnSp>
        <p:nvCxnSpPr>
          <p:cNvPr id="14" name="Connector 13"/>
          <p:cNvCxnSpPr/>
          <p:nvPr/>
        </p:nvCxnSpPr>
        <p:spPr>
          <a:xfrm flipV="1">
            <a:off x="1295704" y="2697480"/>
            <a:ext cx="0" cy="210311"/>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557576" y="2907791"/>
            <a:ext cx="219456" cy="219456"/>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18080" y="329184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1996</a:t>
            </a:r>
          </a:p>
        </p:txBody>
      </p:sp>
      <p:sp>
        <p:nvSpPr>
          <p:cNvPr id="17" name="TextBox 16"/>
          <p:cNvSpPr txBox="1"/>
          <p:nvPr/>
        </p:nvSpPr>
        <p:spPr>
          <a:xfrm>
            <a:off x="2018080" y="362102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LPSP-based PV–battery sizing</a:t>
            </a:r>
          </a:p>
        </p:txBody>
      </p:sp>
      <p:sp>
        <p:nvSpPr>
          <p:cNvPr id="18" name="TextBox 17"/>
          <p:cNvSpPr txBox="1"/>
          <p:nvPr/>
        </p:nvSpPr>
        <p:spPr>
          <a:xfrm>
            <a:off x="2018080" y="425196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Borowy &amp; Salameh</a:t>
            </a:r>
          </a:p>
        </p:txBody>
      </p:sp>
      <p:cxnSp>
        <p:nvCxnSpPr>
          <p:cNvPr id="19" name="Connector 18"/>
          <p:cNvCxnSpPr/>
          <p:nvPr/>
        </p:nvCxnSpPr>
        <p:spPr>
          <a:xfrm>
            <a:off x="2667304" y="3127248"/>
            <a:ext cx="0" cy="164592"/>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29176" y="2907791"/>
            <a:ext cx="219456" cy="219456"/>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9680" y="132588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2002</a:t>
            </a:r>
          </a:p>
        </p:txBody>
      </p:sp>
      <p:sp>
        <p:nvSpPr>
          <p:cNvPr id="22" name="TextBox 21"/>
          <p:cNvSpPr txBox="1"/>
          <p:nvPr/>
        </p:nvSpPr>
        <p:spPr>
          <a:xfrm>
            <a:off x="3389680" y="165506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The microgrid concept</a:t>
            </a:r>
          </a:p>
        </p:txBody>
      </p:sp>
      <p:sp>
        <p:nvSpPr>
          <p:cNvPr id="23" name="TextBox 22"/>
          <p:cNvSpPr txBox="1"/>
          <p:nvPr/>
        </p:nvSpPr>
        <p:spPr>
          <a:xfrm>
            <a:off x="3389680" y="228600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Lasseter</a:t>
            </a:r>
          </a:p>
        </p:txBody>
      </p:sp>
      <p:cxnSp>
        <p:nvCxnSpPr>
          <p:cNvPr id="24" name="Connector 23"/>
          <p:cNvCxnSpPr/>
          <p:nvPr/>
        </p:nvCxnSpPr>
        <p:spPr>
          <a:xfrm flipV="1">
            <a:off x="4038904" y="2697480"/>
            <a:ext cx="0" cy="210311"/>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300776" y="2907791"/>
            <a:ext cx="219456" cy="219456"/>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1280" y="329184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2006</a:t>
            </a:r>
          </a:p>
        </p:txBody>
      </p:sp>
      <p:sp>
        <p:nvSpPr>
          <p:cNvPr id="27" name="TextBox 26"/>
          <p:cNvSpPr txBox="1"/>
          <p:nvPr/>
        </p:nvSpPr>
        <p:spPr>
          <a:xfrm>
            <a:off x="4761280" y="362102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HOMER hourly techno-economics</a:t>
            </a:r>
          </a:p>
        </p:txBody>
      </p:sp>
      <p:sp>
        <p:nvSpPr>
          <p:cNvPr id="28" name="TextBox 27"/>
          <p:cNvSpPr txBox="1"/>
          <p:nvPr/>
        </p:nvSpPr>
        <p:spPr>
          <a:xfrm>
            <a:off x="4761280" y="425196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Lambert, Gilman, Lilienthal</a:t>
            </a:r>
          </a:p>
        </p:txBody>
      </p:sp>
      <p:cxnSp>
        <p:nvCxnSpPr>
          <p:cNvPr id="29" name="Connector 28"/>
          <p:cNvCxnSpPr/>
          <p:nvPr/>
        </p:nvCxnSpPr>
        <p:spPr>
          <a:xfrm>
            <a:off x="5410504" y="3127248"/>
            <a:ext cx="0" cy="164592"/>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6672376" y="2907791"/>
            <a:ext cx="219456" cy="219456"/>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32880" y="132588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2008</a:t>
            </a:r>
          </a:p>
        </p:txBody>
      </p:sp>
      <p:sp>
        <p:nvSpPr>
          <p:cNvPr id="32" name="TextBox 31"/>
          <p:cNvSpPr txBox="1"/>
          <p:nvPr/>
        </p:nvSpPr>
        <p:spPr>
          <a:xfrm>
            <a:off x="6132880" y="165506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GA + LPSP; multi-objective design</a:t>
            </a:r>
          </a:p>
        </p:txBody>
      </p:sp>
      <p:sp>
        <p:nvSpPr>
          <p:cNvPr id="33" name="TextBox 32"/>
          <p:cNvSpPr txBox="1"/>
          <p:nvPr/>
        </p:nvSpPr>
        <p:spPr>
          <a:xfrm>
            <a:off x="6132880" y="228600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Yang et al.; Dufo-López &amp; Bernal-Agustín</a:t>
            </a:r>
          </a:p>
        </p:txBody>
      </p:sp>
      <p:cxnSp>
        <p:nvCxnSpPr>
          <p:cNvPr id="34" name="Connector 33"/>
          <p:cNvCxnSpPr/>
          <p:nvPr/>
        </p:nvCxnSpPr>
        <p:spPr>
          <a:xfrm flipV="1">
            <a:off x="6782104" y="2697480"/>
            <a:ext cx="0" cy="210311"/>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043976" y="2907791"/>
            <a:ext cx="219456" cy="219456"/>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04480" y="329184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2016</a:t>
            </a:r>
          </a:p>
        </p:txBody>
      </p:sp>
      <p:sp>
        <p:nvSpPr>
          <p:cNvPr id="37" name="TextBox 36"/>
          <p:cNvSpPr txBox="1"/>
          <p:nvPr/>
        </p:nvSpPr>
        <p:spPr>
          <a:xfrm>
            <a:off x="7504480" y="362102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DC microgrid control review</a:t>
            </a:r>
          </a:p>
        </p:txBody>
      </p:sp>
      <p:sp>
        <p:nvSpPr>
          <p:cNvPr id="38" name="TextBox 37"/>
          <p:cNvSpPr txBox="1"/>
          <p:nvPr/>
        </p:nvSpPr>
        <p:spPr>
          <a:xfrm>
            <a:off x="7504480" y="425196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Dragičević et al.</a:t>
            </a:r>
          </a:p>
        </p:txBody>
      </p:sp>
      <p:cxnSp>
        <p:nvCxnSpPr>
          <p:cNvPr id="39" name="Connector 38"/>
          <p:cNvCxnSpPr/>
          <p:nvPr/>
        </p:nvCxnSpPr>
        <p:spPr>
          <a:xfrm>
            <a:off x="8153704" y="3127248"/>
            <a:ext cx="0" cy="164592"/>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9415576" y="2907791"/>
            <a:ext cx="219456" cy="219456"/>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76080" y="132588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2018</a:t>
            </a:r>
          </a:p>
        </p:txBody>
      </p:sp>
      <p:sp>
        <p:nvSpPr>
          <p:cNvPr id="42" name="TextBox 41"/>
          <p:cNvSpPr txBox="1"/>
          <p:nvPr/>
        </p:nvSpPr>
        <p:spPr>
          <a:xfrm>
            <a:off x="8876080" y="165506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Degradation from counted cycles</a:t>
            </a:r>
          </a:p>
        </p:txBody>
      </p:sp>
      <p:sp>
        <p:nvSpPr>
          <p:cNvPr id="43" name="TextBox 42"/>
          <p:cNvSpPr txBox="1"/>
          <p:nvPr/>
        </p:nvSpPr>
        <p:spPr>
          <a:xfrm>
            <a:off x="8876080" y="228600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Xu et al.</a:t>
            </a:r>
          </a:p>
        </p:txBody>
      </p:sp>
      <p:cxnSp>
        <p:nvCxnSpPr>
          <p:cNvPr id="44" name="Connector 43"/>
          <p:cNvCxnSpPr/>
          <p:nvPr/>
        </p:nvCxnSpPr>
        <p:spPr>
          <a:xfrm flipV="1">
            <a:off x="9525304" y="2697480"/>
            <a:ext cx="0" cy="210311"/>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0787176" y="2907791"/>
            <a:ext cx="219456" cy="21945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47680" y="3291840"/>
            <a:ext cx="1298448" cy="320040"/>
          </a:xfrm>
          <a:prstGeom prst="rect">
            <a:avLst/>
          </a:prstGeom>
          <a:noFill/>
        </p:spPr>
        <p:txBody>
          <a:bodyPr wrap="square" lIns="27432" rIns="27432" tIns="27432" bIns="27432" anchor="t"/>
          <a:lstStyle/>
          <a:p>
            <a:pPr algn="ctr">
              <a:spcAft>
                <a:spcPts val="400"/>
              </a:spcAft>
            </a:pPr>
            <a:r>
              <a:rPr sz="1600" b="1" i="0">
                <a:solidFill>
                  <a:srgbClr val="E8A33D"/>
                </a:solidFill>
              </a:rPr>
              <a:t>2018</a:t>
            </a:r>
          </a:p>
        </p:txBody>
      </p:sp>
      <p:sp>
        <p:nvSpPr>
          <p:cNvPr id="47" name="TextBox 46"/>
          <p:cNvSpPr txBox="1"/>
          <p:nvPr/>
        </p:nvSpPr>
        <p:spPr>
          <a:xfrm>
            <a:off x="10247680" y="3621024"/>
            <a:ext cx="1298448" cy="685800"/>
          </a:xfrm>
          <a:prstGeom prst="rect">
            <a:avLst/>
          </a:prstGeom>
          <a:noFill/>
        </p:spPr>
        <p:txBody>
          <a:bodyPr wrap="square" lIns="27432" rIns="27432" tIns="27432" bIns="27432" anchor="t"/>
          <a:lstStyle/>
          <a:p>
            <a:pPr algn="ctr">
              <a:spcAft>
                <a:spcPts val="400"/>
              </a:spcAft>
            </a:pPr>
            <a:r>
              <a:rPr sz="1200" b="1" i="0">
                <a:solidFill>
                  <a:srgbClr val="13233A"/>
                </a:solidFill>
              </a:rPr>
              <a:t>HOMER study of the IITG campus</a:t>
            </a:r>
          </a:p>
        </p:txBody>
      </p:sp>
      <p:sp>
        <p:nvSpPr>
          <p:cNvPr id="48" name="TextBox 47"/>
          <p:cNvSpPr txBox="1"/>
          <p:nvPr/>
        </p:nvSpPr>
        <p:spPr>
          <a:xfrm>
            <a:off x="10247680" y="4251960"/>
            <a:ext cx="1298448" cy="457200"/>
          </a:xfrm>
          <a:prstGeom prst="rect">
            <a:avLst/>
          </a:prstGeom>
          <a:noFill/>
        </p:spPr>
        <p:txBody>
          <a:bodyPr wrap="square" lIns="27432" rIns="27432" tIns="27432" bIns="27432" anchor="t"/>
          <a:lstStyle/>
          <a:p>
            <a:pPr algn="ctr">
              <a:spcAft>
                <a:spcPts val="400"/>
              </a:spcAft>
            </a:pPr>
            <a:r>
              <a:rPr sz="1000" b="0" i="1">
                <a:solidFill>
                  <a:srgbClr val="5F6B78"/>
                </a:solidFill>
              </a:rPr>
              <a:t>Kumar et al.</a:t>
            </a:r>
          </a:p>
        </p:txBody>
      </p:sp>
      <p:cxnSp>
        <p:nvCxnSpPr>
          <p:cNvPr id="49" name="Connector 48"/>
          <p:cNvCxnSpPr/>
          <p:nvPr/>
        </p:nvCxnSpPr>
        <p:spPr>
          <a:xfrm>
            <a:off x="10896904" y="3127248"/>
            <a:ext cx="0" cy="164592"/>
          </a:xfrm>
          <a:prstGeom prst="line">
            <a:avLst/>
          </a:prstGeom>
          <a:ln w="12700">
            <a:solidFill>
              <a:srgbClr val="D5DBE1"/>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609904" y="5029200"/>
            <a:ext cx="2048255" cy="548640"/>
          </a:xfrm>
          <a:prstGeom prst="roundRect">
            <a:avLst>
              <a:gd name="adj" fmla="val 12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Sizing for reliability</a:t>
            </a:r>
          </a:p>
        </p:txBody>
      </p:sp>
      <p:sp>
        <p:nvSpPr>
          <p:cNvPr id="51" name="Rounded Rectangle 50"/>
          <p:cNvSpPr/>
          <p:nvPr/>
        </p:nvSpPr>
        <p:spPr>
          <a:xfrm>
            <a:off x="2841040" y="5029200"/>
            <a:ext cx="2048255" cy="548640"/>
          </a:xfrm>
          <a:prstGeom prst="roundRect">
            <a:avLst>
              <a:gd name="adj" fmla="val 12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Lifecycle economics</a:t>
            </a:r>
          </a:p>
        </p:txBody>
      </p:sp>
      <p:sp>
        <p:nvSpPr>
          <p:cNvPr id="52" name="Rounded Rectangle 51"/>
          <p:cNvSpPr/>
          <p:nvPr/>
        </p:nvSpPr>
        <p:spPr>
          <a:xfrm>
            <a:off x="5072176" y="5029200"/>
            <a:ext cx="2048255" cy="548640"/>
          </a:xfrm>
          <a:prstGeom prst="roundRect">
            <a:avLst>
              <a:gd name="adj" fmla="val 12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Battery ageing</a:t>
            </a:r>
          </a:p>
        </p:txBody>
      </p:sp>
      <p:sp>
        <p:nvSpPr>
          <p:cNvPr id="53" name="Rounded Rectangle 52"/>
          <p:cNvSpPr/>
          <p:nvPr/>
        </p:nvSpPr>
        <p:spPr>
          <a:xfrm>
            <a:off x="7303312" y="5029200"/>
            <a:ext cx="2048255" cy="548640"/>
          </a:xfrm>
          <a:prstGeom prst="roundRect">
            <a:avLst>
              <a:gd name="adj" fmla="val 12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Weather and uncertainty</a:t>
            </a:r>
          </a:p>
        </p:txBody>
      </p:sp>
      <p:sp>
        <p:nvSpPr>
          <p:cNvPr id="54" name="Rounded Rectangle 53"/>
          <p:cNvSpPr/>
          <p:nvPr/>
        </p:nvSpPr>
        <p:spPr>
          <a:xfrm>
            <a:off x="9534448" y="5029200"/>
            <a:ext cx="2048255" cy="548640"/>
          </a:xfrm>
          <a:prstGeom prst="roundRect">
            <a:avLst>
              <a:gd name="adj" fmla="val 12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Metaheuristic search</a:t>
            </a:r>
          </a:p>
        </p:txBody>
      </p:sp>
      <p:sp>
        <p:nvSpPr>
          <p:cNvPr id="55" name="TextBox 54"/>
          <p:cNvSpPr txBox="1"/>
          <p:nvPr/>
        </p:nvSpPr>
        <p:spPr>
          <a:xfrm>
            <a:off x="609904" y="5669280"/>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Themes this project combines. Full references on the last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LITERATURE REVIEW</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Reference study: Kumar et al. (2018), IEEE Access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8 / 34</a:t>
            </a:r>
          </a:p>
        </p:txBody>
      </p:sp>
      <p:sp>
        <p:nvSpPr>
          <p:cNvPr id="9" name="Rounded Rectangle 8"/>
          <p:cNvSpPr/>
          <p:nvPr/>
        </p:nvSpPr>
        <p:spPr>
          <a:xfrm>
            <a:off x="609904" y="1280160"/>
            <a:ext cx="3511296" cy="274320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784" y="1389888"/>
            <a:ext cx="3145536" cy="365760"/>
          </a:xfrm>
          <a:prstGeom prst="rect">
            <a:avLst/>
          </a:prstGeom>
          <a:noFill/>
        </p:spPr>
        <p:txBody>
          <a:bodyPr wrap="square" lIns="27432" rIns="27432" tIns="27432" bIns="27432" anchor="t"/>
          <a:lstStyle/>
          <a:p>
            <a:pPr algn="l">
              <a:spcAft>
                <a:spcPts val="400"/>
              </a:spcAft>
            </a:pPr>
            <a:r>
              <a:rPr sz="1600" b="1" i="0">
                <a:solidFill>
                  <a:srgbClr val="2E6F95"/>
                </a:solidFill>
              </a:rPr>
              <a:t>What they did</a:t>
            </a:r>
          </a:p>
        </p:txBody>
      </p:sp>
      <p:sp>
        <p:nvSpPr>
          <p:cNvPr id="11" name="TextBox 10"/>
          <p:cNvSpPr txBox="1"/>
          <p:nvPr/>
        </p:nvSpPr>
        <p:spPr>
          <a:xfrm>
            <a:off x="792784" y="1828800"/>
            <a:ext cx="3145536" cy="2148840"/>
          </a:xfrm>
          <a:prstGeom prst="rect">
            <a:avLst/>
          </a:prstGeom>
          <a:noFill/>
        </p:spPr>
        <p:txBody>
          <a:bodyPr wrap="square" lIns="27432" rIns="27432" tIns="27432" bIns="27432" anchor="t"/>
          <a:lstStyle/>
          <a:p>
            <a:pPr algn="l" marL="201168" indent="-182880">
              <a:spcAft>
                <a:spcPts val="600"/>
              </a:spcAft>
              <a:buClr>
                <a:srgbClr val="2E6F95"/>
              </a:buClr>
              <a:buChar char="•"/>
            </a:pPr>
            <a:r>
              <a:rPr sz="1400" b="0" i="0">
                <a:solidFill>
                  <a:srgbClr val="4A5568"/>
                </a:solidFill>
              </a:rPr>
              <a:t>HOMER Pro, multi-year module</a:t>
            </a:r>
          </a:p>
          <a:p>
            <a:pPr algn="l" marL="201168" indent="-182880">
              <a:spcAft>
                <a:spcPts val="600"/>
              </a:spcAft>
              <a:buClr>
                <a:srgbClr val="2E6F95"/>
              </a:buClr>
              <a:buChar char="•"/>
            </a:pPr>
            <a:r>
              <a:rPr sz="1400" b="0" i="0">
                <a:solidFill>
                  <a:srgbClr val="4A5568"/>
                </a:solidFill>
              </a:rPr>
              <a:t>Whole IITG campus: peak 3,075 kW, ≈60,379 kWh/day</a:t>
            </a:r>
          </a:p>
          <a:p>
            <a:pPr algn="l" marL="201168" indent="-182880">
              <a:spcAft>
                <a:spcPts val="600"/>
              </a:spcAft>
              <a:buClr>
                <a:srgbClr val="2E6F95"/>
              </a:buClr>
              <a:buChar char="•"/>
            </a:pPr>
            <a:r>
              <a:rPr sz="1400" b="0" i="0">
                <a:solidFill>
                  <a:srgbClr val="4A5568"/>
                </a:solidFill>
              </a:rPr>
              <a:t>12 scenarios: PV, biogas, diesel, lead-acid, grid</a:t>
            </a:r>
          </a:p>
          <a:p>
            <a:pPr algn="l" marL="201168" indent="-182880">
              <a:spcAft>
                <a:spcPts val="600"/>
              </a:spcAft>
              <a:buClr>
                <a:srgbClr val="2E6F95"/>
              </a:buClr>
              <a:buChar char="•"/>
            </a:pPr>
            <a:r>
              <a:rPr sz="1400" b="0" i="0">
                <a:solidFill>
                  <a:srgbClr val="4A5568"/>
                </a:solidFill>
              </a:rPr>
              <a:t>10 % yearly load growth, 15-year project</a:t>
            </a:r>
          </a:p>
        </p:txBody>
      </p:sp>
      <p:sp>
        <p:nvSpPr>
          <p:cNvPr id="12" name="Rounded Rectangle 11"/>
          <p:cNvSpPr/>
          <p:nvPr/>
        </p:nvSpPr>
        <p:spPr>
          <a:xfrm>
            <a:off x="4340656" y="1280160"/>
            <a:ext cx="3511296" cy="274320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3536" y="1389888"/>
            <a:ext cx="3145536" cy="365760"/>
          </a:xfrm>
          <a:prstGeom prst="rect">
            <a:avLst/>
          </a:prstGeom>
          <a:noFill/>
        </p:spPr>
        <p:txBody>
          <a:bodyPr wrap="square" lIns="27432" rIns="27432" tIns="27432" bIns="27432" anchor="t"/>
          <a:lstStyle/>
          <a:p>
            <a:pPr algn="l">
              <a:spcAft>
                <a:spcPts val="400"/>
              </a:spcAft>
            </a:pPr>
            <a:r>
              <a:rPr sz="1600" b="1" i="0">
                <a:solidFill>
                  <a:srgbClr val="1F7A72"/>
                </a:solidFill>
              </a:rPr>
              <a:t>What this project takes</a:t>
            </a:r>
          </a:p>
        </p:txBody>
      </p:sp>
      <p:sp>
        <p:nvSpPr>
          <p:cNvPr id="14" name="TextBox 13"/>
          <p:cNvSpPr txBox="1"/>
          <p:nvPr/>
        </p:nvSpPr>
        <p:spPr>
          <a:xfrm>
            <a:off x="4523536" y="1828800"/>
            <a:ext cx="3145536" cy="2148840"/>
          </a:xfrm>
          <a:prstGeom prst="rect">
            <a:avLst/>
          </a:prstGeom>
          <a:noFill/>
        </p:spPr>
        <p:txBody>
          <a:bodyPr wrap="square" lIns="27432" rIns="27432" tIns="27432" bIns="27432" anchor="t"/>
          <a:lstStyle/>
          <a:p>
            <a:pPr algn="l" marL="201168" indent="-182880">
              <a:spcAft>
                <a:spcPts val="600"/>
              </a:spcAft>
              <a:buClr>
                <a:srgbClr val="1F7A72"/>
              </a:buClr>
              <a:buChar char="•"/>
            </a:pPr>
            <a:r>
              <a:rPr sz="1400" b="0" i="0">
                <a:solidFill>
                  <a:srgbClr val="4A5568"/>
                </a:solidFill>
              </a:rPr>
              <a:t>Component costs (Table 2) and economics</a:t>
            </a:r>
          </a:p>
          <a:p>
            <a:pPr algn="l" marL="201168" indent="-182880">
              <a:spcAft>
                <a:spcPts val="600"/>
              </a:spcAft>
              <a:buClr>
                <a:srgbClr val="1F7A72"/>
              </a:buClr>
              <a:buChar char="•"/>
            </a:pPr>
            <a:r>
              <a:rPr sz="1400" b="0" i="0">
                <a:solidFill>
                  <a:srgbClr val="4A5568"/>
                </a:solidFill>
              </a:rPr>
              <a:t>Discover 12VRE-3000TF-L lead-acid battery</a:t>
            </a:r>
          </a:p>
          <a:p>
            <a:pPr algn="l" marL="201168" indent="-182880">
              <a:spcAft>
                <a:spcPts val="600"/>
              </a:spcAft>
              <a:buClr>
                <a:srgbClr val="1F7A72"/>
              </a:buClr>
              <a:buChar char="•"/>
            </a:pPr>
            <a:r>
              <a:rPr sz="1400" b="0" i="0">
                <a:solidFill>
                  <a:srgbClr val="4A5568"/>
                </a:solidFill>
              </a:rPr>
              <a:t>PV model (eq. 3) and AC-coupled topology</a:t>
            </a:r>
          </a:p>
          <a:p>
            <a:pPr algn="l" marL="201168" indent="-182880">
              <a:spcAft>
                <a:spcPts val="600"/>
              </a:spcAft>
              <a:buClr>
                <a:srgbClr val="1F7A72"/>
              </a:buClr>
              <a:buChar char="•"/>
            </a:pPr>
            <a:r>
              <a:rPr sz="1400" b="0" i="0">
                <a:solidFill>
                  <a:srgbClr val="4A5568"/>
                </a:solidFill>
              </a:rPr>
              <a:t>Benchmarks for comparison</a:t>
            </a:r>
          </a:p>
        </p:txBody>
      </p:sp>
      <p:sp>
        <p:nvSpPr>
          <p:cNvPr id="15" name="Rounded Rectangle 14"/>
          <p:cNvSpPr/>
          <p:nvPr/>
        </p:nvSpPr>
        <p:spPr>
          <a:xfrm>
            <a:off x="8071408" y="1280160"/>
            <a:ext cx="3511296" cy="274320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4288" y="1389888"/>
            <a:ext cx="3145536" cy="365760"/>
          </a:xfrm>
          <a:prstGeom prst="rect">
            <a:avLst/>
          </a:prstGeom>
          <a:noFill/>
        </p:spPr>
        <p:txBody>
          <a:bodyPr wrap="square" lIns="27432" rIns="27432" tIns="27432" bIns="27432" anchor="t"/>
          <a:lstStyle/>
          <a:p>
            <a:pPr algn="l">
              <a:spcAft>
                <a:spcPts val="400"/>
              </a:spcAft>
            </a:pPr>
            <a:r>
              <a:rPr sz="1600" b="1" i="0">
                <a:solidFill>
                  <a:srgbClr val="E8A33D"/>
                </a:solidFill>
              </a:rPr>
              <a:t>What this project changes</a:t>
            </a:r>
          </a:p>
        </p:txBody>
      </p:sp>
      <p:sp>
        <p:nvSpPr>
          <p:cNvPr id="17" name="TextBox 16"/>
          <p:cNvSpPr txBox="1"/>
          <p:nvPr/>
        </p:nvSpPr>
        <p:spPr>
          <a:xfrm>
            <a:off x="8254288" y="1828800"/>
            <a:ext cx="3145536" cy="2148840"/>
          </a:xfrm>
          <a:prstGeom prst="rect">
            <a:avLst/>
          </a:prstGeom>
          <a:noFill/>
        </p:spPr>
        <p:txBody>
          <a:bodyPr wrap="square" lIns="27432" rIns="27432" tIns="27432" bIns="27432" anchor="t"/>
          <a:lstStyle/>
          <a:p>
            <a:pPr algn="l" marL="201168" indent="-182880">
              <a:spcAft>
                <a:spcPts val="600"/>
              </a:spcAft>
              <a:buClr>
                <a:srgbClr val="E8A33D"/>
              </a:buClr>
              <a:buChar char="•"/>
            </a:pPr>
            <a:r>
              <a:rPr sz="1400" b="0" i="0">
                <a:solidFill>
                  <a:srgbClr val="4A5568"/>
                </a:solidFill>
              </a:rPr>
              <a:t>Two departments, built bottom-up</a:t>
            </a:r>
          </a:p>
          <a:p>
            <a:pPr algn="l" marL="201168" indent="-182880">
              <a:spcAft>
                <a:spcPts val="600"/>
              </a:spcAft>
              <a:buClr>
                <a:srgbClr val="E8A33D"/>
              </a:buClr>
              <a:buChar char="•"/>
            </a:pPr>
            <a:r>
              <a:rPr sz="1400" b="0" i="0">
                <a:solidFill>
                  <a:srgbClr val="4A5568"/>
                </a:solidFill>
              </a:rPr>
              <a:t>Own Python simulator with 35 checks</a:t>
            </a:r>
          </a:p>
          <a:p>
            <a:pPr algn="l" marL="201168" indent="-182880">
              <a:spcAft>
                <a:spcPts val="600"/>
              </a:spcAft>
              <a:buClr>
                <a:srgbClr val="E8A33D"/>
              </a:buClr>
              <a:buChar char="•"/>
            </a:pPr>
            <a:r>
              <a:rPr sz="1400" b="0" i="0">
                <a:solidFill>
                  <a:srgbClr val="4A5568"/>
                </a:solidFill>
              </a:rPr>
              <a:t>Rainflow ageing; PSO + grid search</a:t>
            </a:r>
          </a:p>
          <a:p>
            <a:pPr algn="l" marL="201168" indent="-182880">
              <a:spcAft>
                <a:spcPts val="600"/>
              </a:spcAft>
              <a:buClr>
                <a:srgbClr val="E8A33D"/>
              </a:buClr>
              <a:buChar char="•"/>
            </a:pPr>
            <a:r>
              <a:rPr sz="1400" b="0" i="0">
                <a:solidFill>
                  <a:srgbClr val="4A5568"/>
                </a:solidFill>
              </a:rPr>
              <a:t>12 weather years; Monte Carlo</a:t>
            </a:r>
          </a:p>
        </p:txBody>
      </p:sp>
      <p:sp>
        <p:nvSpPr>
          <p:cNvPr id="18" name="Rounded Rectangle 17"/>
          <p:cNvSpPr/>
          <p:nvPr/>
        </p:nvSpPr>
        <p:spPr>
          <a:xfrm>
            <a:off x="609904" y="4251960"/>
            <a:ext cx="3511296" cy="109728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064" y="4325112"/>
            <a:ext cx="3236976" cy="603504"/>
          </a:xfrm>
          <a:prstGeom prst="rect">
            <a:avLst/>
          </a:prstGeom>
          <a:noFill/>
        </p:spPr>
        <p:txBody>
          <a:bodyPr wrap="square" lIns="27432" rIns="27432" tIns="27432" bIns="27432" anchor="b"/>
          <a:lstStyle/>
          <a:p>
            <a:pPr algn="l">
              <a:spcAft>
                <a:spcPts val="400"/>
              </a:spcAft>
            </a:pPr>
            <a:r>
              <a:rPr sz="2600" b="1" i="0">
                <a:solidFill>
                  <a:srgbClr val="2E6F95"/>
                </a:solidFill>
              </a:rPr>
              <a:t>₹5,835 M</a:t>
            </a:r>
          </a:p>
        </p:txBody>
      </p:sp>
      <p:sp>
        <p:nvSpPr>
          <p:cNvPr id="20" name="TextBox 19"/>
          <p:cNvSpPr txBox="1"/>
          <p:nvPr/>
        </p:nvSpPr>
        <p:spPr>
          <a:xfrm>
            <a:off x="747064" y="4888382"/>
            <a:ext cx="3236976" cy="438912"/>
          </a:xfrm>
          <a:prstGeom prst="rect">
            <a:avLst/>
          </a:prstGeom>
          <a:noFill/>
        </p:spPr>
        <p:txBody>
          <a:bodyPr wrap="square" lIns="27432" rIns="27432" tIns="27432" bIns="27432" anchor="t"/>
          <a:lstStyle/>
          <a:p>
            <a:pPr algn="l">
              <a:spcAft>
                <a:spcPts val="400"/>
              </a:spcAft>
            </a:pPr>
            <a:r>
              <a:rPr sz="1200" b="0" i="0">
                <a:solidFill>
                  <a:srgbClr val="4A5568"/>
                </a:solidFill>
              </a:rPr>
              <a:t>best off-grid NPC, whole campus (scenario 8)</a:t>
            </a:r>
          </a:p>
        </p:txBody>
      </p:sp>
      <p:sp>
        <p:nvSpPr>
          <p:cNvPr id="21" name="Rounded Rectangle 20"/>
          <p:cNvSpPr/>
          <p:nvPr/>
        </p:nvSpPr>
        <p:spPr>
          <a:xfrm>
            <a:off x="4340656" y="4251960"/>
            <a:ext cx="3511296" cy="109728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7816" y="4325112"/>
            <a:ext cx="3236976" cy="603504"/>
          </a:xfrm>
          <a:prstGeom prst="rect">
            <a:avLst/>
          </a:prstGeom>
          <a:noFill/>
        </p:spPr>
        <p:txBody>
          <a:bodyPr wrap="square" lIns="27432" rIns="27432" tIns="27432" bIns="27432" anchor="b"/>
          <a:lstStyle/>
          <a:p>
            <a:pPr algn="l">
              <a:spcAft>
                <a:spcPts val="400"/>
              </a:spcAft>
            </a:pPr>
            <a:r>
              <a:rPr sz="2600" b="1" i="0">
                <a:solidFill>
                  <a:srgbClr val="2E6F95"/>
                </a:solidFill>
              </a:rPr>
              <a:t>₹11.96–18.47</a:t>
            </a:r>
          </a:p>
        </p:txBody>
      </p:sp>
      <p:sp>
        <p:nvSpPr>
          <p:cNvPr id="23" name="TextBox 22"/>
          <p:cNvSpPr txBox="1"/>
          <p:nvPr/>
        </p:nvSpPr>
        <p:spPr>
          <a:xfrm>
            <a:off x="4477816" y="4888382"/>
            <a:ext cx="3236976" cy="438912"/>
          </a:xfrm>
          <a:prstGeom prst="rect">
            <a:avLst/>
          </a:prstGeom>
          <a:noFill/>
        </p:spPr>
        <p:txBody>
          <a:bodyPr wrap="square" lIns="27432" rIns="27432" tIns="27432" bIns="27432" anchor="t"/>
          <a:lstStyle/>
          <a:p>
            <a:pPr algn="l">
              <a:spcAft>
                <a:spcPts val="400"/>
              </a:spcAft>
            </a:pPr>
            <a:r>
              <a:rPr sz="1200" b="0" i="0">
                <a:solidFill>
                  <a:srgbClr val="4A5568"/>
                </a:solidFill>
              </a:rPr>
              <a:t>off-grid LCOE range, per kWh</a:t>
            </a:r>
          </a:p>
        </p:txBody>
      </p:sp>
      <p:sp>
        <p:nvSpPr>
          <p:cNvPr id="24" name="Rounded Rectangle 23"/>
          <p:cNvSpPr/>
          <p:nvPr/>
        </p:nvSpPr>
        <p:spPr>
          <a:xfrm>
            <a:off x="8071408" y="4251960"/>
            <a:ext cx="3511296" cy="109728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8568" y="4325112"/>
            <a:ext cx="3236976" cy="603504"/>
          </a:xfrm>
          <a:prstGeom prst="rect">
            <a:avLst/>
          </a:prstGeom>
          <a:noFill/>
        </p:spPr>
        <p:txBody>
          <a:bodyPr wrap="square" lIns="27432" rIns="27432" tIns="27432" bIns="27432" anchor="b"/>
          <a:lstStyle/>
          <a:p>
            <a:pPr algn="l">
              <a:spcAft>
                <a:spcPts val="400"/>
              </a:spcAft>
            </a:pPr>
            <a:r>
              <a:rPr sz="2600" b="1" i="0">
                <a:solidFill>
                  <a:srgbClr val="2E6F95"/>
                </a:solidFill>
              </a:rPr>
              <a:t>₹0.18–1.39</a:t>
            </a:r>
          </a:p>
        </p:txBody>
      </p:sp>
      <p:sp>
        <p:nvSpPr>
          <p:cNvPr id="26" name="TextBox 25"/>
          <p:cNvSpPr txBox="1"/>
          <p:nvPr/>
        </p:nvSpPr>
        <p:spPr>
          <a:xfrm>
            <a:off x="8208568" y="4888382"/>
            <a:ext cx="3236976" cy="438912"/>
          </a:xfrm>
          <a:prstGeom prst="rect">
            <a:avLst/>
          </a:prstGeom>
          <a:noFill/>
        </p:spPr>
        <p:txBody>
          <a:bodyPr wrap="square" lIns="27432" rIns="27432" tIns="27432" bIns="27432" anchor="t"/>
          <a:lstStyle/>
          <a:p>
            <a:pPr algn="l">
              <a:spcAft>
                <a:spcPts val="400"/>
              </a:spcAft>
            </a:pPr>
            <a:r>
              <a:rPr sz="1200" b="0" i="0">
                <a:solidFill>
                  <a:srgbClr val="4A5568"/>
                </a:solidFill>
              </a:rPr>
              <a:t>grid-connected LCOE range, per kWh</a:t>
            </a:r>
          </a:p>
        </p:txBody>
      </p:sp>
      <p:sp>
        <p:nvSpPr>
          <p:cNvPr id="27" name="TextBox 26"/>
          <p:cNvSpPr txBox="1"/>
          <p:nvPr/>
        </p:nvSpPr>
        <p:spPr>
          <a:xfrm>
            <a:off x="609904" y="5468112"/>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All values from Kumar et al. (2018), checked against the paper's text. Whole-campus figures, so they are benchmarks for unit cost, not for absolute NPC.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LITERATURE REVIEW</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Critical literature comparison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9 / 34</a:t>
            </a:r>
          </a:p>
        </p:txBody>
      </p:sp>
      <p:graphicFrame>
        <p:nvGraphicFramePr>
          <p:cNvPr id="9" name="Table 8"/>
          <p:cNvGraphicFramePr>
            <a:graphicFrameLocks noGrp="1"/>
          </p:cNvGraphicFramePr>
          <p:nvPr/>
        </p:nvGraphicFramePr>
        <p:xfrm>
          <a:off x="609904" y="1280160"/>
          <a:ext cx="10972800" cy="3968496"/>
        </p:xfrm>
        <a:graphic>
          <a:graphicData uri="http://schemas.openxmlformats.org/drawingml/2006/table">
            <a:tbl>
              <a:tblPr firstRow="0" bandRow="0">
                <a:tableStyleId>{5940675A-B579-460E-94D1-54222C63F5DA}</a:tableStyleId>
              </a:tblPr>
              <a:tblGrid>
                <a:gridCol w="2148840"/>
                <a:gridCol w="2240280"/>
                <a:gridCol w="2148840"/>
                <a:gridCol w="2240280"/>
                <a:gridCol w="2194560"/>
              </a:tblGrid>
              <a:tr h="566928">
                <a:tc>
                  <a:txBody>
                    <a:bodyPr wrap="square"/>
                    <a:lstStyle/>
                    <a:p>
                      <a:r>
                        <a:rPr sz="1300" b="1" i="0">
                          <a:solidFill>
                            <a:srgbClr val="FFFFFF"/>
                          </a:solidFill>
                        </a:rPr>
                        <a:t>Study</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System</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Method</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Objective / reliability</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What it contributes</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r>
              <a:tr h="566928">
                <a:tc>
                  <a:txBody>
                    <a:bodyPr wrap="square"/>
                    <a:lstStyle/>
                    <a:p>
                      <a:r>
                        <a:rPr sz="1200" b="1" i="0">
                          <a:solidFill>
                            <a:srgbClr val="13233A"/>
                          </a:solidFill>
                        </a:rPr>
                        <a:t>Borowy &amp; Salameh (1996)</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Stand-alone wind–PV–battery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Iterative sizing of PV and battery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Minimum cost at a target LPSP</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30 years of hourly data; house load</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566928">
                <a:tc>
                  <a:txBody>
                    <a:bodyPr wrap="square"/>
                    <a:lstStyle/>
                    <a:p>
                      <a:r>
                        <a:rPr sz="1200" b="1" i="0">
                          <a:solidFill>
                            <a:srgbClr val="13233A"/>
                          </a:solidFill>
                        </a:rPr>
                        <a:t>Yang et al. (2008)</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Stand-alone PV–wind–battery</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Genetic algorithm</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Minimum annualised cost at a target LPSP</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Telecom relay station case</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566928">
                <a:tc>
                  <a:txBody>
                    <a:bodyPr wrap="square"/>
                    <a:lstStyle/>
                    <a:p>
                      <a:r>
                        <a:rPr sz="1200" b="1" i="0">
                          <a:solidFill>
                            <a:srgbClr val="13233A"/>
                          </a:solidFill>
                        </a:rPr>
                        <a:t>Dufo-López &amp; Bernal-Agustín (2008)</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PV–wind–diesel–H₂–battery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Multi-objective evolutionary + GA</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NPC, CO₂ and unmet load together</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Pareto set of designs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566928">
                <a:tc>
                  <a:txBody>
                    <a:bodyPr wrap="square"/>
                    <a:lstStyle/>
                    <a:p>
                      <a:r>
                        <a:rPr sz="1200" b="1" i="0">
                          <a:solidFill>
                            <a:srgbClr val="13233A"/>
                          </a:solidFill>
                        </a:rPr>
                        <a:t>Xu et al. (2018)</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Li-ion battery storage</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Semi-empirical model with cycle counting</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Cell life loss from operating profile</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Degradation from irregular cycles</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566928">
                <a:tc>
                  <a:txBody>
                    <a:bodyPr wrap="square"/>
                    <a:lstStyle/>
                    <a:p>
                      <a:r>
                        <a:rPr sz="1200" b="1" i="0">
                          <a:solidFill>
                            <a:srgbClr val="13233A"/>
                          </a:solidFill>
                        </a:rPr>
                        <a:t>Kumar et al. (2018)</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IITG campus: PV, biogas, diesel, battery, grid</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HOMER Pro multi-year</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NPC and LCOE, 12 scenarios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Site data, costs, benchmark</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566928">
                <a:tc>
                  <a:txBody>
                    <a:bodyPr wrap="square"/>
                    <a:lstStyle/>
                    <a:p>
                      <a:r>
                        <a:rPr sz="1200" b="1" i="0">
                          <a:solidFill>
                            <a:srgbClr val="13233A"/>
                          </a:solidFill>
                        </a:rPr>
                        <a:t>This work</a:t>
                      </a:r>
                    </a:p>
                  </a:txBody>
                  <a:tcPr marL="64008" marR="64008" marT="27432" marB="27432" anchor="ctr">
                    <a:solidFill>
                      <a:srgbClr val="FCEFD9"/>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13233A"/>
                          </a:solidFill>
                        </a:rPr>
                        <a:t>Two IITG departments: PV–battery (+ SC option)</a:t>
                      </a:r>
                    </a:p>
                  </a:txBody>
                  <a:tcPr marL="64008" marR="64008" marT="27432" marB="27432" anchor="ctr">
                    <a:solidFill>
                      <a:srgbClr val="FCEFD9"/>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13233A"/>
                          </a:solidFill>
                        </a:rPr>
                        <a:t>Own simulator; grid search + PSO</a:t>
                      </a:r>
                    </a:p>
                  </a:txBody>
                  <a:tcPr marL="64008" marR="64008" marT="27432" marB="27432" anchor="ctr">
                    <a:solidFill>
                      <a:srgbClr val="FCEFD9"/>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13233A"/>
                          </a:solidFill>
                        </a:rPr>
                        <a:t>Min. 15-year NPC, LPSP ≤ 1 %</a:t>
                      </a:r>
                    </a:p>
                  </a:txBody>
                  <a:tcPr marL="64008" marR="64008" marT="27432" marB="27432" anchor="ctr">
                    <a:solidFill>
                      <a:srgbClr val="FCEFD9"/>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13233A"/>
                          </a:solidFill>
                        </a:rPr>
                        <a:t>Rainflow ageing, 12 weather years, Monte Carlo</a:t>
                      </a:r>
                    </a:p>
                  </a:txBody>
                  <a:tcPr marL="64008" marR="64008" marT="27432" marB="27432" anchor="ctr">
                    <a:solidFill>
                      <a:srgbClr val="FCEFD9"/>
                    </a:solidFill>
                    <a:lnL w="6350">
                      <a:solidFill>
                        <a:srgbClr val="D5DBE1"/>
                      </a:solidFill>
                    </a:lnL>
                    <a:lnR w="6350">
                      <a:solidFill>
                        <a:srgbClr val="D5DBE1"/>
                      </a:solidFill>
                    </a:lnR>
                    <a:lnT w="6350">
                      <a:solidFill>
                        <a:srgbClr val="D5DBE1"/>
                      </a:solidFill>
                    </a:lnT>
                    <a:lnB w="6350">
                      <a:solidFill>
                        <a:srgbClr val="D5DBE1"/>
                      </a:solidFill>
                    </a:lnB>
                  </a:tcPr>
                </a:tc>
              </a:tr>
            </a:tbl>
          </a:graphicData>
        </a:graphic>
      </p:graphicFrame>
      <p:sp>
        <p:nvSpPr>
          <p:cNvPr id="10" name="TextBox 9"/>
          <p:cNvSpPr txBox="1"/>
          <p:nvPr/>
        </p:nvSpPr>
        <p:spPr>
          <a:xfrm>
            <a:off x="609904" y="5532120"/>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LPSP: loss of power supply probability. SC: supercapacitor. Details confirmed from publisher or index records (DOIs in References).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RESEARCH GAP</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Research gap and contribution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10 / 34</a:t>
            </a:r>
          </a:p>
        </p:txBody>
      </p:sp>
      <p:sp>
        <p:nvSpPr>
          <p:cNvPr id="9" name="TextBox 8"/>
          <p:cNvSpPr txBox="1"/>
          <p:nvPr/>
        </p:nvSpPr>
        <p:spPr>
          <a:xfrm>
            <a:off x="609904" y="1261872"/>
            <a:ext cx="4572000" cy="365760"/>
          </a:xfrm>
          <a:prstGeom prst="rect">
            <a:avLst/>
          </a:prstGeom>
          <a:noFill/>
        </p:spPr>
        <p:txBody>
          <a:bodyPr wrap="square" lIns="27432" rIns="27432" tIns="27432" bIns="27432" anchor="t"/>
          <a:lstStyle/>
          <a:p>
            <a:pPr algn="l">
              <a:spcAft>
                <a:spcPts val="400"/>
              </a:spcAft>
            </a:pPr>
            <a:r>
              <a:rPr sz="1600" b="1" i="0">
                <a:solidFill>
                  <a:srgbClr val="E34948"/>
                </a:solidFill>
              </a:rPr>
              <a:t>Gaps in the reference approach</a:t>
            </a:r>
          </a:p>
        </p:txBody>
      </p:sp>
      <p:sp>
        <p:nvSpPr>
          <p:cNvPr id="10" name="Rounded Rectangle 9"/>
          <p:cNvSpPr/>
          <p:nvPr/>
        </p:nvSpPr>
        <p:spPr>
          <a:xfrm>
            <a:off x="609904" y="1691640"/>
            <a:ext cx="4572000"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496" y="1764792"/>
            <a:ext cx="4251960" cy="320040"/>
          </a:xfrm>
          <a:prstGeom prst="rect">
            <a:avLst/>
          </a:prstGeom>
          <a:noFill/>
        </p:spPr>
        <p:txBody>
          <a:bodyPr wrap="square" lIns="27432" rIns="27432" tIns="27432" bIns="27432" anchor="t"/>
          <a:lstStyle/>
          <a:p>
            <a:pPr algn="l">
              <a:spcAft>
                <a:spcPts val="400"/>
              </a:spcAft>
            </a:pPr>
            <a:r>
              <a:rPr sz="1400" b="1" i="0">
                <a:solidFill>
                  <a:srgbClr val="13233A"/>
                </a:solidFill>
              </a:rPr>
              <a:t>Battery life as constant throughput</a:t>
            </a:r>
          </a:p>
        </p:txBody>
      </p:sp>
      <p:sp>
        <p:nvSpPr>
          <p:cNvPr id="12" name="TextBox 11"/>
          <p:cNvSpPr txBox="1"/>
          <p:nvPr/>
        </p:nvSpPr>
        <p:spPr>
          <a:xfrm>
            <a:off x="774496" y="2103120"/>
            <a:ext cx="4251960" cy="502920"/>
          </a:xfrm>
          <a:prstGeom prst="rect">
            <a:avLst/>
          </a:prstGeom>
          <a:noFill/>
        </p:spPr>
        <p:txBody>
          <a:bodyPr wrap="square" lIns="27432" rIns="27432" tIns="27432" bIns="27432" anchor="t"/>
          <a:lstStyle/>
          <a:p>
            <a:pPr algn="l">
              <a:spcAft>
                <a:spcPts val="400"/>
              </a:spcAft>
            </a:pPr>
            <a:r>
              <a:rPr sz="1300" b="0" i="0">
                <a:solidFill>
                  <a:srgbClr val="4A5568"/>
                </a:solidFill>
              </a:rPr>
              <a:t>HOMER's default model ignores depth of discharge.</a:t>
            </a:r>
          </a:p>
        </p:txBody>
      </p:sp>
      <p:sp>
        <p:nvSpPr>
          <p:cNvPr id="13" name="Rounded Rectangle 12"/>
          <p:cNvSpPr/>
          <p:nvPr/>
        </p:nvSpPr>
        <p:spPr>
          <a:xfrm>
            <a:off x="609904" y="2770632"/>
            <a:ext cx="4572000"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 y="2843784"/>
            <a:ext cx="4251960" cy="320040"/>
          </a:xfrm>
          <a:prstGeom prst="rect">
            <a:avLst/>
          </a:prstGeom>
          <a:noFill/>
        </p:spPr>
        <p:txBody>
          <a:bodyPr wrap="square" lIns="27432" rIns="27432" tIns="27432" bIns="27432" anchor="t"/>
          <a:lstStyle/>
          <a:p>
            <a:pPr algn="l">
              <a:spcAft>
                <a:spcPts val="400"/>
              </a:spcAft>
            </a:pPr>
            <a:r>
              <a:rPr sz="1400" b="1" i="0">
                <a:solidFill>
                  <a:srgbClr val="13233A"/>
                </a:solidFill>
              </a:rPr>
              <a:t>One weather year</a:t>
            </a:r>
          </a:p>
        </p:txBody>
      </p:sp>
      <p:sp>
        <p:nvSpPr>
          <p:cNvPr id="15" name="TextBox 14"/>
          <p:cNvSpPr txBox="1"/>
          <p:nvPr/>
        </p:nvSpPr>
        <p:spPr>
          <a:xfrm>
            <a:off x="774496" y="3182112"/>
            <a:ext cx="4251960" cy="502920"/>
          </a:xfrm>
          <a:prstGeom prst="rect">
            <a:avLst/>
          </a:prstGeom>
          <a:noFill/>
        </p:spPr>
        <p:txBody>
          <a:bodyPr wrap="square" lIns="27432" rIns="27432" tIns="27432" bIns="27432" anchor="t"/>
          <a:lstStyle/>
          <a:p>
            <a:pPr algn="l">
              <a:spcAft>
                <a:spcPts val="400"/>
              </a:spcAft>
            </a:pPr>
            <a:r>
              <a:rPr sz="1300" b="0" i="0">
                <a:solidFill>
                  <a:srgbClr val="4A5568"/>
                </a:solidFill>
              </a:rPr>
              <a:t>A design can look reliable only because the year was sunny.</a:t>
            </a:r>
          </a:p>
        </p:txBody>
      </p:sp>
      <p:sp>
        <p:nvSpPr>
          <p:cNvPr id="16" name="Rounded Rectangle 15"/>
          <p:cNvSpPr/>
          <p:nvPr/>
        </p:nvSpPr>
        <p:spPr>
          <a:xfrm>
            <a:off x="609904" y="3849624"/>
            <a:ext cx="4572000"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4496" y="3922776"/>
            <a:ext cx="4251960" cy="320040"/>
          </a:xfrm>
          <a:prstGeom prst="rect">
            <a:avLst/>
          </a:prstGeom>
          <a:noFill/>
        </p:spPr>
        <p:txBody>
          <a:bodyPr wrap="square" lIns="27432" rIns="27432" tIns="27432" bIns="27432" anchor="t"/>
          <a:lstStyle/>
          <a:p>
            <a:pPr algn="l">
              <a:spcAft>
                <a:spcPts val="400"/>
              </a:spcAft>
            </a:pPr>
            <a:r>
              <a:rPr sz="1400" b="1" i="0">
                <a:solidFill>
                  <a:srgbClr val="13233A"/>
                </a:solidFill>
              </a:rPr>
              <a:t>Campus aggregate load</a:t>
            </a:r>
          </a:p>
        </p:txBody>
      </p:sp>
      <p:sp>
        <p:nvSpPr>
          <p:cNvPr id="18" name="TextBox 17"/>
          <p:cNvSpPr txBox="1"/>
          <p:nvPr/>
        </p:nvSpPr>
        <p:spPr>
          <a:xfrm>
            <a:off x="774496" y="4261104"/>
            <a:ext cx="4251960" cy="502920"/>
          </a:xfrm>
          <a:prstGeom prst="rect">
            <a:avLst/>
          </a:prstGeom>
          <a:noFill/>
        </p:spPr>
        <p:txBody>
          <a:bodyPr wrap="square" lIns="27432" rIns="27432" tIns="27432" bIns="27432" anchor="t"/>
          <a:lstStyle/>
          <a:p>
            <a:pPr algn="l">
              <a:spcAft>
                <a:spcPts val="400"/>
              </a:spcAft>
            </a:pPr>
            <a:r>
              <a:rPr sz="1300" b="0" i="0">
                <a:solidFill>
                  <a:srgbClr val="4A5568"/>
                </a:solidFill>
              </a:rPr>
              <a:t>Department-level demand and its uncertainty are not studied.</a:t>
            </a:r>
          </a:p>
        </p:txBody>
      </p:sp>
      <p:sp>
        <p:nvSpPr>
          <p:cNvPr id="19" name="Rounded Rectangle 18"/>
          <p:cNvSpPr/>
          <p:nvPr/>
        </p:nvSpPr>
        <p:spPr>
          <a:xfrm>
            <a:off x="609904" y="4928616"/>
            <a:ext cx="4572000"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4496" y="5001768"/>
            <a:ext cx="4251960" cy="320040"/>
          </a:xfrm>
          <a:prstGeom prst="rect">
            <a:avLst/>
          </a:prstGeom>
          <a:noFill/>
        </p:spPr>
        <p:txBody>
          <a:bodyPr wrap="square" lIns="27432" rIns="27432" tIns="27432" bIns="27432" anchor="t"/>
          <a:lstStyle/>
          <a:p>
            <a:pPr algn="l">
              <a:spcAft>
                <a:spcPts val="400"/>
              </a:spcAft>
            </a:pPr>
            <a:r>
              <a:rPr sz="1400" b="1" i="0">
                <a:solidFill>
                  <a:srgbClr val="13233A"/>
                </a:solidFill>
              </a:rPr>
              <a:t>Unchecked inputs</a:t>
            </a:r>
          </a:p>
        </p:txBody>
      </p:sp>
      <p:sp>
        <p:nvSpPr>
          <p:cNvPr id="21" name="TextBox 20"/>
          <p:cNvSpPr txBox="1"/>
          <p:nvPr/>
        </p:nvSpPr>
        <p:spPr>
          <a:xfrm>
            <a:off x="774496" y="5340096"/>
            <a:ext cx="4251960" cy="502920"/>
          </a:xfrm>
          <a:prstGeom prst="rect">
            <a:avLst/>
          </a:prstGeom>
          <a:noFill/>
        </p:spPr>
        <p:txBody>
          <a:bodyPr wrap="square" lIns="27432" rIns="27432" tIns="27432" bIns="27432" anchor="t"/>
          <a:lstStyle/>
          <a:p>
            <a:pPr algn="l">
              <a:spcAft>
                <a:spcPts val="400"/>
              </a:spcAft>
            </a:pPr>
            <a:r>
              <a:rPr sz="1300" b="0" i="0">
                <a:solidFill>
                  <a:srgbClr val="4A5568"/>
                </a:solidFill>
              </a:rPr>
              <a:t>Reference costs are reused without going back to the source.</a:t>
            </a:r>
          </a:p>
        </p:txBody>
      </p:sp>
      <p:sp>
        <p:nvSpPr>
          <p:cNvPr id="22" name="TextBox 21"/>
          <p:cNvSpPr txBox="1"/>
          <p:nvPr/>
        </p:nvSpPr>
        <p:spPr>
          <a:xfrm>
            <a:off x="5486400" y="1261872"/>
            <a:ext cx="6035040" cy="365760"/>
          </a:xfrm>
          <a:prstGeom prst="rect">
            <a:avLst/>
          </a:prstGeom>
          <a:noFill/>
        </p:spPr>
        <p:txBody>
          <a:bodyPr wrap="square" lIns="27432" rIns="27432" tIns="27432" bIns="27432" anchor="t"/>
          <a:lstStyle/>
          <a:p>
            <a:pPr algn="l">
              <a:spcAft>
                <a:spcPts val="400"/>
              </a:spcAft>
            </a:pPr>
            <a:r>
              <a:rPr sz="1600" b="1" i="0">
                <a:solidFill>
                  <a:srgbClr val="1F7A72"/>
                </a:solidFill>
              </a:rPr>
              <a:t>What this project adds</a:t>
            </a:r>
          </a:p>
        </p:txBody>
      </p:sp>
      <p:sp>
        <p:nvSpPr>
          <p:cNvPr id="23" name="Rounded Rectangle 22"/>
          <p:cNvSpPr/>
          <p:nvPr/>
        </p:nvSpPr>
        <p:spPr>
          <a:xfrm>
            <a:off x="5486400" y="1691640"/>
            <a:ext cx="2953512" cy="1325880"/>
          </a:xfrm>
          <a:prstGeom prst="roundRect">
            <a:avLst>
              <a:gd name="adj" fmla="val 6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32704" y="1783080"/>
            <a:ext cx="2697480" cy="320040"/>
          </a:xfrm>
          <a:prstGeom prst="rect">
            <a:avLst/>
          </a:prstGeom>
          <a:noFill/>
        </p:spPr>
        <p:txBody>
          <a:bodyPr wrap="square" lIns="27432" rIns="27432" tIns="27432" bIns="27432" anchor="t"/>
          <a:lstStyle/>
          <a:p>
            <a:pPr algn="l">
              <a:spcAft>
                <a:spcPts val="400"/>
              </a:spcAft>
            </a:pPr>
            <a:r>
              <a:rPr sz="1400" b="1" i="0">
                <a:solidFill>
                  <a:srgbClr val="1F7A72"/>
                </a:solidFill>
              </a:rPr>
              <a:t>Cycle-counted ageing</a:t>
            </a:r>
          </a:p>
        </p:txBody>
      </p:sp>
      <p:sp>
        <p:nvSpPr>
          <p:cNvPr id="25" name="TextBox 24"/>
          <p:cNvSpPr txBox="1"/>
          <p:nvPr/>
        </p:nvSpPr>
        <p:spPr>
          <a:xfrm>
            <a:off x="5632704" y="2130552"/>
            <a:ext cx="2697480" cy="868680"/>
          </a:xfrm>
          <a:prstGeom prst="rect">
            <a:avLst/>
          </a:prstGeom>
          <a:noFill/>
        </p:spPr>
        <p:txBody>
          <a:bodyPr wrap="square" lIns="27432" rIns="27432" tIns="27432" bIns="27432" anchor="t"/>
          <a:lstStyle/>
          <a:p>
            <a:pPr algn="l">
              <a:spcAft>
                <a:spcPts val="400"/>
              </a:spcAft>
            </a:pPr>
            <a:r>
              <a:rPr sz="1200" b="0" i="0">
                <a:solidFill>
                  <a:srgbClr val="4A5568"/>
                </a:solidFill>
              </a:rPr>
              <a:t>Rainflow + Miner's rule on the datasheet curve, plus temperature float life.</a:t>
            </a:r>
          </a:p>
        </p:txBody>
      </p:sp>
      <p:sp>
        <p:nvSpPr>
          <p:cNvPr id="26" name="Rounded Rectangle 25"/>
          <p:cNvSpPr/>
          <p:nvPr/>
        </p:nvSpPr>
        <p:spPr>
          <a:xfrm>
            <a:off x="8567928" y="1691640"/>
            <a:ext cx="2953512" cy="1325880"/>
          </a:xfrm>
          <a:prstGeom prst="roundRect">
            <a:avLst>
              <a:gd name="adj" fmla="val 6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14232" y="1783080"/>
            <a:ext cx="2697480" cy="320040"/>
          </a:xfrm>
          <a:prstGeom prst="rect">
            <a:avLst/>
          </a:prstGeom>
          <a:noFill/>
        </p:spPr>
        <p:txBody>
          <a:bodyPr wrap="square" lIns="27432" rIns="27432" tIns="27432" bIns="27432" anchor="t"/>
          <a:lstStyle/>
          <a:p>
            <a:pPr algn="l">
              <a:spcAft>
                <a:spcPts val="400"/>
              </a:spcAft>
            </a:pPr>
            <a:r>
              <a:rPr sz="1400" b="1" i="0">
                <a:solidFill>
                  <a:srgbClr val="1F7A72"/>
                </a:solidFill>
              </a:rPr>
              <a:t>Weather robustness</a:t>
            </a:r>
          </a:p>
        </p:txBody>
      </p:sp>
      <p:sp>
        <p:nvSpPr>
          <p:cNvPr id="28" name="TextBox 27"/>
          <p:cNvSpPr txBox="1"/>
          <p:nvPr/>
        </p:nvSpPr>
        <p:spPr>
          <a:xfrm>
            <a:off x="8714232" y="2130552"/>
            <a:ext cx="2697480" cy="868680"/>
          </a:xfrm>
          <a:prstGeom prst="rect">
            <a:avLst/>
          </a:prstGeom>
          <a:noFill/>
        </p:spPr>
        <p:txBody>
          <a:bodyPr wrap="square" lIns="27432" rIns="27432" tIns="27432" bIns="27432" anchor="t"/>
          <a:lstStyle/>
          <a:p>
            <a:pPr algn="l">
              <a:spcAft>
                <a:spcPts val="400"/>
              </a:spcAft>
            </a:pPr>
            <a:r>
              <a:rPr sz="1200" b="0" i="0">
                <a:solidFill>
                  <a:srgbClr val="4A5568"/>
                </a:solidFill>
              </a:rPr>
              <a:t>Same design on 12 NASA years; a design optimised for all of them.</a:t>
            </a:r>
          </a:p>
        </p:txBody>
      </p:sp>
      <p:sp>
        <p:nvSpPr>
          <p:cNvPr id="29" name="Rounded Rectangle 28"/>
          <p:cNvSpPr/>
          <p:nvPr/>
        </p:nvSpPr>
        <p:spPr>
          <a:xfrm>
            <a:off x="5486400" y="3136392"/>
            <a:ext cx="2953512" cy="1325880"/>
          </a:xfrm>
          <a:prstGeom prst="roundRect">
            <a:avLst>
              <a:gd name="adj" fmla="val 6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32704" y="3227832"/>
            <a:ext cx="2697480" cy="320040"/>
          </a:xfrm>
          <a:prstGeom prst="rect">
            <a:avLst/>
          </a:prstGeom>
          <a:noFill/>
        </p:spPr>
        <p:txBody>
          <a:bodyPr wrap="square" lIns="27432" rIns="27432" tIns="27432" bIns="27432" anchor="t"/>
          <a:lstStyle/>
          <a:p>
            <a:pPr algn="l">
              <a:spcAft>
                <a:spcPts val="400"/>
              </a:spcAft>
            </a:pPr>
            <a:r>
              <a:rPr sz="1400" b="1" i="0">
                <a:solidFill>
                  <a:srgbClr val="1F7A72"/>
                </a:solidFill>
              </a:rPr>
              <a:t>Bottom-up demand</a:t>
            </a:r>
          </a:p>
        </p:txBody>
      </p:sp>
      <p:sp>
        <p:nvSpPr>
          <p:cNvPr id="31" name="TextBox 30"/>
          <p:cNvSpPr txBox="1"/>
          <p:nvPr/>
        </p:nvSpPr>
        <p:spPr>
          <a:xfrm>
            <a:off x="5632704" y="3575304"/>
            <a:ext cx="2697480" cy="868680"/>
          </a:xfrm>
          <a:prstGeom prst="rect">
            <a:avLst/>
          </a:prstGeom>
          <a:noFill/>
        </p:spPr>
        <p:txBody>
          <a:bodyPr wrap="square" lIns="27432" rIns="27432" tIns="27432" bIns="27432" anchor="t"/>
          <a:lstStyle/>
          <a:p>
            <a:pPr algn="l">
              <a:spcAft>
                <a:spcPts val="400"/>
              </a:spcAft>
            </a:pPr>
            <a:r>
              <a:rPr sz="1200" b="0" i="0">
                <a:solidFill>
                  <a:srgbClr val="4A5568"/>
                </a:solidFill>
              </a:rPr>
              <a:t>Two departments from equipment inventories; tested ±20 %.</a:t>
            </a:r>
          </a:p>
        </p:txBody>
      </p:sp>
      <p:sp>
        <p:nvSpPr>
          <p:cNvPr id="32" name="Rounded Rectangle 31"/>
          <p:cNvSpPr/>
          <p:nvPr/>
        </p:nvSpPr>
        <p:spPr>
          <a:xfrm>
            <a:off x="8567928" y="3136392"/>
            <a:ext cx="2953512" cy="1325880"/>
          </a:xfrm>
          <a:prstGeom prst="roundRect">
            <a:avLst>
              <a:gd name="adj" fmla="val 6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14232" y="3227832"/>
            <a:ext cx="2697480" cy="320040"/>
          </a:xfrm>
          <a:prstGeom prst="rect">
            <a:avLst/>
          </a:prstGeom>
          <a:noFill/>
        </p:spPr>
        <p:txBody>
          <a:bodyPr wrap="square" lIns="27432" rIns="27432" tIns="27432" bIns="27432" anchor="t"/>
          <a:lstStyle/>
          <a:p>
            <a:pPr algn="l">
              <a:spcAft>
                <a:spcPts val="400"/>
              </a:spcAft>
            </a:pPr>
            <a:r>
              <a:rPr sz="1400" b="1" i="0">
                <a:solidFill>
                  <a:srgbClr val="1F7A72"/>
                </a:solidFill>
              </a:rPr>
              <a:t>Verified, open model</a:t>
            </a:r>
          </a:p>
        </p:txBody>
      </p:sp>
      <p:sp>
        <p:nvSpPr>
          <p:cNvPr id="34" name="TextBox 33"/>
          <p:cNvSpPr txBox="1"/>
          <p:nvPr/>
        </p:nvSpPr>
        <p:spPr>
          <a:xfrm>
            <a:off x="8714232" y="3575304"/>
            <a:ext cx="2697480" cy="868680"/>
          </a:xfrm>
          <a:prstGeom prst="rect">
            <a:avLst/>
          </a:prstGeom>
          <a:noFill/>
        </p:spPr>
        <p:txBody>
          <a:bodyPr wrap="square" lIns="27432" rIns="27432" tIns="27432" bIns="27432" anchor="t"/>
          <a:lstStyle/>
          <a:p>
            <a:pPr algn="l">
              <a:spcAft>
                <a:spcPts val="400"/>
              </a:spcAft>
            </a:pPr>
            <a:r>
              <a:rPr sz="1200" b="0" i="0">
                <a:solidFill>
                  <a:srgbClr val="4A5568"/>
                </a:solidFill>
              </a:rPr>
              <a:t>35 automated checks; PSO cross-checked by grid search.</a:t>
            </a:r>
          </a:p>
        </p:txBody>
      </p:sp>
      <p:sp>
        <p:nvSpPr>
          <p:cNvPr id="35" name="Rounded Rectangle 34"/>
          <p:cNvSpPr/>
          <p:nvPr/>
        </p:nvSpPr>
        <p:spPr>
          <a:xfrm>
            <a:off x="5486400" y="4581144"/>
            <a:ext cx="2953512" cy="1325880"/>
          </a:xfrm>
          <a:prstGeom prst="roundRect">
            <a:avLst>
              <a:gd name="adj" fmla="val 6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32704" y="4672583"/>
            <a:ext cx="2697480" cy="320040"/>
          </a:xfrm>
          <a:prstGeom prst="rect">
            <a:avLst/>
          </a:prstGeom>
          <a:noFill/>
        </p:spPr>
        <p:txBody>
          <a:bodyPr wrap="square" lIns="27432" rIns="27432" tIns="27432" bIns="27432" anchor="t"/>
          <a:lstStyle/>
          <a:p>
            <a:pPr algn="l">
              <a:spcAft>
                <a:spcPts val="400"/>
              </a:spcAft>
            </a:pPr>
            <a:r>
              <a:rPr sz="1400" b="1" i="0">
                <a:solidFill>
                  <a:srgbClr val="1F7A72"/>
                </a:solidFill>
              </a:rPr>
              <a:t>Scenario studies</a:t>
            </a:r>
          </a:p>
        </p:txBody>
      </p:sp>
      <p:sp>
        <p:nvSpPr>
          <p:cNvPr id="37" name="TextBox 36"/>
          <p:cNvSpPr txBox="1"/>
          <p:nvPr/>
        </p:nvSpPr>
        <p:spPr>
          <a:xfrm>
            <a:off x="5632704" y="5020056"/>
            <a:ext cx="2697480" cy="868680"/>
          </a:xfrm>
          <a:prstGeom prst="rect">
            <a:avLst/>
          </a:prstGeom>
          <a:noFill/>
        </p:spPr>
        <p:txBody>
          <a:bodyPr wrap="square" lIns="27432" rIns="27432" tIns="27432" bIns="27432" anchor="t"/>
          <a:lstStyle/>
          <a:p>
            <a:pPr algn="l">
              <a:spcAft>
                <a:spcPts val="400"/>
              </a:spcAft>
            </a:pPr>
            <a:r>
              <a:rPr sz="1200" b="0" i="0">
                <a:solidFill>
                  <a:srgbClr val="4A5568"/>
                </a:solidFill>
              </a:rPr>
              <a:t>Staged growth, grid access, supercapacitor economics.</a:t>
            </a:r>
          </a:p>
        </p:txBody>
      </p:sp>
      <p:sp>
        <p:nvSpPr>
          <p:cNvPr id="38" name="Rounded Rectangle 37"/>
          <p:cNvSpPr/>
          <p:nvPr/>
        </p:nvSpPr>
        <p:spPr>
          <a:xfrm>
            <a:off x="8567928" y="4581144"/>
            <a:ext cx="2953512" cy="1325880"/>
          </a:xfrm>
          <a:prstGeom prst="roundRect">
            <a:avLst>
              <a:gd name="adj" fmla="val 6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14232" y="4672583"/>
            <a:ext cx="2697480" cy="320040"/>
          </a:xfrm>
          <a:prstGeom prst="rect">
            <a:avLst/>
          </a:prstGeom>
          <a:noFill/>
        </p:spPr>
        <p:txBody>
          <a:bodyPr wrap="square" lIns="27432" rIns="27432" tIns="27432" bIns="27432" anchor="t"/>
          <a:lstStyle/>
          <a:p>
            <a:pPr algn="l">
              <a:spcAft>
                <a:spcPts val="400"/>
              </a:spcAft>
            </a:pPr>
            <a:r>
              <a:rPr sz="1400" b="1" i="0">
                <a:solidFill>
                  <a:srgbClr val="1F7A72"/>
                </a:solidFill>
              </a:rPr>
              <a:t>Source audit</a:t>
            </a:r>
          </a:p>
        </p:txBody>
      </p:sp>
      <p:sp>
        <p:nvSpPr>
          <p:cNvPr id="40" name="TextBox 39"/>
          <p:cNvSpPr txBox="1"/>
          <p:nvPr/>
        </p:nvSpPr>
        <p:spPr>
          <a:xfrm>
            <a:off x="8714232" y="5020056"/>
            <a:ext cx="2697480" cy="868680"/>
          </a:xfrm>
          <a:prstGeom prst="rect">
            <a:avLst/>
          </a:prstGeom>
          <a:noFill/>
        </p:spPr>
        <p:txBody>
          <a:bodyPr wrap="square" lIns="27432" rIns="27432" tIns="27432" bIns="27432" anchor="t"/>
          <a:lstStyle/>
          <a:p>
            <a:pPr algn="l">
              <a:spcAft>
                <a:spcPts val="400"/>
              </a:spcAft>
            </a:pPr>
            <a:r>
              <a:rPr sz="1200" b="0" i="0">
                <a:solidFill>
                  <a:srgbClr val="4A5568"/>
                </a:solidFill>
              </a:rPr>
              <a:t>CERC order checked: paper's PV cost and discount rate corrected.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METHODOLOGY</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Research questions, methods and answers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11 / 34</a:t>
            </a:r>
          </a:p>
        </p:txBody>
      </p:sp>
      <p:graphicFrame>
        <p:nvGraphicFramePr>
          <p:cNvPr id="9" name="Table 8"/>
          <p:cNvGraphicFramePr>
            <a:graphicFrameLocks noGrp="1"/>
          </p:cNvGraphicFramePr>
          <p:nvPr/>
        </p:nvGraphicFramePr>
        <p:xfrm>
          <a:off x="609904" y="1243584"/>
          <a:ext cx="10972800" cy="4754880"/>
        </p:xfrm>
        <a:graphic>
          <a:graphicData uri="http://schemas.openxmlformats.org/drawingml/2006/table">
            <a:tbl>
              <a:tblPr firstRow="0" bandRow="0">
                <a:tableStyleId>{5940675A-B579-460E-94D1-54222C63F5DA}</a:tableStyleId>
              </a:tblPr>
              <a:tblGrid>
                <a:gridCol w="365760"/>
                <a:gridCol w="3429000"/>
                <a:gridCol w="3017520"/>
                <a:gridCol w="3520440"/>
                <a:gridCol w="640080"/>
              </a:tblGrid>
              <a:tr h="475488">
                <a:tc>
                  <a:txBody>
                    <a:bodyPr wrap="square"/>
                    <a:lstStyle/>
                    <a:p>
                      <a:r>
                        <a:rPr sz="1300" b="1" i="0">
                          <a:solidFill>
                            <a:srgbClr val="FFFFFF"/>
                          </a:solidFill>
                        </a:rPr>
                        <a:t>#</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Research question</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Method (script)</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Short answer</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Slide</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1</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Does PSO reproduce the grid-search optimum?</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Grid sweep + PSO, 5 seeds (pso.py)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Yes: 5/5 runs within 0.41 %, below the grid best</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18–19</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2</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How does battery ageing affect lifecycle cost?</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Rainflow + Miner (simulator.py)</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Life 7.7 y; replacements ₹54.6 M</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22</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3</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Is the design reliable in other weather years?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12 NASA years (performance.py)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No: misses 1 % in 8 of 12 years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23</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4</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Does staged expansion save cost under growth?</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15-year growth model (multiyear.py)</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Yes: 33 % cheaper at 10 %/yr</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27</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5</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How does grid access change the design?</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Grid scenarios (grid_connected.py)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Grid + 2,400 kW PV, no battery: ₹142 M</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28</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6</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Is a supercapacitor economically justified?</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1-s load + filter (sc_study.py)</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At best break-even (τ ≈ 1–2 s)</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29–30</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7</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Which inputs drive cost and reliability?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Tornado, spider (sensitivity.py)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Demand, then PV and battery prices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24–25</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8</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How uncertain are the results?</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Monte Carlo, 1,000 runs</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NPC ₹343 M–₹436 M; target missed 60 %</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26</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475488">
                <a:tc>
                  <a:txBody>
                    <a:bodyPr wrap="square"/>
                    <a:lstStyle/>
                    <a:p>
                      <a:r>
                        <a:rPr sz="1200" b="0" i="0">
                          <a:solidFill>
                            <a:srgbClr val="13233A"/>
                          </a:solidFill>
                        </a:rPr>
                        <a:t>9</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Do corrected CERC inputs change the design?</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Re-run with CERC values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NPC +2.3 %, design unchanged</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31</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MODELLING</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Proposed system architecture</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12 / 34</a:t>
            </a:r>
          </a:p>
        </p:txBody>
      </p:sp>
      <p:sp>
        <p:nvSpPr>
          <p:cNvPr id="9" name="Rounded Rectangle 8"/>
          <p:cNvSpPr/>
          <p:nvPr/>
        </p:nvSpPr>
        <p:spPr>
          <a:xfrm>
            <a:off x="609904" y="1371600"/>
            <a:ext cx="2103120" cy="914400"/>
          </a:xfrm>
          <a:prstGeom prst="roundRect">
            <a:avLst>
              <a:gd name="adj" fmla="val 12000"/>
            </a:avLst>
          </a:prstGeom>
          <a:solidFill>
            <a:srgbClr val="FBFB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500" b="1" i="0">
                <a:solidFill>
                  <a:srgbClr val="1F7A72"/>
                </a:solidFill>
              </a:rPr>
              <a:t>PV array</a:t>
            </a:r>
          </a:p>
          <a:p>
            <a:pPr algn="ctr">
              <a:spcAft>
                <a:spcPts val="0"/>
              </a:spcAft>
            </a:pPr>
            <a:r>
              <a:rPr sz="1200" b="0" i="0">
                <a:solidFill>
                  <a:srgbClr val="4A5568"/>
                </a:solidFill>
              </a:rPr>
              <a:t>4,368 kW</a:t>
            </a:r>
          </a:p>
        </p:txBody>
      </p:sp>
      <p:sp>
        <p:nvSpPr>
          <p:cNvPr id="10" name="Rounded Rectangle 9"/>
          <p:cNvSpPr/>
          <p:nvPr/>
        </p:nvSpPr>
        <p:spPr>
          <a:xfrm>
            <a:off x="3124504" y="1508760"/>
            <a:ext cx="1600200" cy="640080"/>
          </a:xfrm>
          <a:prstGeom prst="roundRect">
            <a:avLst>
              <a:gd name="adj" fmla="val 12000"/>
            </a:avLst>
          </a:prstGeom>
          <a:solidFill>
            <a:srgbClr val="FFFFFF"/>
          </a:solidFill>
          <a:ln w="12700">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0" i="0">
                <a:solidFill>
                  <a:srgbClr val="13233A"/>
                </a:solidFill>
              </a:rPr>
              <a:t>PV inverter</a:t>
            </a:r>
          </a:p>
        </p:txBody>
      </p:sp>
      <p:cxnSp>
        <p:nvCxnSpPr>
          <p:cNvPr id="11" name="Connector 10"/>
          <p:cNvCxnSpPr/>
          <p:nvPr/>
        </p:nvCxnSpPr>
        <p:spPr>
          <a:xfrm>
            <a:off x="2713024" y="1828800"/>
            <a:ext cx="411480" cy="0"/>
          </a:xfrm>
          <a:prstGeom prst="line">
            <a:avLst/>
          </a:prstGeom>
          <a:ln w="25400">
            <a:solidFill>
              <a:srgbClr val="1F7A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9904" y="3337560"/>
            <a:ext cx="2103120" cy="914400"/>
          </a:xfrm>
          <a:prstGeom prst="roundRect">
            <a:avLst>
              <a:gd name="adj" fmla="val 12000"/>
            </a:avLst>
          </a:prstGeom>
          <a:solidFill>
            <a:srgbClr val="FBFB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500" b="1" i="0">
                <a:solidFill>
                  <a:srgbClr val="2A78D6"/>
                </a:solidFill>
              </a:rPr>
              <a:t>Battery bank</a:t>
            </a:r>
          </a:p>
          <a:p>
            <a:pPr algn="ctr">
              <a:spcAft>
                <a:spcPts val="0"/>
              </a:spcAft>
            </a:pPr>
            <a:r>
              <a:rPr sz="1100" b="0" i="0">
                <a:solidFill>
                  <a:srgbClr val="4A5568"/>
                </a:solidFill>
              </a:rPr>
              <a:t>177 strings × 20 × 3 kWh</a:t>
            </a:r>
          </a:p>
        </p:txBody>
      </p:sp>
      <p:sp>
        <p:nvSpPr>
          <p:cNvPr id="13" name="Rounded Rectangle 12"/>
          <p:cNvSpPr/>
          <p:nvPr/>
        </p:nvSpPr>
        <p:spPr>
          <a:xfrm>
            <a:off x="3124504" y="3474720"/>
            <a:ext cx="1600200" cy="640080"/>
          </a:xfrm>
          <a:prstGeom prst="roundRect">
            <a:avLst>
              <a:gd name="adj" fmla="val 12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Bidirectional</a:t>
            </a:r>
          </a:p>
          <a:p>
            <a:pPr algn="ctr">
              <a:spcAft>
                <a:spcPts val="0"/>
              </a:spcAft>
            </a:pPr>
            <a:r>
              <a:rPr sz="1200" b="0" i="0">
                <a:solidFill>
                  <a:srgbClr val="13233A"/>
                </a:solidFill>
              </a:rPr>
              <a:t>converter</a:t>
            </a:r>
          </a:p>
        </p:txBody>
      </p:sp>
      <p:cxnSp>
        <p:nvCxnSpPr>
          <p:cNvPr id="14" name="Connector 13"/>
          <p:cNvCxnSpPr/>
          <p:nvPr/>
        </p:nvCxnSpPr>
        <p:spPr>
          <a:xfrm>
            <a:off x="2713024" y="3703320"/>
            <a:ext cx="411480" cy="0"/>
          </a:xfrm>
          <a:prstGeom prst="line">
            <a:avLst/>
          </a:prstGeom>
          <a:ln w="25400">
            <a:solidFill>
              <a:srgbClr val="2A78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13024" y="3886200"/>
            <a:ext cx="411480" cy="0"/>
          </a:xfrm>
          <a:prstGeom prst="line">
            <a:avLst/>
          </a:prstGeom>
          <a:ln w="25400">
            <a:solidFill>
              <a:srgbClr val="2A78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36184" y="1325880"/>
            <a:ext cx="502920" cy="3657600"/>
          </a:xfrm>
          <a:prstGeom prst="roundRect">
            <a:avLst>
              <a:gd name="adj" fmla="val 12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3233A"/>
                </a:solidFill>
              </a:rPr>
              <a:t>AC bus</a:t>
            </a:r>
          </a:p>
        </p:txBody>
      </p:sp>
      <p:cxnSp>
        <p:nvCxnSpPr>
          <p:cNvPr id="17" name="Connector 16"/>
          <p:cNvCxnSpPr/>
          <p:nvPr/>
        </p:nvCxnSpPr>
        <p:spPr>
          <a:xfrm>
            <a:off x="4724704" y="1828800"/>
            <a:ext cx="411480" cy="0"/>
          </a:xfrm>
          <a:prstGeom prst="line">
            <a:avLst/>
          </a:prstGeom>
          <a:ln w="25400">
            <a:solidFill>
              <a:srgbClr val="1F7A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724704" y="3703320"/>
            <a:ext cx="411480" cy="0"/>
          </a:xfrm>
          <a:prstGeom prst="line">
            <a:avLst/>
          </a:prstGeom>
          <a:ln w="25400">
            <a:solidFill>
              <a:srgbClr val="2A78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724704" y="3886200"/>
            <a:ext cx="411480" cy="0"/>
          </a:xfrm>
          <a:prstGeom prst="line">
            <a:avLst/>
          </a:prstGeom>
          <a:ln w="25400">
            <a:solidFill>
              <a:srgbClr val="2A78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004864" y="2331720"/>
            <a:ext cx="1691640" cy="1005840"/>
          </a:xfrm>
          <a:prstGeom prst="roundRect">
            <a:avLst>
              <a:gd name="adj" fmla="val 12000"/>
            </a:avLst>
          </a:prstGeom>
          <a:solidFill>
            <a:srgbClr val="FBFBF8"/>
          </a:solidFill>
          <a:ln w="12700">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C86A0A"/>
                </a:solidFill>
              </a:rPr>
              <a:t>Department loads</a:t>
            </a:r>
          </a:p>
          <a:p>
            <a:pPr algn="ctr">
              <a:spcAft>
                <a:spcPts val="0"/>
              </a:spcAft>
            </a:pPr>
            <a:r>
              <a:rPr sz="1100" b="0" i="0">
                <a:solidFill>
                  <a:srgbClr val="4A5568"/>
                </a:solidFill>
              </a:rPr>
              <a:t>Mech + Workshop, Electrical</a:t>
            </a:r>
          </a:p>
        </p:txBody>
      </p:sp>
      <p:cxnSp>
        <p:nvCxnSpPr>
          <p:cNvPr id="21" name="Connector 20"/>
          <p:cNvCxnSpPr/>
          <p:nvPr/>
        </p:nvCxnSpPr>
        <p:spPr>
          <a:xfrm>
            <a:off x="5639104" y="2834640"/>
            <a:ext cx="365760" cy="0"/>
          </a:xfrm>
          <a:prstGeom prst="line">
            <a:avLst/>
          </a:prstGeom>
          <a:ln w="25400">
            <a:solidFill>
              <a:srgbClr val="C86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004864" y="3703320"/>
            <a:ext cx="1691640" cy="548640"/>
          </a:xfrm>
          <a:prstGeom prst="roundRect">
            <a:avLst>
              <a:gd name="adj" fmla="val 12000"/>
            </a:avLst>
          </a:prstGeom>
          <a:solidFill>
            <a:srgbClr val="FFFFFF"/>
          </a:solidFill>
          <a:ln w="12700">
            <a:solidFill>
              <a:srgbClr val="E3494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E34948"/>
                </a:solidFill>
              </a:rPr>
              <a:t>Unmet demand</a:t>
            </a:r>
          </a:p>
        </p:txBody>
      </p:sp>
      <p:sp>
        <p:nvSpPr>
          <p:cNvPr id="23" name="Rounded Rectangle 22"/>
          <p:cNvSpPr/>
          <p:nvPr/>
        </p:nvSpPr>
        <p:spPr>
          <a:xfrm>
            <a:off x="3124504" y="2395728"/>
            <a:ext cx="1600200" cy="502920"/>
          </a:xfrm>
          <a:prstGeom prst="roundRect">
            <a:avLst>
              <a:gd name="adj" fmla="val 12000"/>
            </a:avLst>
          </a:prstGeom>
          <a:solidFill>
            <a:srgbClr val="FFFFFF"/>
          </a:solidFill>
          <a:ln w="12700">
            <a:solidFill>
              <a:srgbClr val="8A9AA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5F6B78"/>
                </a:solidFill>
              </a:rPr>
              <a:t>Curtailed PV</a:t>
            </a:r>
          </a:p>
        </p:txBody>
      </p:sp>
      <p:cxnSp>
        <p:nvCxnSpPr>
          <p:cNvPr id="24" name="Connector 23"/>
          <p:cNvCxnSpPr/>
          <p:nvPr/>
        </p:nvCxnSpPr>
        <p:spPr>
          <a:xfrm>
            <a:off x="3920032" y="2148840"/>
            <a:ext cx="0" cy="246888"/>
          </a:xfrm>
          <a:prstGeom prst="line">
            <a:avLst/>
          </a:prstGeom>
          <a:ln w="15875">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09904" y="4709160"/>
            <a:ext cx="2103120" cy="685800"/>
          </a:xfrm>
          <a:prstGeom prst="roundRect">
            <a:avLst>
              <a:gd name="adj" fmla="val 12000"/>
            </a:avLst>
          </a:prstGeom>
          <a:solidFill>
            <a:srgbClr val="FFFFFF"/>
          </a:solidFill>
          <a:ln w="12700">
            <a:solidFill>
              <a:srgbClr val="6250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6250D6"/>
                </a:solidFill>
              </a:rPr>
              <a:t>Supercapacitor (option)</a:t>
            </a:r>
          </a:p>
          <a:p>
            <a:pPr algn="ctr">
              <a:spcAft>
                <a:spcPts val="0"/>
              </a:spcAft>
            </a:pPr>
            <a:r>
              <a:rPr sz="1100" b="0" i="0">
                <a:solidFill>
                  <a:srgbClr val="4A5568"/>
                </a:solidFill>
              </a:rPr>
              <a:t>4 strings × 24 modules</a:t>
            </a:r>
          </a:p>
        </p:txBody>
      </p:sp>
      <p:sp>
        <p:nvSpPr>
          <p:cNvPr id="26" name="Rounded Rectangle 25"/>
          <p:cNvSpPr/>
          <p:nvPr/>
        </p:nvSpPr>
        <p:spPr>
          <a:xfrm>
            <a:off x="3124504" y="4754880"/>
            <a:ext cx="1600200" cy="594360"/>
          </a:xfrm>
          <a:prstGeom prst="roundRect">
            <a:avLst>
              <a:gd name="adj" fmla="val 12000"/>
            </a:avLst>
          </a:prstGeom>
          <a:solidFill>
            <a:srgbClr val="FFFFFF"/>
          </a:solidFill>
          <a:ln w="12700">
            <a:solidFill>
              <a:srgbClr val="6250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DC–DC stage</a:t>
            </a:r>
          </a:p>
        </p:txBody>
      </p:sp>
      <p:cxnSp>
        <p:nvCxnSpPr>
          <p:cNvPr id="27" name="Connector 26"/>
          <p:cNvCxnSpPr/>
          <p:nvPr/>
        </p:nvCxnSpPr>
        <p:spPr>
          <a:xfrm>
            <a:off x="2713024" y="5047488"/>
            <a:ext cx="411480" cy="0"/>
          </a:xfrm>
          <a:prstGeom prst="line">
            <a:avLst/>
          </a:prstGeom>
          <a:ln w="19050">
            <a:solidFill>
              <a:srgbClr val="6250D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920032" y="4114800"/>
            <a:ext cx="0" cy="640080"/>
          </a:xfrm>
          <a:prstGeom prst="line">
            <a:avLst/>
          </a:prstGeom>
          <a:ln w="19050">
            <a:solidFill>
              <a:srgbClr val="6250D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904" y="5532120"/>
            <a:ext cx="7132320" cy="274320"/>
          </a:xfrm>
          <a:prstGeom prst="rect">
            <a:avLst/>
          </a:prstGeom>
          <a:noFill/>
        </p:spPr>
        <p:txBody>
          <a:bodyPr wrap="square" lIns="27432" rIns="27432" tIns="27432" bIns="27432" anchor="t"/>
          <a:lstStyle/>
          <a:p>
            <a:pPr algn="l">
              <a:spcAft>
                <a:spcPts val="400"/>
              </a:spcAft>
            </a:pPr>
            <a:r>
              <a:rPr sz="1100" b="0" i="1">
                <a:solidFill>
                  <a:srgbClr val="5F6B78"/>
                </a:solidFill>
              </a:rPr>
              <a:t>Studied separately with 1-second load data (slides 29–30); not part of the hourly balance.</a:t>
            </a:r>
          </a:p>
        </p:txBody>
      </p:sp>
      <p:sp>
        <p:nvSpPr>
          <p:cNvPr id="30" name="Rounded Rectangle 29"/>
          <p:cNvSpPr/>
          <p:nvPr/>
        </p:nvSpPr>
        <p:spPr>
          <a:xfrm>
            <a:off x="7909560" y="1325880"/>
            <a:ext cx="3657600" cy="475488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2440" y="1417320"/>
            <a:ext cx="3291840" cy="365760"/>
          </a:xfrm>
          <a:prstGeom prst="rect">
            <a:avLst/>
          </a:prstGeom>
          <a:noFill/>
        </p:spPr>
        <p:txBody>
          <a:bodyPr wrap="square" lIns="27432" rIns="27432" tIns="27432" bIns="27432" anchor="t"/>
          <a:lstStyle/>
          <a:p>
            <a:pPr algn="l">
              <a:spcAft>
                <a:spcPts val="400"/>
              </a:spcAft>
            </a:pPr>
            <a:r>
              <a:rPr sz="1500" b="1" i="0">
                <a:solidFill>
                  <a:srgbClr val="13233A"/>
                </a:solidFill>
              </a:rPr>
              <a:t>Hourly dispatch rules</a:t>
            </a:r>
          </a:p>
        </p:txBody>
      </p:sp>
      <p:sp>
        <p:nvSpPr>
          <p:cNvPr id="32" name="Oval 31"/>
          <p:cNvSpPr/>
          <p:nvPr/>
        </p:nvSpPr>
        <p:spPr>
          <a:xfrm>
            <a:off x="8092440" y="1956816"/>
            <a:ext cx="347472" cy="347472"/>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92440" y="1956816"/>
            <a:ext cx="347472" cy="347472"/>
          </a:xfrm>
          <a:prstGeom prst="rect">
            <a:avLst/>
          </a:prstGeom>
          <a:noFill/>
        </p:spPr>
        <p:txBody>
          <a:bodyPr wrap="square" lIns="0" rIns="0" tIns="0" bIns="0" anchor="ctr"/>
          <a:lstStyle/>
          <a:p>
            <a:pPr algn="ctr">
              <a:spcAft>
                <a:spcPts val="400"/>
              </a:spcAft>
            </a:pPr>
            <a:r>
              <a:rPr sz="1200" b="1" i="0">
                <a:solidFill>
                  <a:srgbClr val="FFFFFF"/>
                </a:solidFill>
              </a:rPr>
              <a:t>1</a:t>
            </a:r>
          </a:p>
        </p:txBody>
      </p:sp>
      <p:sp>
        <p:nvSpPr>
          <p:cNvPr id="34" name="TextBox 33"/>
          <p:cNvSpPr txBox="1"/>
          <p:nvPr/>
        </p:nvSpPr>
        <p:spPr>
          <a:xfrm>
            <a:off x="8567928" y="1920240"/>
            <a:ext cx="2880360" cy="777240"/>
          </a:xfrm>
          <a:prstGeom prst="rect">
            <a:avLst/>
          </a:prstGeom>
          <a:noFill/>
        </p:spPr>
        <p:txBody>
          <a:bodyPr wrap="square" lIns="27432" rIns="27432" tIns="27432" bIns="27432" anchor="t"/>
          <a:lstStyle/>
          <a:p>
            <a:pPr algn="l">
              <a:spcAft>
                <a:spcPts val="400"/>
              </a:spcAft>
            </a:pPr>
            <a:r>
              <a:rPr sz="1300" b="0" i="0">
                <a:solidFill>
                  <a:srgbClr val="4A5568"/>
                </a:solidFill>
              </a:rPr>
              <a:t>PV serves the load directly.</a:t>
            </a:r>
          </a:p>
        </p:txBody>
      </p:sp>
      <p:sp>
        <p:nvSpPr>
          <p:cNvPr id="35" name="Oval 34"/>
          <p:cNvSpPr/>
          <p:nvPr/>
        </p:nvSpPr>
        <p:spPr>
          <a:xfrm>
            <a:off x="8092440" y="2761488"/>
            <a:ext cx="347472" cy="347472"/>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92440" y="2761488"/>
            <a:ext cx="347472" cy="347472"/>
          </a:xfrm>
          <a:prstGeom prst="rect">
            <a:avLst/>
          </a:prstGeom>
          <a:noFill/>
        </p:spPr>
        <p:txBody>
          <a:bodyPr wrap="square" lIns="0" rIns="0" tIns="0" bIns="0" anchor="ctr"/>
          <a:lstStyle/>
          <a:p>
            <a:pPr algn="ctr">
              <a:spcAft>
                <a:spcPts val="400"/>
              </a:spcAft>
            </a:pPr>
            <a:r>
              <a:rPr sz="1200" b="1" i="0">
                <a:solidFill>
                  <a:srgbClr val="FFFFFF"/>
                </a:solidFill>
              </a:rPr>
              <a:t>2</a:t>
            </a:r>
          </a:p>
        </p:txBody>
      </p:sp>
      <p:sp>
        <p:nvSpPr>
          <p:cNvPr id="37" name="TextBox 36"/>
          <p:cNvSpPr txBox="1"/>
          <p:nvPr/>
        </p:nvSpPr>
        <p:spPr>
          <a:xfrm>
            <a:off x="8567928" y="2724912"/>
            <a:ext cx="2880360" cy="777240"/>
          </a:xfrm>
          <a:prstGeom prst="rect">
            <a:avLst/>
          </a:prstGeom>
          <a:noFill/>
        </p:spPr>
        <p:txBody>
          <a:bodyPr wrap="square" lIns="27432" rIns="27432" tIns="27432" bIns="27432" anchor="t"/>
          <a:lstStyle/>
          <a:p>
            <a:pPr algn="l">
              <a:spcAft>
                <a:spcPts val="400"/>
              </a:spcAft>
            </a:pPr>
            <a:r>
              <a:rPr sz="1300" b="0" i="0">
                <a:solidFill>
                  <a:srgbClr val="4A5568"/>
                </a:solidFill>
              </a:rPr>
              <a:t>Surplus charges the battery, limited by charge current, converter rating and room in the battery.</a:t>
            </a:r>
          </a:p>
        </p:txBody>
      </p:sp>
      <p:sp>
        <p:nvSpPr>
          <p:cNvPr id="38" name="Oval 37"/>
          <p:cNvSpPr/>
          <p:nvPr/>
        </p:nvSpPr>
        <p:spPr>
          <a:xfrm>
            <a:off x="8092440" y="3566160"/>
            <a:ext cx="347472" cy="347472"/>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92440" y="3566160"/>
            <a:ext cx="347472" cy="347472"/>
          </a:xfrm>
          <a:prstGeom prst="rect">
            <a:avLst/>
          </a:prstGeom>
          <a:noFill/>
        </p:spPr>
        <p:txBody>
          <a:bodyPr wrap="square" lIns="0" rIns="0" tIns="0" bIns="0" anchor="ctr"/>
          <a:lstStyle/>
          <a:p>
            <a:pPr algn="ctr">
              <a:spcAft>
                <a:spcPts val="400"/>
              </a:spcAft>
            </a:pPr>
            <a:r>
              <a:rPr sz="1200" b="1" i="0">
                <a:solidFill>
                  <a:srgbClr val="FFFFFF"/>
                </a:solidFill>
              </a:rPr>
              <a:t>3</a:t>
            </a:r>
          </a:p>
        </p:txBody>
      </p:sp>
      <p:sp>
        <p:nvSpPr>
          <p:cNvPr id="40" name="TextBox 39"/>
          <p:cNvSpPr txBox="1"/>
          <p:nvPr/>
        </p:nvSpPr>
        <p:spPr>
          <a:xfrm>
            <a:off x="8567928" y="3529584"/>
            <a:ext cx="2880360" cy="777240"/>
          </a:xfrm>
          <a:prstGeom prst="rect">
            <a:avLst/>
          </a:prstGeom>
          <a:noFill/>
        </p:spPr>
        <p:txBody>
          <a:bodyPr wrap="square" lIns="27432" rIns="27432" tIns="27432" bIns="27432" anchor="t"/>
          <a:lstStyle/>
          <a:p>
            <a:pPr algn="l">
              <a:spcAft>
                <a:spcPts val="400"/>
              </a:spcAft>
            </a:pPr>
            <a:r>
              <a:rPr sz="1300" b="0" i="0">
                <a:solidFill>
                  <a:srgbClr val="4A5568"/>
                </a:solidFill>
              </a:rPr>
              <a:t>Whatever cannot be stored is curtailed.</a:t>
            </a:r>
          </a:p>
        </p:txBody>
      </p:sp>
      <p:sp>
        <p:nvSpPr>
          <p:cNvPr id="41" name="Oval 40"/>
          <p:cNvSpPr/>
          <p:nvPr/>
        </p:nvSpPr>
        <p:spPr>
          <a:xfrm>
            <a:off x="8092440" y="4370832"/>
            <a:ext cx="347472" cy="347472"/>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92440" y="4370832"/>
            <a:ext cx="347472" cy="347472"/>
          </a:xfrm>
          <a:prstGeom prst="rect">
            <a:avLst/>
          </a:prstGeom>
          <a:noFill/>
        </p:spPr>
        <p:txBody>
          <a:bodyPr wrap="square" lIns="0" rIns="0" tIns="0" bIns="0" anchor="ctr"/>
          <a:lstStyle/>
          <a:p>
            <a:pPr algn="ctr">
              <a:spcAft>
                <a:spcPts val="400"/>
              </a:spcAft>
            </a:pPr>
            <a:r>
              <a:rPr sz="1200" b="1" i="0">
                <a:solidFill>
                  <a:srgbClr val="FFFFFF"/>
                </a:solidFill>
              </a:rPr>
              <a:t>4</a:t>
            </a:r>
          </a:p>
        </p:txBody>
      </p:sp>
      <p:sp>
        <p:nvSpPr>
          <p:cNvPr id="43" name="TextBox 42"/>
          <p:cNvSpPr txBox="1"/>
          <p:nvPr/>
        </p:nvSpPr>
        <p:spPr>
          <a:xfrm>
            <a:off x="8567928" y="4334256"/>
            <a:ext cx="2880360" cy="777240"/>
          </a:xfrm>
          <a:prstGeom prst="rect">
            <a:avLst/>
          </a:prstGeom>
          <a:noFill/>
        </p:spPr>
        <p:txBody>
          <a:bodyPr wrap="square" lIns="27432" rIns="27432" tIns="27432" bIns="27432" anchor="t"/>
          <a:lstStyle/>
          <a:p>
            <a:pPr algn="l">
              <a:spcAft>
                <a:spcPts val="400"/>
              </a:spcAft>
            </a:pPr>
            <a:r>
              <a:rPr sz="1300" b="0" i="0">
                <a:solidFill>
                  <a:srgbClr val="4A5568"/>
                </a:solidFill>
              </a:rPr>
              <a:t>A deficit is drawn from the battery, down to 20 % state of charge.</a:t>
            </a:r>
          </a:p>
        </p:txBody>
      </p:sp>
      <p:sp>
        <p:nvSpPr>
          <p:cNvPr id="44" name="Oval 43"/>
          <p:cNvSpPr/>
          <p:nvPr/>
        </p:nvSpPr>
        <p:spPr>
          <a:xfrm>
            <a:off x="8092440" y="5175504"/>
            <a:ext cx="347472" cy="347472"/>
          </a:xfrm>
          <a:prstGeom prst="ellipse">
            <a:avLst/>
          </a:prstGeom>
          <a:solidFill>
            <a:srgbClr val="2E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92440" y="5175504"/>
            <a:ext cx="347472" cy="347472"/>
          </a:xfrm>
          <a:prstGeom prst="rect">
            <a:avLst/>
          </a:prstGeom>
          <a:noFill/>
        </p:spPr>
        <p:txBody>
          <a:bodyPr wrap="square" lIns="0" rIns="0" tIns="0" bIns="0" anchor="ctr"/>
          <a:lstStyle/>
          <a:p>
            <a:pPr algn="ctr">
              <a:spcAft>
                <a:spcPts val="400"/>
              </a:spcAft>
            </a:pPr>
            <a:r>
              <a:rPr sz="1200" b="1" i="0">
                <a:solidFill>
                  <a:srgbClr val="FFFFFF"/>
                </a:solidFill>
              </a:rPr>
              <a:t>5</a:t>
            </a:r>
          </a:p>
        </p:txBody>
      </p:sp>
      <p:sp>
        <p:nvSpPr>
          <p:cNvPr id="46" name="TextBox 45"/>
          <p:cNvSpPr txBox="1"/>
          <p:nvPr/>
        </p:nvSpPr>
        <p:spPr>
          <a:xfrm>
            <a:off x="8567928" y="5138928"/>
            <a:ext cx="2880360" cy="777240"/>
          </a:xfrm>
          <a:prstGeom prst="rect">
            <a:avLst/>
          </a:prstGeom>
          <a:noFill/>
        </p:spPr>
        <p:txBody>
          <a:bodyPr wrap="square" lIns="27432" rIns="27432" tIns="27432" bIns="27432" anchor="t"/>
          <a:lstStyle/>
          <a:p>
            <a:pPr algn="l">
              <a:spcAft>
                <a:spcPts val="400"/>
              </a:spcAft>
            </a:pPr>
            <a:r>
              <a:rPr sz="1300" b="0" i="0">
                <a:solidFill>
                  <a:srgbClr val="4A5568"/>
                </a:solidFill>
              </a:rPr>
              <a:t>Demand the battery cannot cover is unmet: it counts towards LPSP.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MODELLING</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Demand and weather data pipeline</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13 / 34</a:t>
            </a:r>
          </a:p>
        </p:txBody>
      </p:sp>
      <p:sp>
        <p:nvSpPr>
          <p:cNvPr id="9" name="Rounded Rectangle 8"/>
          <p:cNvSpPr/>
          <p:nvPr/>
        </p:nvSpPr>
        <p:spPr>
          <a:xfrm>
            <a:off x="609904" y="1325880"/>
            <a:ext cx="1874519" cy="777240"/>
          </a:xfrm>
          <a:prstGeom prst="roundRect">
            <a:avLst>
              <a:gd name="adj" fmla="val 12000"/>
            </a:avLst>
          </a:prstGeom>
          <a:solidFill>
            <a:srgbClr val="FBFBF8"/>
          </a:solidFill>
          <a:ln w="12700">
            <a:solidFill>
              <a:srgbClr val="C8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Equipment inventory
per department</a:t>
            </a:r>
          </a:p>
        </p:txBody>
      </p:sp>
      <p:sp>
        <p:nvSpPr>
          <p:cNvPr id="10" name="Rounded Rectangle 9"/>
          <p:cNvSpPr/>
          <p:nvPr/>
        </p:nvSpPr>
        <p:spPr>
          <a:xfrm>
            <a:off x="2804464" y="1325880"/>
            <a:ext cx="1874519" cy="777240"/>
          </a:xfrm>
          <a:prstGeom prst="roundRect">
            <a:avLst>
              <a:gd name="adj" fmla="val 12000"/>
            </a:avLst>
          </a:prstGeom>
          <a:solidFill>
            <a:srgbClr val="FBFBF8"/>
          </a:solidFill>
          <a:ln w="12700">
            <a:solidFill>
              <a:srgbClr val="C8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Rated kW × duty
× operating hours</a:t>
            </a:r>
          </a:p>
        </p:txBody>
      </p:sp>
      <p:cxnSp>
        <p:nvCxnSpPr>
          <p:cNvPr id="11" name="Connector 10"/>
          <p:cNvCxnSpPr/>
          <p:nvPr/>
        </p:nvCxnSpPr>
        <p:spPr>
          <a:xfrm>
            <a:off x="2484424" y="1714500"/>
            <a:ext cx="320040" cy="0"/>
          </a:xfrm>
          <a:prstGeom prst="line">
            <a:avLst/>
          </a:prstGeom>
          <a:ln w="22225">
            <a:solidFill>
              <a:srgbClr val="C86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99024" y="1325880"/>
            <a:ext cx="1874519" cy="777240"/>
          </a:xfrm>
          <a:prstGeom prst="roundRect">
            <a:avLst>
              <a:gd name="adj" fmla="val 12000"/>
            </a:avLst>
          </a:prstGeom>
          <a:solidFill>
            <a:srgbClr val="FBFBF8"/>
          </a:solidFill>
          <a:ln w="12700">
            <a:solidFill>
              <a:srgbClr val="C8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Weekday and
vacation calendar</a:t>
            </a:r>
          </a:p>
        </p:txBody>
      </p:sp>
      <p:cxnSp>
        <p:nvCxnSpPr>
          <p:cNvPr id="13" name="Connector 12"/>
          <p:cNvCxnSpPr/>
          <p:nvPr/>
        </p:nvCxnSpPr>
        <p:spPr>
          <a:xfrm>
            <a:off x="4678984" y="1714500"/>
            <a:ext cx="320040" cy="0"/>
          </a:xfrm>
          <a:prstGeom prst="line">
            <a:avLst/>
          </a:prstGeom>
          <a:ln w="22225">
            <a:solidFill>
              <a:srgbClr val="C86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193584" y="1325880"/>
            <a:ext cx="1874519" cy="777240"/>
          </a:xfrm>
          <a:prstGeom prst="roundRect">
            <a:avLst>
              <a:gd name="adj" fmla="val 12000"/>
            </a:avLst>
          </a:prstGeom>
          <a:solidFill>
            <a:srgbClr val="FBFBF8"/>
          </a:solidFill>
          <a:ln w="12700">
            <a:solidFill>
              <a:srgbClr val="C86A0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Hourly department
profiles</a:t>
            </a:r>
          </a:p>
        </p:txBody>
      </p:sp>
      <p:cxnSp>
        <p:nvCxnSpPr>
          <p:cNvPr id="15" name="Connector 14"/>
          <p:cNvCxnSpPr/>
          <p:nvPr/>
        </p:nvCxnSpPr>
        <p:spPr>
          <a:xfrm>
            <a:off x="6873544" y="1714500"/>
            <a:ext cx="320040" cy="0"/>
          </a:xfrm>
          <a:prstGeom prst="line">
            <a:avLst/>
          </a:prstGeom>
          <a:ln w="22225">
            <a:solidFill>
              <a:srgbClr val="C86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9904" y="2423160"/>
            <a:ext cx="1874519" cy="777240"/>
          </a:xfrm>
          <a:prstGeom prst="roundRect">
            <a:avLst>
              <a:gd name="adj" fmla="val 12000"/>
            </a:avLst>
          </a:prstGeom>
          <a:solidFill>
            <a:srgbClr val="FBFBF8"/>
          </a:solidFill>
          <a:ln w="12700">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NASA POWER 2023
GHI + temperature</a:t>
            </a:r>
          </a:p>
        </p:txBody>
      </p:sp>
      <p:sp>
        <p:nvSpPr>
          <p:cNvPr id="17" name="Rounded Rectangle 16"/>
          <p:cNvSpPr/>
          <p:nvPr/>
        </p:nvSpPr>
        <p:spPr>
          <a:xfrm>
            <a:off x="2804464" y="2423160"/>
            <a:ext cx="1874519" cy="777240"/>
          </a:xfrm>
          <a:prstGeom prst="roundRect">
            <a:avLst>
              <a:gd name="adj" fmla="val 12000"/>
            </a:avLst>
          </a:prstGeom>
          <a:solidFill>
            <a:srgbClr val="FBFBF8"/>
          </a:solidFill>
          <a:ln w="12700">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Gap filling and
clean-up</a:t>
            </a:r>
          </a:p>
        </p:txBody>
      </p:sp>
      <p:cxnSp>
        <p:nvCxnSpPr>
          <p:cNvPr id="18" name="Connector 17"/>
          <p:cNvCxnSpPr/>
          <p:nvPr/>
        </p:nvCxnSpPr>
        <p:spPr>
          <a:xfrm>
            <a:off x="2484424" y="2811779"/>
            <a:ext cx="320040" cy="0"/>
          </a:xfrm>
          <a:prstGeom prst="line">
            <a:avLst/>
          </a:prstGeom>
          <a:ln w="22225">
            <a:solidFill>
              <a:srgbClr val="1F7A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433864" y="1325880"/>
            <a:ext cx="1828800" cy="1874519"/>
          </a:xfrm>
          <a:prstGeom prst="roundRect">
            <a:avLst>
              <a:gd name="adj" fmla="val 12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FFFFFF"/>
                </a:solidFill>
              </a:rPr>
              <a:t>data/inputs.csv</a:t>
            </a:r>
          </a:p>
          <a:p>
            <a:pPr algn="ctr">
              <a:spcAft>
                <a:spcPts val="0"/>
              </a:spcAft>
            </a:pPr>
            <a:r>
              <a:rPr sz="1100" b="0" i="0">
                <a:solidFill>
                  <a:srgbClr val="C9D4DF"/>
                </a:solidFill>
              </a:rPr>
              <a:t>8,760 hours:</a:t>
            </a:r>
          </a:p>
          <a:p>
            <a:pPr algn="ctr">
              <a:spcAft>
                <a:spcPts val="0"/>
              </a:spcAft>
            </a:pPr>
            <a:r>
              <a:rPr sz="1100" b="0" i="0">
                <a:solidFill>
                  <a:srgbClr val="C9D4DF"/>
                </a:solidFill>
              </a:rPr>
              <a:t>load, GHI, T</a:t>
            </a:r>
          </a:p>
        </p:txBody>
      </p:sp>
      <p:cxnSp>
        <p:nvCxnSpPr>
          <p:cNvPr id="20" name="Connector 19"/>
          <p:cNvCxnSpPr/>
          <p:nvPr/>
        </p:nvCxnSpPr>
        <p:spPr>
          <a:xfrm>
            <a:off x="9068104" y="1714500"/>
            <a:ext cx="365760" cy="0"/>
          </a:xfrm>
          <a:prstGeom prst="line">
            <a:avLst/>
          </a:prstGeom>
          <a:ln w="22225">
            <a:solidFill>
              <a:srgbClr val="C86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78984" y="2811779"/>
            <a:ext cx="4754880" cy="0"/>
          </a:xfrm>
          <a:prstGeom prst="line">
            <a:avLst/>
          </a:prstGeom>
          <a:ln w="22225">
            <a:solidFill>
              <a:srgbClr val="1F7A72"/>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2" name="load_heatmap" descr="Project figure load_heatmap.png: load heatmap"/>
          <p:cNvPicPr>
            <a:picLocks noChangeAspect="1"/>
          </p:cNvPicPr>
          <p:nvPr/>
        </p:nvPicPr>
        <p:blipFill>
          <a:blip r:embed="rId2"/>
          <a:stretch>
            <a:fillRect/>
          </a:stretch>
        </p:blipFill>
        <p:spPr>
          <a:xfrm>
            <a:off x="609904" y="3520440"/>
            <a:ext cx="6766560" cy="2460567"/>
          </a:xfrm>
          <a:prstGeom prst="rect">
            <a:avLst/>
          </a:prstGeom>
          <a:ln w="9525">
            <a:solidFill>
              <a:srgbClr val="D5DBE1"/>
            </a:solidFill>
          </a:ln>
        </p:spPr>
      </p:pic>
      <p:sp>
        <p:nvSpPr>
          <p:cNvPr id="23" name="TextBox 22"/>
          <p:cNvSpPr txBox="1"/>
          <p:nvPr/>
        </p:nvSpPr>
        <p:spPr>
          <a:xfrm>
            <a:off x="609904" y="6008439"/>
            <a:ext cx="6766560" cy="274320"/>
          </a:xfrm>
          <a:prstGeom prst="rect">
            <a:avLst/>
          </a:prstGeom>
          <a:noFill/>
        </p:spPr>
        <p:txBody>
          <a:bodyPr wrap="square" lIns="27432" rIns="27432" tIns="27432" bIns="27432" anchor="t"/>
          <a:lstStyle/>
          <a:p>
            <a:pPr algn="l">
              <a:spcAft>
                <a:spcPts val="400"/>
              </a:spcAft>
            </a:pPr>
            <a:r>
              <a:rPr sz="1100" b="0" i="1">
                <a:solidFill>
                  <a:srgbClr val="5F6B78"/>
                </a:solidFill>
              </a:rPr>
              <a:t>Every hour of the year: working hours, weekends and vacations show clearly.</a:t>
            </a:r>
          </a:p>
        </p:txBody>
      </p:sp>
      <p:sp>
        <p:nvSpPr>
          <p:cNvPr id="24" name="Rounded Rectangle 23"/>
          <p:cNvSpPr/>
          <p:nvPr/>
        </p:nvSpPr>
        <p:spPr>
          <a:xfrm>
            <a:off x="7680960" y="3520440"/>
            <a:ext cx="3904487" cy="566928"/>
          </a:xfrm>
          <a:prstGeom prst="roundRect">
            <a:avLst>
              <a:gd name="adj" fmla="val 12000"/>
            </a:avLst>
          </a:prstGeom>
          <a:solidFill>
            <a:srgbClr val="FFFFFF"/>
          </a:solidFill>
          <a:ln w="12700">
            <a:solidFill>
              <a:srgbClr val="6250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13233A"/>
                </a:solidFill>
              </a:rPr>
              <a:t>Worst-case transient → transient_spec.csv</a:t>
            </a:r>
          </a:p>
          <a:p>
            <a:pPr algn="ctr">
              <a:spcAft>
                <a:spcPts val="0"/>
              </a:spcAft>
            </a:pPr>
            <a:r>
              <a:rPr sz="1100" b="0" i="0">
                <a:solidFill>
                  <a:srgbClr val="13233A"/>
                </a:solidFill>
              </a:rPr>
              <a:t>4 machines together: 93 kW for 5 s (465 kJ)</a:t>
            </a:r>
          </a:p>
        </p:txBody>
      </p:sp>
      <p:sp>
        <p:nvSpPr>
          <p:cNvPr id="25" name="Rounded Rectangle 24"/>
          <p:cNvSpPr/>
          <p:nvPr/>
        </p:nvSpPr>
        <p:spPr>
          <a:xfrm>
            <a:off x="7680960" y="4178808"/>
            <a:ext cx="3904487" cy="566928"/>
          </a:xfrm>
          <a:prstGeom prst="roundRect">
            <a:avLst>
              <a:gd name="adj" fmla="val 12000"/>
            </a:avLst>
          </a:prstGeom>
          <a:solidFill>
            <a:srgbClr val="FFFFFF"/>
          </a:solidFill>
          <a:ln w="12700">
            <a:solidFill>
              <a:srgbClr val="1F7A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13233A"/>
                </a:solidFill>
              </a:rPr>
              <a:t>NASA POWER 2013–2024</a:t>
            </a:r>
          </a:p>
          <a:p>
            <a:pPr algn="ctr">
              <a:spcAft>
                <a:spcPts val="0"/>
              </a:spcAft>
            </a:pPr>
            <a:r>
              <a:rPr sz="1100" b="0" i="0">
                <a:solidFill>
                  <a:srgbClr val="13233A"/>
                </a:solidFill>
              </a:rPr>
              <a:t>weather years for robustness and Monte Carlo</a:t>
            </a:r>
          </a:p>
        </p:txBody>
      </p:sp>
      <p:sp>
        <p:nvSpPr>
          <p:cNvPr id="26" name="Rounded Rectangle 25"/>
          <p:cNvSpPr/>
          <p:nvPr/>
        </p:nvSpPr>
        <p:spPr>
          <a:xfrm>
            <a:off x="7680960" y="4864608"/>
            <a:ext cx="3904487" cy="1261872"/>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45552" y="4974336"/>
            <a:ext cx="3575303" cy="365760"/>
          </a:xfrm>
          <a:prstGeom prst="rect">
            <a:avLst/>
          </a:prstGeom>
          <a:noFill/>
        </p:spPr>
        <p:txBody>
          <a:bodyPr wrap="square" lIns="27432" rIns="27432" tIns="27432" bIns="27432" anchor="t"/>
          <a:lstStyle/>
          <a:p>
            <a:pPr algn="l">
              <a:spcAft>
                <a:spcPts val="400"/>
              </a:spcAft>
            </a:pPr>
            <a:r>
              <a:rPr sz="1400" b="1" i="0">
                <a:solidFill>
                  <a:srgbClr val="13233A"/>
                </a:solidFill>
              </a:rPr>
              <a:t>Assumptions to state</a:t>
            </a:r>
          </a:p>
        </p:txBody>
      </p:sp>
      <p:sp>
        <p:nvSpPr>
          <p:cNvPr id="28" name="TextBox 27"/>
          <p:cNvSpPr txBox="1"/>
          <p:nvPr/>
        </p:nvSpPr>
        <p:spPr>
          <a:xfrm>
            <a:off x="7845552" y="5385816"/>
            <a:ext cx="3575303" cy="667511"/>
          </a:xfrm>
          <a:prstGeom prst="rect">
            <a:avLst/>
          </a:prstGeom>
          <a:noFill/>
        </p:spPr>
        <p:txBody>
          <a:bodyPr wrap="square" lIns="27432" rIns="27432" tIns="27432" bIns="27432" anchor="t"/>
          <a:lstStyle/>
          <a:p>
            <a:pPr algn="l" marL="201168" indent="-182880">
              <a:spcAft>
                <a:spcPts val="400"/>
              </a:spcAft>
              <a:buChar char="•"/>
            </a:pPr>
            <a:r>
              <a:rPr sz="1200" b="0" i="0">
                <a:solidFill>
                  <a:srgbClr val="4A5568"/>
                </a:solidFill>
              </a:rPr>
              <a:t>Ratings are estimates; load is not metered</a:t>
            </a:r>
          </a:p>
          <a:p>
            <a:pPr algn="l" marL="201168" indent="-182880">
              <a:spcAft>
                <a:spcPts val="400"/>
              </a:spcAft>
              <a:buChar char="•"/>
            </a:pPr>
            <a:r>
              <a:rPr sz="1200" b="0" i="0">
                <a:solidFill>
                  <a:srgbClr val="4A5568"/>
                </a:solidFill>
              </a:rPr>
              <a:t>Same 2023 load shape in every weather year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MODELLING</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PV, battery and converter models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14 / 34</a:t>
            </a:r>
          </a:p>
        </p:txBody>
      </p:sp>
      <p:sp>
        <p:nvSpPr>
          <p:cNvPr id="9" name="Rounded Rectangle 8"/>
          <p:cNvSpPr/>
          <p:nvPr/>
        </p:nvSpPr>
        <p:spPr>
          <a:xfrm>
            <a:off x="609904" y="1280160"/>
            <a:ext cx="3511296" cy="484632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784" y="1371600"/>
            <a:ext cx="3145536" cy="365760"/>
          </a:xfrm>
          <a:prstGeom prst="rect">
            <a:avLst/>
          </a:prstGeom>
          <a:noFill/>
        </p:spPr>
        <p:txBody>
          <a:bodyPr wrap="square" lIns="27432" rIns="27432" tIns="27432" bIns="27432" anchor="t"/>
          <a:lstStyle/>
          <a:p>
            <a:pPr algn="l">
              <a:spcAft>
                <a:spcPts val="400"/>
              </a:spcAft>
            </a:pPr>
            <a:r>
              <a:rPr sz="1700" b="1" i="0">
                <a:solidFill>
                  <a:srgbClr val="1F7A72"/>
                </a:solidFill>
              </a:rPr>
              <a:t>PV array</a:t>
            </a:r>
          </a:p>
        </p:txBody>
      </p:sp>
      <p:sp>
        <p:nvSpPr>
          <p:cNvPr id="11" name="Rounded Rectangle 10"/>
          <p:cNvSpPr/>
          <p:nvPr/>
        </p:nvSpPr>
        <p:spPr>
          <a:xfrm>
            <a:off x="774496" y="1828800"/>
            <a:ext cx="3182112" cy="566928"/>
          </a:xfrm>
          <a:prstGeom prst="roundRect">
            <a:avLst>
              <a:gd name="adj" fmla="val 10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7648" y="1828800"/>
            <a:ext cx="3035808" cy="566928"/>
          </a:xfrm>
          <a:prstGeom prst="rect">
            <a:avLst/>
          </a:prstGeom>
          <a:noFill/>
        </p:spPr>
        <p:txBody>
          <a:bodyPr wrap="square" lIns="27432" rIns="27432" tIns="27432" bIns="27432" anchor="ctr"/>
          <a:lstStyle/>
          <a:p>
            <a:pPr algn="l">
              <a:spcAft>
                <a:spcPts val="400"/>
              </a:spcAft>
            </a:pPr>
            <a:r>
              <a:rPr sz="1200" b="0" i="0">
                <a:solidFill>
                  <a:srgbClr val="13233A"/>
                </a:solidFill>
              </a:rPr>
              <a:t>P_PV(t) = P_r · f_d · G(t)/G_STC · [1 + α (T_c(t) − 25)]</a:t>
            </a:r>
          </a:p>
        </p:txBody>
      </p:sp>
      <p:sp>
        <p:nvSpPr>
          <p:cNvPr id="13" name="Rounded Rectangle 12"/>
          <p:cNvSpPr/>
          <p:nvPr/>
        </p:nvSpPr>
        <p:spPr>
          <a:xfrm>
            <a:off x="774496" y="2505456"/>
            <a:ext cx="3182112" cy="566928"/>
          </a:xfrm>
          <a:prstGeom prst="roundRect">
            <a:avLst>
              <a:gd name="adj" fmla="val 10000"/>
            </a:avLst>
          </a:prstGeom>
          <a:solidFill>
            <a:srgbClr val="FFFFFF"/>
          </a:solidFill>
          <a:ln w="9525">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648" y="2505456"/>
            <a:ext cx="3035808" cy="566928"/>
          </a:xfrm>
          <a:prstGeom prst="rect">
            <a:avLst/>
          </a:prstGeom>
          <a:noFill/>
        </p:spPr>
        <p:txBody>
          <a:bodyPr wrap="square" lIns="27432" rIns="27432" tIns="27432" bIns="27432" anchor="ctr"/>
          <a:lstStyle/>
          <a:p>
            <a:pPr algn="l">
              <a:spcAft>
                <a:spcPts val="400"/>
              </a:spcAft>
            </a:pPr>
            <a:r>
              <a:rPr sz="1200" b="0" i="0">
                <a:solidFill>
                  <a:srgbClr val="13233A"/>
                </a:solidFill>
              </a:rPr>
              <a:t>T_c(t) = T_a(t) + (NOCT − 20)/800 · G(t)</a:t>
            </a:r>
          </a:p>
        </p:txBody>
      </p:sp>
      <p:sp>
        <p:nvSpPr>
          <p:cNvPr id="15" name="TextBox 14"/>
          <p:cNvSpPr txBox="1"/>
          <p:nvPr/>
        </p:nvSpPr>
        <p:spPr>
          <a:xfrm>
            <a:off x="792784" y="3273552"/>
            <a:ext cx="3145536" cy="2852927"/>
          </a:xfrm>
          <a:prstGeom prst="rect">
            <a:avLst/>
          </a:prstGeom>
          <a:noFill/>
        </p:spPr>
        <p:txBody>
          <a:bodyPr wrap="square" lIns="27432" rIns="27432" tIns="27432" bIns="27432" anchor="t"/>
          <a:lstStyle/>
          <a:p>
            <a:pPr algn="l" marL="201168" indent="-182880">
              <a:spcAft>
                <a:spcPts val="600"/>
              </a:spcAft>
              <a:buClr>
                <a:srgbClr val="1F7A72"/>
              </a:buClr>
              <a:buChar char="•"/>
            </a:pPr>
            <a:r>
              <a:rPr sz="1300" b="0" i="0">
                <a:solidFill>
                  <a:srgbClr val="4A5568"/>
                </a:solidFill>
              </a:rPr>
              <a:t>f_d = 0.85 derating</a:t>
            </a:r>
          </a:p>
          <a:p>
            <a:pPr algn="l" marL="201168" indent="-182880">
              <a:spcAft>
                <a:spcPts val="600"/>
              </a:spcAft>
              <a:buClr>
                <a:srgbClr val="1F7A72"/>
              </a:buClr>
              <a:buChar char="•"/>
            </a:pPr>
            <a:r>
              <a:rPr sz="1300" b="0" i="0">
                <a:solidFill>
                  <a:srgbClr val="4A5568"/>
                </a:solidFill>
              </a:rPr>
              <a:t>α = −0.40 %/°C</a:t>
            </a:r>
          </a:p>
          <a:p>
            <a:pPr algn="l" marL="201168" indent="-182880">
              <a:spcAft>
                <a:spcPts val="600"/>
              </a:spcAft>
              <a:buClr>
                <a:srgbClr val="1F7A72"/>
              </a:buClr>
              <a:buChar char="•"/>
            </a:pPr>
            <a:r>
              <a:rPr sz="1300" b="0" i="0">
                <a:solidFill>
                  <a:srgbClr val="4A5568"/>
                </a:solidFill>
              </a:rPr>
              <a:t>NOCT = 45 °C,  G_STC = 1,000 W/m²</a:t>
            </a:r>
          </a:p>
          <a:p>
            <a:pPr algn="l" marL="201168" indent="-182880">
              <a:spcAft>
                <a:spcPts val="600"/>
              </a:spcAft>
              <a:buClr>
                <a:srgbClr val="1F7A72"/>
              </a:buClr>
              <a:buChar char="•"/>
            </a:pPr>
            <a:r>
              <a:rPr sz="1300" b="0" i="0">
                <a:solidFill>
                  <a:srgbClr val="4A5568"/>
                </a:solidFill>
              </a:rPr>
              <a:t>Inverter inside CERC all-in cost</a:t>
            </a:r>
          </a:p>
        </p:txBody>
      </p:sp>
      <p:sp>
        <p:nvSpPr>
          <p:cNvPr id="16" name="Rounded Rectangle 15"/>
          <p:cNvSpPr/>
          <p:nvPr/>
        </p:nvSpPr>
        <p:spPr>
          <a:xfrm>
            <a:off x="4340656" y="1280160"/>
            <a:ext cx="3511296" cy="484632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3536" y="1371600"/>
            <a:ext cx="3145536" cy="365760"/>
          </a:xfrm>
          <a:prstGeom prst="rect">
            <a:avLst/>
          </a:prstGeom>
          <a:noFill/>
        </p:spPr>
        <p:txBody>
          <a:bodyPr wrap="square" lIns="27432" rIns="27432" tIns="27432" bIns="27432" anchor="t"/>
          <a:lstStyle/>
          <a:p>
            <a:pPr algn="l">
              <a:spcAft>
                <a:spcPts val="400"/>
              </a:spcAft>
            </a:pPr>
            <a:r>
              <a:rPr sz="1700" b="1" i="0">
                <a:solidFill>
                  <a:srgbClr val="2A78D6"/>
                </a:solidFill>
              </a:rPr>
              <a:t>Battery bank</a:t>
            </a:r>
          </a:p>
        </p:txBody>
      </p:sp>
      <p:sp>
        <p:nvSpPr>
          <p:cNvPr id="18" name="Rounded Rectangle 17"/>
          <p:cNvSpPr/>
          <p:nvPr/>
        </p:nvSpPr>
        <p:spPr>
          <a:xfrm>
            <a:off x="4505248" y="1828800"/>
            <a:ext cx="3182112" cy="566928"/>
          </a:xfrm>
          <a:prstGeom prst="roundRect">
            <a:avLst>
              <a:gd name="adj" fmla="val 10000"/>
            </a:avLst>
          </a:prstGeom>
          <a:solidFill>
            <a:srgbClr val="FFFFFF"/>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8400" y="1828800"/>
            <a:ext cx="3035808" cy="566928"/>
          </a:xfrm>
          <a:prstGeom prst="rect">
            <a:avLst/>
          </a:prstGeom>
          <a:noFill/>
        </p:spPr>
        <p:txBody>
          <a:bodyPr wrap="square" lIns="27432" rIns="27432" tIns="27432" bIns="27432" anchor="ctr"/>
          <a:lstStyle/>
          <a:p>
            <a:pPr algn="l">
              <a:spcAft>
                <a:spcPts val="400"/>
              </a:spcAft>
            </a:pPr>
            <a:r>
              <a:rPr sz="1200" b="0" i="0">
                <a:solidFill>
                  <a:srgbClr val="13233A"/>
                </a:solidFill>
              </a:rPr>
              <a:t>E(t+1) = E(t) + η_b · P_ch(t)</a:t>
            </a:r>
          </a:p>
        </p:txBody>
      </p:sp>
      <p:sp>
        <p:nvSpPr>
          <p:cNvPr id="20" name="Rounded Rectangle 19"/>
          <p:cNvSpPr/>
          <p:nvPr/>
        </p:nvSpPr>
        <p:spPr>
          <a:xfrm>
            <a:off x="4505248" y="2505456"/>
            <a:ext cx="3182112" cy="566928"/>
          </a:xfrm>
          <a:prstGeom prst="roundRect">
            <a:avLst>
              <a:gd name="adj" fmla="val 10000"/>
            </a:avLst>
          </a:prstGeom>
          <a:solidFill>
            <a:srgbClr val="FFFFFF"/>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8400" y="2505456"/>
            <a:ext cx="3035808" cy="566928"/>
          </a:xfrm>
          <a:prstGeom prst="rect">
            <a:avLst/>
          </a:prstGeom>
          <a:noFill/>
        </p:spPr>
        <p:txBody>
          <a:bodyPr wrap="square" lIns="27432" rIns="27432" tIns="27432" bIns="27432" anchor="ctr"/>
          <a:lstStyle/>
          <a:p>
            <a:pPr algn="l">
              <a:spcAft>
                <a:spcPts val="400"/>
              </a:spcAft>
            </a:pPr>
            <a:r>
              <a:rPr sz="1200" b="0" i="0">
                <a:solidFill>
                  <a:srgbClr val="13233A"/>
                </a:solidFill>
              </a:rPr>
              <a:t>E(t+1) = E(t) − P_dis(t) / η_b</a:t>
            </a:r>
          </a:p>
        </p:txBody>
      </p:sp>
      <p:sp>
        <p:nvSpPr>
          <p:cNvPr id="22" name="Rounded Rectangle 21"/>
          <p:cNvSpPr/>
          <p:nvPr/>
        </p:nvSpPr>
        <p:spPr>
          <a:xfrm>
            <a:off x="4505248" y="3182112"/>
            <a:ext cx="3182112" cy="566928"/>
          </a:xfrm>
          <a:prstGeom prst="roundRect">
            <a:avLst>
              <a:gd name="adj" fmla="val 10000"/>
            </a:avLst>
          </a:prstGeom>
          <a:solidFill>
            <a:srgbClr val="FFFFFF"/>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8400" y="3182112"/>
            <a:ext cx="3035808" cy="566928"/>
          </a:xfrm>
          <a:prstGeom prst="rect">
            <a:avLst/>
          </a:prstGeom>
          <a:noFill/>
        </p:spPr>
        <p:txBody>
          <a:bodyPr wrap="square" lIns="27432" rIns="27432" tIns="27432" bIns="27432" anchor="ctr"/>
          <a:lstStyle/>
          <a:p>
            <a:pPr algn="l">
              <a:spcAft>
                <a:spcPts val="400"/>
              </a:spcAft>
            </a:pPr>
            <a:r>
              <a:rPr sz="1200" b="0" i="0">
                <a:solidFill>
                  <a:srgbClr val="13233A"/>
                </a:solidFill>
              </a:rPr>
              <a:t>0.2 E_max ≤ E(t) ≤ E_max</a:t>
            </a:r>
          </a:p>
        </p:txBody>
      </p:sp>
      <p:sp>
        <p:nvSpPr>
          <p:cNvPr id="24" name="TextBox 23"/>
          <p:cNvSpPr txBox="1"/>
          <p:nvPr/>
        </p:nvSpPr>
        <p:spPr>
          <a:xfrm>
            <a:off x="4523536" y="3950208"/>
            <a:ext cx="3145536" cy="2176271"/>
          </a:xfrm>
          <a:prstGeom prst="rect">
            <a:avLst/>
          </a:prstGeom>
          <a:noFill/>
        </p:spPr>
        <p:txBody>
          <a:bodyPr wrap="square" lIns="27432" rIns="27432" tIns="27432" bIns="27432" anchor="t"/>
          <a:lstStyle/>
          <a:p>
            <a:pPr algn="l" marL="201168" indent="-182880">
              <a:spcAft>
                <a:spcPts val="600"/>
              </a:spcAft>
              <a:buClr>
                <a:srgbClr val="2A78D6"/>
              </a:buClr>
              <a:buChar char="•"/>
            </a:pPr>
            <a:r>
              <a:rPr sz="1300" b="0" i="0">
                <a:solidFill>
                  <a:srgbClr val="4A5568"/>
                </a:solidFill>
              </a:rPr>
              <a:t>η_b = √0.85 each way</a:t>
            </a:r>
          </a:p>
          <a:p>
            <a:pPr algn="l" marL="201168" indent="-182880">
              <a:spcAft>
                <a:spcPts val="600"/>
              </a:spcAft>
              <a:buClr>
                <a:srgbClr val="2A78D6"/>
              </a:buClr>
              <a:buChar char="•"/>
            </a:pPr>
            <a:r>
              <a:rPr sz="1300" b="0" i="0">
                <a:solidFill>
                  <a:srgbClr val="4A5568"/>
                </a:solidFill>
              </a:rPr>
              <a:t>3 kWh per battery, strings of 20</a:t>
            </a:r>
          </a:p>
          <a:p>
            <a:pPr algn="l" marL="201168" indent="-182880">
              <a:spcAft>
                <a:spcPts val="600"/>
              </a:spcAft>
              <a:buClr>
                <a:srgbClr val="2A78D6"/>
              </a:buClr>
              <a:buChar char="•"/>
            </a:pPr>
            <a:r>
              <a:rPr sz="1300" b="0" i="0">
                <a:solidFill>
                  <a:srgbClr val="4A5568"/>
                </a:solidFill>
              </a:rPr>
              <a:t>P_ch ≤ 0.684 kW,  P_dis ≤ 1.607 kW per battery</a:t>
            </a:r>
          </a:p>
          <a:p>
            <a:pPr algn="l" marL="201168" indent="-182880">
              <a:spcAft>
                <a:spcPts val="600"/>
              </a:spcAft>
              <a:buClr>
                <a:srgbClr val="2A78D6"/>
              </a:buClr>
              <a:buChar char="•"/>
            </a:pPr>
            <a:r>
              <a:rPr sz="1300" b="0" i="0">
                <a:solidFill>
                  <a:srgbClr val="4A5568"/>
                </a:solidFill>
              </a:rPr>
              <a:t>(57 A and 133.9 A at 12 V)</a:t>
            </a:r>
          </a:p>
        </p:txBody>
      </p:sp>
      <p:sp>
        <p:nvSpPr>
          <p:cNvPr id="25" name="Rounded Rectangle 24"/>
          <p:cNvSpPr/>
          <p:nvPr/>
        </p:nvSpPr>
        <p:spPr>
          <a:xfrm>
            <a:off x="8071408" y="1280160"/>
            <a:ext cx="3511296" cy="484632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4288" y="1371600"/>
            <a:ext cx="3145536" cy="365760"/>
          </a:xfrm>
          <a:prstGeom prst="rect">
            <a:avLst/>
          </a:prstGeom>
          <a:noFill/>
        </p:spPr>
        <p:txBody>
          <a:bodyPr wrap="square" lIns="27432" rIns="27432" tIns="27432" bIns="27432" anchor="t"/>
          <a:lstStyle/>
          <a:p>
            <a:pPr algn="l">
              <a:spcAft>
                <a:spcPts val="400"/>
              </a:spcAft>
            </a:pPr>
            <a:r>
              <a:rPr sz="1700" b="1" i="0">
                <a:solidFill>
                  <a:srgbClr val="2E6F95"/>
                </a:solidFill>
              </a:rPr>
              <a:t>Bidirectional converter</a:t>
            </a:r>
          </a:p>
        </p:txBody>
      </p:sp>
      <p:sp>
        <p:nvSpPr>
          <p:cNvPr id="27" name="Rounded Rectangle 26"/>
          <p:cNvSpPr/>
          <p:nvPr/>
        </p:nvSpPr>
        <p:spPr>
          <a:xfrm>
            <a:off x="8236000" y="1828800"/>
            <a:ext cx="3182112" cy="566928"/>
          </a:xfrm>
          <a:prstGeom prst="roundRect">
            <a:avLst>
              <a:gd name="adj" fmla="val 10000"/>
            </a:avLst>
          </a:prstGeom>
          <a:solidFill>
            <a:srgbClr val="FFFFFF"/>
          </a:solidFill>
          <a:ln w="9525">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9152" y="1828800"/>
            <a:ext cx="3035808" cy="566928"/>
          </a:xfrm>
          <a:prstGeom prst="rect">
            <a:avLst/>
          </a:prstGeom>
          <a:noFill/>
        </p:spPr>
        <p:txBody>
          <a:bodyPr wrap="square" lIns="27432" rIns="27432" tIns="27432" bIns="27432" anchor="ctr"/>
          <a:lstStyle/>
          <a:p>
            <a:pPr algn="l">
              <a:spcAft>
                <a:spcPts val="400"/>
              </a:spcAft>
            </a:pPr>
            <a:r>
              <a:rPr sz="1200" b="0" i="0">
                <a:solidFill>
                  <a:srgbClr val="13233A"/>
                </a:solidFill>
              </a:rPr>
              <a:t>P_ch = min(surplus·η_c, P_conv·η_c, P_ch,max, room/η_b)</a:t>
            </a:r>
          </a:p>
        </p:txBody>
      </p:sp>
      <p:sp>
        <p:nvSpPr>
          <p:cNvPr id="29" name="Rounded Rectangle 28"/>
          <p:cNvSpPr/>
          <p:nvPr/>
        </p:nvSpPr>
        <p:spPr>
          <a:xfrm>
            <a:off x="8236000" y="2505456"/>
            <a:ext cx="3182112" cy="566928"/>
          </a:xfrm>
          <a:prstGeom prst="roundRect">
            <a:avLst>
              <a:gd name="adj" fmla="val 10000"/>
            </a:avLst>
          </a:prstGeom>
          <a:solidFill>
            <a:srgbClr val="FFFFFF"/>
          </a:solidFill>
          <a:ln w="9525">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9152" y="2505456"/>
            <a:ext cx="3035808" cy="566928"/>
          </a:xfrm>
          <a:prstGeom prst="rect">
            <a:avLst/>
          </a:prstGeom>
          <a:noFill/>
        </p:spPr>
        <p:txBody>
          <a:bodyPr wrap="square" lIns="27432" rIns="27432" tIns="27432" bIns="27432" anchor="ctr"/>
          <a:lstStyle/>
          <a:p>
            <a:pPr algn="l">
              <a:spcAft>
                <a:spcPts val="400"/>
              </a:spcAft>
            </a:pPr>
            <a:r>
              <a:rPr sz="1200" b="0" i="0">
                <a:solidFill>
                  <a:srgbClr val="13233A"/>
                </a:solidFill>
              </a:rPr>
              <a:t>P_dis = min(deficit/η_c, P_conv/η_c, P_dis,max, avail)</a:t>
            </a:r>
          </a:p>
        </p:txBody>
      </p:sp>
      <p:sp>
        <p:nvSpPr>
          <p:cNvPr id="31" name="TextBox 30"/>
          <p:cNvSpPr txBox="1"/>
          <p:nvPr/>
        </p:nvSpPr>
        <p:spPr>
          <a:xfrm>
            <a:off x="8254288" y="3273552"/>
            <a:ext cx="3145536" cy="2852927"/>
          </a:xfrm>
          <a:prstGeom prst="rect">
            <a:avLst/>
          </a:prstGeom>
          <a:noFill/>
        </p:spPr>
        <p:txBody>
          <a:bodyPr wrap="square" lIns="27432" rIns="27432" tIns="27432" bIns="27432" anchor="t"/>
          <a:lstStyle/>
          <a:p>
            <a:pPr algn="l" marL="201168" indent="-182880">
              <a:spcAft>
                <a:spcPts val="600"/>
              </a:spcAft>
              <a:buClr>
                <a:srgbClr val="2E6F95"/>
              </a:buClr>
              <a:buChar char="•"/>
            </a:pPr>
            <a:r>
              <a:rPr sz="1300" b="0" i="0">
                <a:solidFill>
                  <a:srgbClr val="4A5568"/>
                </a:solidFill>
              </a:rPr>
              <a:t>η_c = 0.95 each way</a:t>
            </a:r>
          </a:p>
          <a:p>
            <a:pPr algn="l" marL="201168" indent="-182880">
              <a:spcAft>
                <a:spcPts val="600"/>
              </a:spcAft>
              <a:buClr>
                <a:srgbClr val="2E6F95"/>
              </a:buClr>
              <a:buChar char="•"/>
            </a:pPr>
            <a:r>
              <a:rPr sz="1300" b="0" i="0">
                <a:solidFill>
                  <a:srgbClr val="4A5568"/>
                </a:solidFill>
              </a:rPr>
              <a:t>Optimised rating: 998 kW</a:t>
            </a:r>
          </a:p>
          <a:p>
            <a:pPr algn="l" marL="201168" indent="-182880">
              <a:spcAft>
                <a:spcPts val="600"/>
              </a:spcAft>
              <a:buClr>
                <a:srgbClr val="2E6F95"/>
              </a:buClr>
              <a:buChar char="•"/>
            </a:pPr>
            <a:r>
              <a:rPr sz="1300" b="0" i="0">
                <a:solidFill>
                  <a:srgbClr val="4A5568"/>
                </a:solidFill>
              </a:rPr>
              <a:t>AC side never exceeds the rating (checked)</a:t>
            </a:r>
          </a:p>
        </p:txBody>
      </p:sp>
      <p:sp>
        <p:nvSpPr>
          <p:cNvPr id="32" name="TextBox 31"/>
          <p:cNvSpPr txBox="1"/>
          <p:nvPr/>
        </p:nvSpPr>
        <p:spPr>
          <a:xfrm>
            <a:off x="609904" y="6144768"/>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MODELLING</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Reliability and lifecycle cost formulation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15 / 34</a:t>
            </a:r>
          </a:p>
        </p:txBody>
      </p:sp>
      <p:sp>
        <p:nvSpPr>
          <p:cNvPr id="9" name="Rounded Rectangle 8"/>
          <p:cNvSpPr/>
          <p:nvPr/>
        </p:nvSpPr>
        <p:spPr>
          <a:xfrm>
            <a:off x="609904" y="1280160"/>
            <a:ext cx="5806440" cy="484632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784" y="1371600"/>
            <a:ext cx="5440679" cy="365760"/>
          </a:xfrm>
          <a:prstGeom prst="rect">
            <a:avLst/>
          </a:prstGeom>
          <a:noFill/>
        </p:spPr>
        <p:txBody>
          <a:bodyPr wrap="square" lIns="27432" rIns="27432" tIns="27432" bIns="27432" anchor="t"/>
          <a:lstStyle/>
          <a:p>
            <a:pPr algn="l">
              <a:spcAft>
                <a:spcPts val="400"/>
              </a:spcAft>
            </a:pPr>
            <a:r>
              <a:rPr sz="1600" b="1" i="0">
                <a:solidFill>
                  <a:srgbClr val="13233A"/>
                </a:solidFill>
              </a:rPr>
              <a:t>Reliability and economics</a:t>
            </a:r>
          </a:p>
        </p:txBody>
      </p:sp>
      <p:sp>
        <p:nvSpPr>
          <p:cNvPr id="11" name="Rounded Rectangle 10"/>
          <p:cNvSpPr/>
          <p:nvPr/>
        </p:nvSpPr>
        <p:spPr>
          <a:xfrm>
            <a:off x="774496" y="1828800"/>
            <a:ext cx="5477255" cy="548640"/>
          </a:xfrm>
          <a:prstGeom prst="roundRect">
            <a:avLst>
              <a:gd name="adj" fmla="val 10000"/>
            </a:avLst>
          </a:prstGeom>
          <a:solidFill>
            <a:srgbClr val="FFFFFF"/>
          </a:solidFill>
          <a:ln w="9525">
            <a:solidFill>
              <a:srgbClr val="E34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5936" y="1828800"/>
            <a:ext cx="5294375" cy="548640"/>
          </a:xfrm>
          <a:prstGeom prst="rect">
            <a:avLst/>
          </a:prstGeom>
          <a:noFill/>
        </p:spPr>
        <p:txBody>
          <a:bodyPr wrap="square" lIns="27432" rIns="27432" tIns="27432" bIns="27432" anchor="ctr"/>
          <a:lstStyle/>
          <a:p>
            <a:pPr algn="l">
              <a:spcAft>
                <a:spcPts val="400"/>
              </a:spcAft>
            </a:pPr>
            <a:r>
              <a:rPr sz="1200" b="0" i="0">
                <a:solidFill>
                  <a:srgbClr val="13233A"/>
                </a:solidFill>
              </a:rPr>
              <a:t>LPSP = Σ E_unmet(t) / Σ E_load(t)  ≤  1 %</a:t>
            </a:r>
          </a:p>
        </p:txBody>
      </p:sp>
      <p:sp>
        <p:nvSpPr>
          <p:cNvPr id="13" name="Rounded Rectangle 12"/>
          <p:cNvSpPr/>
          <p:nvPr/>
        </p:nvSpPr>
        <p:spPr>
          <a:xfrm>
            <a:off x="774496" y="2487168"/>
            <a:ext cx="5477255" cy="548640"/>
          </a:xfrm>
          <a:prstGeom prst="roundRect">
            <a:avLst>
              <a:gd name="adj" fmla="val 10000"/>
            </a:avLst>
          </a:prstGeom>
          <a:solidFill>
            <a:srgbClr val="FFFFFF"/>
          </a:solidFill>
          <a:ln w="9525">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936" y="2487168"/>
            <a:ext cx="5294375" cy="548640"/>
          </a:xfrm>
          <a:prstGeom prst="rect">
            <a:avLst/>
          </a:prstGeom>
          <a:noFill/>
        </p:spPr>
        <p:txBody>
          <a:bodyPr wrap="square" lIns="27432" rIns="27432" tIns="27432" bIns="27432" anchor="ctr"/>
          <a:lstStyle/>
          <a:p>
            <a:pPr algn="l">
              <a:spcAft>
                <a:spcPts val="400"/>
              </a:spcAft>
            </a:pPr>
            <a:r>
              <a:rPr sz="1200" b="0" i="0">
                <a:solidFill>
                  <a:srgbClr val="13233A"/>
                </a:solidFill>
              </a:rPr>
              <a:t>NPC = C_cap + Σ C_rep,k/(1+r)^t_k + Σ C_O&amp;M/(1+r)^t − C_salv/(1+r)^15</a:t>
            </a:r>
          </a:p>
        </p:txBody>
      </p:sp>
      <p:sp>
        <p:nvSpPr>
          <p:cNvPr id="15" name="Rounded Rectangle 14"/>
          <p:cNvSpPr/>
          <p:nvPr/>
        </p:nvSpPr>
        <p:spPr>
          <a:xfrm>
            <a:off x="774496" y="3145535"/>
            <a:ext cx="5477255" cy="548640"/>
          </a:xfrm>
          <a:prstGeom prst="roundRect">
            <a:avLst>
              <a:gd name="adj" fmla="val 10000"/>
            </a:avLst>
          </a:prstGeom>
          <a:solidFill>
            <a:srgbClr val="FFFFFF"/>
          </a:solidFill>
          <a:ln w="9525">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5936" y="3145535"/>
            <a:ext cx="5294375" cy="548640"/>
          </a:xfrm>
          <a:prstGeom prst="rect">
            <a:avLst/>
          </a:prstGeom>
          <a:noFill/>
        </p:spPr>
        <p:txBody>
          <a:bodyPr wrap="square" lIns="27432" rIns="27432" tIns="27432" bIns="27432" anchor="ctr"/>
          <a:lstStyle/>
          <a:p>
            <a:pPr algn="l">
              <a:spcAft>
                <a:spcPts val="400"/>
              </a:spcAft>
            </a:pPr>
            <a:r>
              <a:rPr sz="1200" b="0" i="0">
                <a:solidFill>
                  <a:srgbClr val="13233A"/>
                </a:solidFill>
              </a:rPr>
              <a:t>r = (1 + i_nom)/(1 + f) − 1 = 1.1070/1.0571 − 1 = 4.72 %</a:t>
            </a:r>
          </a:p>
        </p:txBody>
      </p:sp>
      <p:sp>
        <p:nvSpPr>
          <p:cNvPr id="17" name="Rounded Rectangle 16"/>
          <p:cNvSpPr/>
          <p:nvPr/>
        </p:nvSpPr>
        <p:spPr>
          <a:xfrm>
            <a:off x="774496" y="3803903"/>
            <a:ext cx="5477255" cy="548640"/>
          </a:xfrm>
          <a:prstGeom prst="roundRect">
            <a:avLst>
              <a:gd name="adj" fmla="val 10000"/>
            </a:avLst>
          </a:prstGeom>
          <a:solidFill>
            <a:srgbClr val="FFFFFF"/>
          </a:solidFill>
          <a:ln w="9525">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5936" y="3803903"/>
            <a:ext cx="5294375" cy="548640"/>
          </a:xfrm>
          <a:prstGeom prst="rect">
            <a:avLst/>
          </a:prstGeom>
          <a:noFill/>
        </p:spPr>
        <p:txBody>
          <a:bodyPr wrap="square" lIns="27432" rIns="27432" tIns="27432" bIns="27432" anchor="ctr"/>
          <a:lstStyle/>
          <a:p>
            <a:pPr algn="l">
              <a:spcAft>
                <a:spcPts val="400"/>
              </a:spcAft>
            </a:pPr>
            <a:r>
              <a:rPr sz="1200" b="0" i="0">
                <a:solidFill>
                  <a:srgbClr val="13233A"/>
                </a:solidFill>
              </a:rPr>
              <a:t>CRF = r(1+r)^N / ((1+r)^N − 1) = 0.0945,   LCOE = NPC · CRF / E_served</a:t>
            </a:r>
          </a:p>
        </p:txBody>
      </p:sp>
      <p:sp>
        <p:nvSpPr>
          <p:cNvPr id="19" name="TextBox 18"/>
          <p:cNvSpPr txBox="1"/>
          <p:nvPr/>
        </p:nvSpPr>
        <p:spPr>
          <a:xfrm>
            <a:off x="792784" y="4507991"/>
            <a:ext cx="5440679" cy="1463040"/>
          </a:xfrm>
          <a:prstGeom prst="rect">
            <a:avLst/>
          </a:prstGeom>
          <a:noFill/>
        </p:spPr>
        <p:txBody>
          <a:bodyPr wrap="square" lIns="27432" rIns="27432" tIns="27432" bIns="27432" anchor="t"/>
          <a:lstStyle/>
          <a:p>
            <a:pPr algn="l" marL="201168" indent="-182880">
              <a:spcAft>
                <a:spcPts val="500"/>
              </a:spcAft>
              <a:buChar char="•"/>
            </a:pPr>
            <a:r>
              <a:rPr sz="1300" b="0" i="0">
                <a:solidFill>
                  <a:srgbClr val="4A5568"/>
                </a:solidFill>
              </a:rPr>
              <a:t>Salvage: last unit bought × fraction of life left at year 15 (linear, as HOMER)</a:t>
            </a:r>
          </a:p>
          <a:p>
            <a:pPr algn="l" marL="201168" indent="-182880">
              <a:spcAft>
                <a:spcPts val="500"/>
              </a:spcAft>
              <a:buChar char="•"/>
            </a:pPr>
            <a:r>
              <a:rPr sz="1300" b="0" i="0">
                <a:solidFill>
                  <a:srgbClr val="4A5568"/>
                </a:solidFill>
              </a:rPr>
              <a:t>15-year horizon; costs in constant 2016–17 rupees (Kumar et al., CERC)</a:t>
            </a:r>
          </a:p>
          <a:p>
            <a:pPr algn="l" marL="201168" indent="-182880">
              <a:spcAft>
                <a:spcPts val="500"/>
              </a:spcAft>
              <a:buChar char="•"/>
            </a:pPr>
            <a:r>
              <a:rPr sz="1300" b="0" i="0">
                <a:solidFill>
                  <a:srgbClr val="4A5568"/>
                </a:solidFill>
              </a:rPr>
              <a:t>LPSP counts energy not served, not the number of shortage hours</a:t>
            </a:r>
          </a:p>
        </p:txBody>
      </p:sp>
      <p:sp>
        <p:nvSpPr>
          <p:cNvPr id="20" name="Rounded Rectangle 19"/>
          <p:cNvSpPr/>
          <p:nvPr/>
        </p:nvSpPr>
        <p:spPr>
          <a:xfrm>
            <a:off x="6644944" y="1280160"/>
            <a:ext cx="4937760" cy="4846320"/>
          </a:xfrm>
          <a:prstGeom prst="roundRect">
            <a:avLst>
              <a:gd name="adj" fmla="val 4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46112" y="1371600"/>
            <a:ext cx="4535424" cy="365760"/>
          </a:xfrm>
          <a:prstGeom prst="rect">
            <a:avLst/>
          </a:prstGeom>
          <a:noFill/>
        </p:spPr>
        <p:txBody>
          <a:bodyPr wrap="square" lIns="27432" rIns="27432" tIns="27432" bIns="27432" anchor="t"/>
          <a:lstStyle/>
          <a:p>
            <a:pPr algn="l">
              <a:spcAft>
                <a:spcPts val="400"/>
              </a:spcAft>
            </a:pPr>
            <a:r>
              <a:rPr sz="1600" b="1" i="0">
                <a:solidFill>
                  <a:srgbClr val="E8A33D"/>
                </a:solidFill>
              </a:rPr>
              <a:t>Battery ageing</a:t>
            </a:r>
          </a:p>
        </p:txBody>
      </p:sp>
      <p:sp>
        <p:nvSpPr>
          <p:cNvPr id="22" name="Oval 21"/>
          <p:cNvSpPr/>
          <p:nvPr/>
        </p:nvSpPr>
        <p:spPr>
          <a:xfrm>
            <a:off x="6846112" y="1920239"/>
            <a:ext cx="329184" cy="3291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46112" y="1920239"/>
            <a:ext cx="329184" cy="329184"/>
          </a:xfrm>
          <a:prstGeom prst="rect">
            <a:avLst/>
          </a:prstGeom>
          <a:noFill/>
        </p:spPr>
        <p:txBody>
          <a:bodyPr wrap="square" lIns="0" rIns="0" tIns="0" bIns="0" anchor="ctr"/>
          <a:lstStyle/>
          <a:p>
            <a:pPr algn="ctr">
              <a:spcAft>
                <a:spcPts val="400"/>
              </a:spcAft>
            </a:pPr>
            <a:r>
              <a:rPr sz="1200" b="1" i="0">
                <a:solidFill>
                  <a:srgbClr val="13233A"/>
                </a:solidFill>
              </a:rPr>
              <a:t>1</a:t>
            </a:r>
          </a:p>
        </p:txBody>
      </p:sp>
      <p:sp>
        <p:nvSpPr>
          <p:cNvPr id="24" name="TextBox 23"/>
          <p:cNvSpPr txBox="1"/>
          <p:nvPr/>
        </p:nvSpPr>
        <p:spPr>
          <a:xfrm>
            <a:off x="7303312" y="1874519"/>
            <a:ext cx="4069080" cy="777240"/>
          </a:xfrm>
          <a:prstGeom prst="rect">
            <a:avLst/>
          </a:prstGeom>
          <a:noFill/>
        </p:spPr>
        <p:txBody>
          <a:bodyPr wrap="square" lIns="27432" rIns="27432" tIns="27432" bIns="27432" anchor="t"/>
          <a:lstStyle/>
          <a:p>
            <a:pPr algn="l">
              <a:spcAft>
                <a:spcPts val="400"/>
              </a:spcAft>
            </a:pPr>
            <a:r>
              <a:rPr sz="1300" b="0" i="0">
                <a:solidFill>
                  <a:srgbClr val="FFFFFF"/>
                </a:solidFill>
              </a:rPr>
              <a:t>Rainflow-count the hourly state of charge → cycles of depth Dᵢ</a:t>
            </a:r>
          </a:p>
        </p:txBody>
      </p:sp>
      <p:sp>
        <p:nvSpPr>
          <p:cNvPr id="25" name="Oval 24"/>
          <p:cNvSpPr/>
          <p:nvPr/>
        </p:nvSpPr>
        <p:spPr>
          <a:xfrm>
            <a:off x="6846112" y="2706623"/>
            <a:ext cx="329184" cy="3291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46112" y="2706623"/>
            <a:ext cx="329184" cy="329184"/>
          </a:xfrm>
          <a:prstGeom prst="rect">
            <a:avLst/>
          </a:prstGeom>
          <a:noFill/>
        </p:spPr>
        <p:txBody>
          <a:bodyPr wrap="square" lIns="0" rIns="0" tIns="0" bIns="0" anchor="ctr"/>
          <a:lstStyle/>
          <a:p>
            <a:pPr algn="ctr">
              <a:spcAft>
                <a:spcPts val="400"/>
              </a:spcAft>
            </a:pPr>
            <a:r>
              <a:rPr sz="1200" b="1" i="0">
                <a:solidFill>
                  <a:srgbClr val="13233A"/>
                </a:solidFill>
              </a:rPr>
              <a:t>2</a:t>
            </a:r>
          </a:p>
        </p:txBody>
      </p:sp>
      <p:sp>
        <p:nvSpPr>
          <p:cNvPr id="27" name="TextBox 26"/>
          <p:cNvSpPr txBox="1"/>
          <p:nvPr/>
        </p:nvSpPr>
        <p:spPr>
          <a:xfrm>
            <a:off x="7303312" y="2660903"/>
            <a:ext cx="4069080" cy="777240"/>
          </a:xfrm>
          <a:prstGeom prst="rect">
            <a:avLst/>
          </a:prstGeom>
          <a:noFill/>
        </p:spPr>
        <p:txBody>
          <a:bodyPr wrap="square" lIns="27432" rIns="27432" tIns="27432" bIns="27432" anchor="t"/>
          <a:lstStyle/>
          <a:p>
            <a:pPr algn="l">
              <a:spcAft>
                <a:spcPts val="400"/>
              </a:spcAft>
            </a:pPr>
            <a:r>
              <a:rPr sz="1300" b="0" i="0">
                <a:solidFill>
                  <a:srgbClr val="FFFFFF"/>
                </a:solidFill>
              </a:rPr>
              <a:t>Cycle life N(D) from the datasheet: 5,000 at 20 %, 2,500 at 50 %, 1,500 at 80 % DoD</a:t>
            </a:r>
          </a:p>
        </p:txBody>
      </p:sp>
      <p:sp>
        <p:nvSpPr>
          <p:cNvPr id="28" name="Oval 27"/>
          <p:cNvSpPr/>
          <p:nvPr/>
        </p:nvSpPr>
        <p:spPr>
          <a:xfrm>
            <a:off x="6846112" y="3493007"/>
            <a:ext cx="329184" cy="3291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46112" y="3493007"/>
            <a:ext cx="329184" cy="329184"/>
          </a:xfrm>
          <a:prstGeom prst="rect">
            <a:avLst/>
          </a:prstGeom>
          <a:noFill/>
        </p:spPr>
        <p:txBody>
          <a:bodyPr wrap="square" lIns="0" rIns="0" tIns="0" bIns="0" anchor="ctr"/>
          <a:lstStyle/>
          <a:p>
            <a:pPr algn="ctr">
              <a:spcAft>
                <a:spcPts val="400"/>
              </a:spcAft>
            </a:pPr>
            <a:r>
              <a:rPr sz="1200" b="1" i="0">
                <a:solidFill>
                  <a:srgbClr val="13233A"/>
                </a:solidFill>
              </a:rPr>
              <a:t>3</a:t>
            </a:r>
          </a:p>
        </p:txBody>
      </p:sp>
      <p:sp>
        <p:nvSpPr>
          <p:cNvPr id="30" name="TextBox 29"/>
          <p:cNvSpPr txBox="1"/>
          <p:nvPr/>
        </p:nvSpPr>
        <p:spPr>
          <a:xfrm>
            <a:off x="7303312" y="3447287"/>
            <a:ext cx="4069080" cy="777240"/>
          </a:xfrm>
          <a:prstGeom prst="rect">
            <a:avLst/>
          </a:prstGeom>
          <a:noFill/>
        </p:spPr>
        <p:txBody>
          <a:bodyPr wrap="square" lIns="27432" rIns="27432" tIns="27432" bIns="27432" anchor="t"/>
          <a:lstStyle/>
          <a:p>
            <a:pPr algn="l">
              <a:spcAft>
                <a:spcPts val="400"/>
              </a:spcAft>
            </a:pPr>
            <a:r>
              <a:rPr sz="1300" b="0" i="0">
                <a:solidFill>
                  <a:srgbClr val="FFFFFF"/>
                </a:solidFill>
              </a:rPr>
              <a:t>Miner's rule: damage per year = Σ nᵢ / N(Dᵢ);  wear life = 1 / damage</a:t>
            </a:r>
          </a:p>
        </p:txBody>
      </p:sp>
      <p:sp>
        <p:nvSpPr>
          <p:cNvPr id="31" name="Oval 30"/>
          <p:cNvSpPr/>
          <p:nvPr/>
        </p:nvSpPr>
        <p:spPr>
          <a:xfrm>
            <a:off x="6846112" y="4279392"/>
            <a:ext cx="329184" cy="3291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46112" y="4279392"/>
            <a:ext cx="329184" cy="329184"/>
          </a:xfrm>
          <a:prstGeom prst="rect">
            <a:avLst/>
          </a:prstGeom>
          <a:noFill/>
        </p:spPr>
        <p:txBody>
          <a:bodyPr wrap="square" lIns="0" rIns="0" tIns="0" bIns="0" anchor="ctr"/>
          <a:lstStyle/>
          <a:p>
            <a:pPr algn="ctr">
              <a:spcAft>
                <a:spcPts val="400"/>
              </a:spcAft>
            </a:pPr>
            <a:r>
              <a:rPr sz="1200" b="1" i="0">
                <a:solidFill>
                  <a:srgbClr val="13233A"/>
                </a:solidFill>
              </a:rPr>
              <a:t>4</a:t>
            </a:r>
          </a:p>
        </p:txBody>
      </p:sp>
      <p:sp>
        <p:nvSpPr>
          <p:cNvPr id="33" name="TextBox 32"/>
          <p:cNvSpPr txBox="1"/>
          <p:nvPr/>
        </p:nvSpPr>
        <p:spPr>
          <a:xfrm>
            <a:off x="7303312" y="4233672"/>
            <a:ext cx="4069080" cy="777240"/>
          </a:xfrm>
          <a:prstGeom prst="rect">
            <a:avLst/>
          </a:prstGeom>
          <a:noFill/>
        </p:spPr>
        <p:txBody>
          <a:bodyPr wrap="square" lIns="27432" rIns="27432" tIns="27432" bIns="27432" anchor="t"/>
          <a:lstStyle/>
          <a:p>
            <a:pPr algn="l">
              <a:spcAft>
                <a:spcPts val="400"/>
              </a:spcAft>
            </a:pPr>
            <a:r>
              <a:rPr sz="1300" b="0" i="0">
                <a:solidFill>
                  <a:srgbClr val="FFFFFF"/>
                </a:solidFill>
              </a:rPr>
              <a:t>Float life from service life vs temperature: 12.1 years at this site</a:t>
            </a:r>
          </a:p>
        </p:txBody>
      </p:sp>
      <p:sp>
        <p:nvSpPr>
          <p:cNvPr id="34" name="Oval 33"/>
          <p:cNvSpPr/>
          <p:nvPr/>
        </p:nvSpPr>
        <p:spPr>
          <a:xfrm>
            <a:off x="6846112" y="5065776"/>
            <a:ext cx="329184" cy="329184"/>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46112" y="5065776"/>
            <a:ext cx="329184" cy="329184"/>
          </a:xfrm>
          <a:prstGeom prst="rect">
            <a:avLst/>
          </a:prstGeom>
          <a:noFill/>
        </p:spPr>
        <p:txBody>
          <a:bodyPr wrap="square" lIns="0" rIns="0" tIns="0" bIns="0" anchor="ctr"/>
          <a:lstStyle/>
          <a:p>
            <a:pPr algn="ctr">
              <a:spcAft>
                <a:spcPts val="400"/>
              </a:spcAft>
            </a:pPr>
            <a:r>
              <a:rPr sz="1200" b="1" i="0">
                <a:solidFill>
                  <a:srgbClr val="13233A"/>
                </a:solidFill>
              </a:rPr>
              <a:t>5</a:t>
            </a:r>
          </a:p>
        </p:txBody>
      </p:sp>
      <p:sp>
        <p:nvSpPr>
          <p:cNvPr id="36" name="TextBox 35"/>
          <p:cNvSpPr txBox="1"/>
          <p:nvPr/>
        </p:nvSpPr>
        <p:spPr>
          <a:xfrm>
            <a:off x="7303312" y="5020056"/>
            <a:ext cx="4069080" cy="777240"/>
          </a:xfrm>
          <a:prstGeom prst="rect">
            <a:avLst/>
          </a:prstGeom>
          <a:noFill/>
        </p:spPr>
        <p:txBody>
          <a:bodyPr wrap="square" lIns="27432" rIns="27432" tIns="27432" bIns="27432" anchor="t"/>
          <a:lstStyle/>
          <a:p>
            <a:pPr algn="l">
              <a:spcAft>
                <a:spcPts val="400"/>
              </a:spcAft>
            </a:pPr>
            <a:r>
              <a:rPr sz="1300" b="0" i="0">
                <a:solidFill>
                  <a:srgbClr val="FFFFFF"/>
                </a:solidFill>
              </a:rPr>
              <a:t>Battery life = min(wear life, float life) → replacements and salvage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OPTIMISATION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Mathematical optimisation formulation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16 / 34</a:t>
            </a:r>
          </a:p>
        </p:txBody>
      </p:sp>
      <p:sp>
        <p:nvSpPr>
          <p:cNvPr id="9" name="Rounded Rectangle 8"/>
          <p:cNvSpPr/>
          <p:nvPr/>
        </p:nvSpPr>
        <p:spPr>
          <a:xfrm>
            <a:off x="609904" y="1280160"/>
            <a:ext cx="6035040" cy="2880360"/>
          </a:xfrm>
          <a:prstGeom prst="roundRect">
            <a:avLst>
              <a:gd name="adj" fmla="val 4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504" y="1371600"/>
            <a:ext cx="5577840" cy="2743200"/>
          </a:xfrm>
          <a:prstGeom prst="rect">
            <a:avLst/>
          </a:prstGeom>
          <a:noFill/>
        </p:spPr>
        <p:txBody>
          <a:bodyPr wrap="square" lIns="27432" rIns="27432" tIns="27432" bIns="27432" anchor="t"/>
          <a:lstStyle/>
          <a:p>
            <a:pPr algn="l">
              <a:spcAft>
                <a:spcPts val="400"/>
              </a:spcAft>
            </a:pPr>
            <a:r>
              <a:rPr sz="1400" b="1" i="0">
                <a:solidFill>
                  <a:srgbClr val="E8A33D"/>
                </a:solidFill>
              </a:rPr>
              <a:t>Decision vector</a:t>
            </a:r>
          </a:p>
          <a:p>
            <a:pPr algn="l">
              <a:spcAft>
                <a:spcPts val="400"/>
              </a:spcAft>
            </a:pPr>
            <a:r>
              <a:rPr sz="1500" b="0" i="0">
                <a:solidFill>
                  <a:srgbClr val="FFFFFF"/>
                </a:solidFill>
              </a:rPr>
              <a:t>x = [ P_PV (kW),  N_str (integer),  P_conv (kW),  N_SC (integer) ]</a:t>
            </a:r>
          </a:p>
          <a:p>
            <a:pPr algn="l">
              <a:spcAft>
                <a:spcPts val="400"/>
              </a:spcAft>
            </a:pPr>
            <a:r>
              <a:rPr sz="1400" b="1" i="0">
                <a:solidFill>
                  <a:srgbClr val="E8A33D"/>
                </a:solidFill>
              </a:rPr>
              <a:t>Minimise</a:t>
            </a:r>
          </a:p>
          <a:p>
            <a:pPr algn="l">
              <a:spcAft>
                <a:spcPts val="400"/>
              </a:spcAft>
            </a:pPr>
            <a:r>
              <a:rPr sz="1500" b="0" i="0">
                <a:solidFill>
                  <a:srgbClr val="FFFFFF"/>
                </a:solidFill>
              </a:rPr>
              <a:t>NPC(x)  over 15 years</a:t>
            </a:r>
          </a:p>
          <a:p>
            <a:pPr algn="l">
              <a:spcAft>
                <a:spcPts val="400"/>
              </a:spcAft>
            </a:pPr>
            <a:r>
              <a:rPr sz="1400" b="1" i="0">
                <a:solidFill>
                  <a:srgbClr val="E8A33D"/>
                </a:solidFill>
              </a:rPr>
              <a:t>Subject to</a:t>
            </a:r>
          </a:p>
          <a:p>
            <a:pPr algn="l">
              <a:spcAft>
                <a:spcPts val="400"/>
              </a:spcAft>
            </a:pPr>
            <a:r>
              <a:rPr sz="1500" b="0" i="0">
                <a:solidFill>
                  <a:srgbClr val="FFFFFF"/>
                </a:solidFill>
              </a:rPr>
              <a:t>LPSP(x) ≤ 0.01</a:t>
            </a:r>
          </a:p>
          <a:p>
            <a:pPr algn="l">
              <a:spcAft>
                <a:spcPts val="400"/>
              </a:spcAft>
            </a:pPr>
            <a:r>
              <a:rPr sz="1500" b="0" i="0">
                <a:solidFill>
                  <a:srgbClr val="FFFFFF"/>
                </a:solidFill>
              </a:rPr>
              <a:t>N_SC ≥ N_SC,req = 4   (465 kJ transient)</a:t>
            </a:r>
          </a:p>
          <a:p>
            <a:pPr algn="l">
              <a:spcAft>
                <a:spcPts val="400"/>
              </a:spcAft>
            </a:pPr>
            <a:r>
              <a:rPr sz="1500" b="0" i="0">
                <a:solidFill>
                  <a:srgbClr val="FFFFFF"/>
                </a:solidFill>
              </a:rPr>
              <a:t>x within the bounds in the table</a:t>
            </a:r>
          </a:p>
        </p:txBody>
      </p:sp>
      <p:graphicFrame>
        <p:nvGraphicFramePr>
          <p:cNvPr id="11" name="Table 10"/>
          <p:cNvGraphicFramePr>
            <a:graphicFrameLocks noGrp="1"/>
          </p:cNvGraphicFramePr>
          <p:nvPr/>
        </p:nvGraphicFramePr>
        <p:xfrm>
          <a:off x="6919264" y="1280160"/>
          <a:ext cx="4663440" cy="2286000"/>
        </p:xfrm>
        <a:graphic>
          <a:graphicData uri="http://schemas.openxmlformats.org/drawingml/2006/table">
            <a:tbl>
              <a:tblPr firstRow="0" bandRow="0">
                <a:tableStyleId>{5940675A-B579-460E-94D1-54222C63F5DA}</a:tableStyleId>
              </a:tblPr>
              <a:tblGrid>
                <a:gridCol w="1691640"/>
                <a:gridCol w="914400"/>
                <a:gridCol w="914400"/>
                <a:gridCol w="1143000"/>
              </a:tblGrid>
              <a:tr h="457200">
                <a:tc>
                  <a:txBody>
                    <a:bodyPr wrap="square"/>
                    <a:lstStyle/>
                    <a:p>
                      <a:r>
                        <a:rPr sz="1300" b="1" i="0">
                          <a:solidFill>
                            <a:srgbClr val="FFFFFF"/>
                          </a:solidFill>
                        </a:rPr>
                        <a:t>Variable</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Lower</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Upper</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1" i="0">
                          <a:solidFill>
                            <a:srgbClr val="FFFFFF"/>
                          </a:solidFill>
                        </a:rPr>
                        <a:t>Unit</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r>
              <a:tr h="457200">
                <a:tc>
                  <a:txBody>
                    <a:bodyPr wrap="square"/>
                    <a:lstStyle/>
                    <a:p>
                      <a:r>
                        <a:rPr sz="1300" b="1" i="0">
                          <a:solidFill>
                            <a:srgbClr val="13233A"/>
                          </a:solidFill>
                        </a:rPr>
                        <a:t>PV capacity</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1,000</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8,000</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kW</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457200">
                <a:tc>
                  <a:txBody>
                    <a:bodyPr wrap="square"/>
                    <a:lstStyle/>
                    <a:p>
                      <a:r>
                        <a:rPr sz="1300" b="1" i="0">
                          <a:solidFill>
                            <a:srgbClr val="13233A"/>
                          </a:solidFill>
                        </a:rPr>
                        <a:t>Battery strings</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0</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500</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 60 kWh</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457200">
                <a:tc>
                  <a:txBody>
                    <a:bodyPr wrap="square"/>
                    <a:lstStyle/>
                    <a:p>
                      <a:r>
                        <a:rPr sz="1300" b="1" i="0">
                          <a:solidFill>
                            <a:srgbClr val="13233A"/>
                          </a:solidFill>
                        </a:rPr>
                        <a:t>Converter</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300</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3,000</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kW</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457200">
                <a:tc>
                  <a:txBody>
                    <a:bodyPr wrap="square"/>
                    <a:lstStyle/>
                    <a:p>
                      <a:r>
                        <a:rPr sz="1300" b="1" i="0">
                          <a:solidFill>
                            <a:srgbClr val="13233A"/>
                          </a:solidFill>
                        </a:rPr>
                        <a:t>SC strings</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4</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4</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300" b="0" i="0">
                          <a:solidFill>
                            <a:srgbClr val="4A5568"/>
                          </a:solidFill>
                        </a:rPr>
                        <a:t>fixed at need</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bl>
          </a:graphicData>
        </a:graphic>
      </p:graphicFrame>
      <p:sp>
        <p:nvSpPr>
          <p:cNvPr id="12" name="TextBox 11"/>
          <p:cNvSpPr txBox="1"/>
          <p:nvPr/>
        </p:nvSpPr>
        <p:spPr>
          <a:xfrm>
            <a:off x="6919264" y="3657600"/>
            <a:ext cx="4663440" cy="274320"/>
          </a:xfrm>
          <a:prstGeom prst="rect">
            <a:avLst/>
          </a:prstGeom>
          <a:noFill/>
        </p:spPr>
        <p:txBody>
          <a:bodyPr wrap="square" lIns="27432" rIns="27432" tIns="27432" bIns="27432" anchor="t"/>
          <a:lstStyle/>
          <a:p>
            <a:pPr algn="l">
              <a:spcAft>
                <a:spcPts val="400"/>
              </a:spcAft>
            </a:pPr>
            <a:r>
              <a:rPr sz="1100" b="0" i="1">
                <a:solidFill>
                  <a:srgbClr val="5F6B78"/>
                </a:solidFill>
              </a:rPr>
              <a:t>Bounds are wider than the grid sweep, so PSO is not boxed in.</a:t>
            </a:r>
          </a:p>
        </p:txBody>
      </p:sp>
      <p:sp>
        <p:nvSpPr>
          <p:cNvPr id="13" name="Rounded Rectangle 12"/>
          <p:cNvSpPr/>
          <p:nvPr/>
        </p:nvSpPr>
        <p:spPr>
          <a:xfrm>
            <a:off x="609904" y="4389120"/>
            <a:ext cx="10972800" cy="169164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 y="4480560"/>
            <a:ext cx="4937760" cy="365760"/>
          </a:xfrm>
          <a:prstGeom prst="rect">
            <a:avLst/>
          </a:prstGeom>
          <a:noFill/>
        </p:spPr>
        <p:txBody>
          <a:bodyPr wrap="square" lIns="27432" rIns="27432" tIns="27432" bIns="27432" anchor="t"/>
          <a:lstStyle/>
          <a:p>
            <a:pPr algn="l">
              <a:spcAft>
                <a:spcPts val="400"/>
              </a:spcAft>
            </a:pPr>
            <a:r>
              <a:rPr sz="1500" b="1" i="0">
                <a:solidFill>
                  <a:srgbClr val="13233A"/>
                </a:solidFill>
              </a:rPr>
              <a:t>Feasibility-first score</a:t>
            </a:r>
          </a:p>
        </p:txBody>
      </p:sp>
      <p:sp>
        <p:nvSpPr>
          <p:cNvPr id="15" name="TextBox 14"/>
          <p:cNvSpPr txBox="1"/>
          <p:nvPr/>
        </p:nvSpPr>
        <p:spPr>
          <a:xfrm>
            <a:off x="838504" y="4892040"/>
            <a:ext cx="5120640" cy="1097280"/>
          </a:xfrm>
          <a:prstGeom prst="rect">
            <a:avLst/>
          </a:prstGeom>
          <a:noFill/>
        </p:spPr>
        <p:txBody>
          <a:bodyPr wrap="square" lIns="27432" rIns="27432" tIns="27432" bIns="27432" anchor="t"/>
          <a:lstStyle/>
          <a:p>
            <a:pPr algn="l">
              <a:spcAft>
                <a:spcPts val="300"/>
              </a:spcAft>
            </a:pPr>
            <a:r>
              <a:rPr sz="1400" b="0" i="0">
                <a:solidFill>
                  <a:srgbClr val="13233A"/>
                </a:solidFill>
              </a:rPr>
              <a:t>score = NPC                    if feasible</a:t>
            </a:r>
          </a:p>
          <a:p>
            <a:pPr algn="l">
              <a:spcAft>
                <a:spcPts val="300"/>
              </a:spcAft>
            </a:pPr>
            <a:r>
              <a:rPr sz="1400" b="0" i="0">
                <a:solidFill>
                  <a:srgbClr val="13233A"/>
                </a:solidFill>
              </a:rPr>
              <a:t>score = 10¹⁰ · (1 + violation)   otherwise</a:t>
            </a:r>
          </a:p>
          <a:p>
            <a:pPr algn="l">
              <a:spcAft>
                <a:spcPts val="300"/>
              </a:spcAft>
            </a:pPr>
            <a:r>
              <a:rPr sz="1200" b="0" i="0">
                <a:solidFill>
                  <a:srgbClr val="4A5568"/>
                </a:solidFill>
              </a:rPr>
              <a:t>violation = max(0, LPSP − 0.01) + max(0, N_SC,req − N_SC)</a:t>
            </a:r>
          </a:p>
        </p:txBody>
      </p:sp>
      <p:sp>
        <p:nvSpPr>
          <p:cNvPr id="16" name="TextBox 15"/>
          <p:cNvSpPr txBox="1"/>
          <p:nvPr/>
        </p:nvSpPr>
        <p:spPr>
          <a:xfrm>
            <a:off x="6279184" y="4526280"/>
            <a:ext cx="5120640" cy="1508760"/>
          </a:xfrm>
          <a:prstGeom prst="rect">
            <a:avLst/>
          </a:prstGeom>
          <a:noFill/>
        </p:spPr>
        <p:txBody>
          <a:bodyPr wrap="square" lIns="27432" rIns="27432" tIns="27432" bIns="27432" anchor="t"/>
          <a:lstStyle/>
          <a:p>
            <a:pPr algn="l" marL="201168" indent="-182880">
              <a:spcAft>
                <a:spcPts val="600"/>
              </a:spcAft>
              <a:buChar char="•"/>
            </a:pPr>
            <a:r>
              <a:rPr sz="1300" b="0" i="0">
                <a:solidFill>
                  <a:srgbClr val="4A5568"/>
                </a:solidFill>
              </a:rPr>
              <a:t>Every feasible design beats every infeasible one</a:t>
            </a:r>
          </a:p>
          <a:p>
            <a:pPr algn="l" marL="201168" indent="-182880">
              <a:spcAft>
                <a:spcPts val="600"/>
              </a:spcAft>
              <a:buChar char="•"/>
            </a:pPr>
            <a:r>
              <a:rPr sz="1300" b="0" i="0">
                <a:solidFill>
                  <a:srgbClr val="4A5568"/>
                </a:solidFill>
              </a:rPr>
              <a:t>Among infeasible designs, the smaller violation wins</a:t>
            </a:r>
          </a:p>
          <a:p>
            <a:pPr algn="l" marL="201168" indent="-182880">
              <a:spcAft>
                <a:spcPts val="600"/>
              </a:spcAft>
              <a:buChar char="•"/>
            </a:pPr>
            <a:r>
              <a:rPr sz="1300" b="0" i="0">
                <a:solidFill>
                  <a:srgbClr val="4A5568"/>
                </a:solidFill>
              </a:rPr>
              <a:t>Avoids NPC + k·violation, where a cheap unreliable design can win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MODELLING</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Python simulator and its verification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17 / 34</a:t>
            </a:r>
          </a:p>
        </p:txBody>
      </p:sp>
      <p:sp>
        <p:nvSpPr>
          <p:cNvPr id="9" name="Rounded Rectangle 8"/>
          <p:cNvSpPr/>
          <p:nvPr/>
        </p:nvSpPr>
        <p:spPr>
          <a:xfrm>
            <a:off x="609904" y="1280160"/>
            <a:ext cx="5120640" cy="548640"/>
          </a:xfrm>
          <a:prstGeom prst="roundRect">
            <a:avLst>
              <a:gd name="adj" fmla="val 12000"/>
            </a:avLst>
          </a:prstGeom>
          <a:solidFill>
            <a:srgbClr val="FFFFFF"/>
          </a:solidFill>
          <a:ln w="12700">
            <a:solidFill>
              <a:srgbClr val="13233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13233A"/>
                </a:solidFill>
              </a:rPr>
              <a:t>Inputs: load, GHI, temperature (8,760 h)</a:t>
            </a:r>
          </a:p>
        </p:txBody>
      </p:sp>
      <p:sp>
        <p:nvSpPr>
          <p:cNvPr id="10" name="Rounded Rectangle 9"/>
          <p:cNvSpPr/>
          <p:nvPr/>
        </p:nvSpPr>
        <p:spPr>
          <a:xfrm>
            <a:off x="609904" y="1984248"/>
            <a:ext cx="5120640" cy="548640"/>
          </a:xfrm>
          <a:prstGeom prst="roundRect">
            <a:avLst>
              <a:gd name="adj" fmla="val 12000"/>
            </a:avLst>
          </a:prstGeom>
          <a:solidFill>
            <a:srgbClr val="FBFBF8"/>
          </a:solidFill>
          <a:ln w="12700">
            <a:solidFill>
              <a:srgbClr val="1F7A7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PV output for every hour</a:t>
            </a:r>
          </a:p>
        </p:txBody>
      </p:sp>
      <p:cxnSp>
        <p:nvCxnSpPr>
          <p:cNvPr id="11" name="Connector 10"/>
          <p:cNvCxnSpPr/>
          <p:nvPr/>
        </p:nvCxnSpPr>
        <p:spPr>
          <a:xfrm>
            <a:off x="3170224" y="1828800"/>
            <a:ext cx="0" cy="155448"/>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9904" y="2688336"/>
            <a:ext cx="5120640" cy="548640"/>
          </a:xfrm>
          <a:prstGeom prst="roundRect">
            <a:avLst>
              <a:gd name="adj" fmla="val 12000"/>
            </a:avLst>
          </a:prstGeom>
          <a:solidFill>
            <a:srgbClr val="FBFBF8"/>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Hour loop: PV → load; surplus → battery → curtail; deficit → battery → unmet</a:t>
            </a:r>
          </a:p>
        </p:txBody>
      </p:sp>
      <p:cxnSp>
        <p:nvCxnSpPr>
          <p:cNvPr id="13" name="Connector 12"/>
          <p:cNvCxnSpPr/>
          <p:nvPr/>
        </p:nvCxnSpPr>
        <p:spPr>
          <a:xfrm>
            <a:off x="3170224" y="2532888"/>
            <a:ext cx="0" cy="155448"/>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9904" y="3392424"/>
            <a:ext cx="5120640" cy="548640"/>
          </a:xfrm>
          <a:prstGeom prst="roundRect">
            <a:avLst>
              <a:gd name="adj" fmla="val 12000"/>
            </a:avLst>
          </a:prstGeom>
          <a:solidFill>
            <a:srgbClr val="FBFBF8"/>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Annual totals: served, unmet, curtailed, throughput</a:t>
            </a:r>
          </a:p>
        </p:txBody>
      </p:sp>
      <p:cxnSp>
        <p:nvCxnSpPr>
          <p:cNvPr id="15" name="Connector 14"/>
          <p:cNvCxnSpPr/>
          <p:nvPr/>
        </p:nvCxnSpPr>
        <p:spPr>
          <a:xfrm>
            <a:off x="3170224" y="3236976"/>
            <a:ext cx="0" cy="155448"/>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9904" y="4096512"/>
            <a:ext cx="5120640" cy="548640"/>
          </a:xfrm>
          <a:prstGeom prst="roundRect">
            <a:avLst>
              <a:gd name="adj" fmla="val 12000"/>
            </a:avLst>
          </a:prstGeom>
          <a:solidFill>
            <a:srgbClr val="FBFBF8"/>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Rainflow + Miner → battery life → replacements</a:t>
            </a:r>
          </a:p>
        </p:txBody>
      </p:sp>
      <p:cxnSp>
        <p:nvCxnSpPr>
          <p:cNvPr id="17" name="Connector 16"/>
          <p:cNvCxnSpPr/>
          <p:nvPr/>
        </p:nvCxnSpPr>
        <p:spPr>
          <a:xfrm>
            <a:off x="3170224" y="3941064"/>
            <a:ext cx="0" cy="155448"/>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09904" y="4800600"/>
            <a:ext cx="5120640" cy="548640"/>
          </a:xfrm>
          <a:prstGeom prst="roundRect">
            <a:avLst>
              <a:gd name="adj" fmla="val 12000"/>
            </a:avLst>
          </a:prstGeom>
          <a:solidFill>
            <a:srgbClr val="FBFBF8"/>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NPC, LCOE, salvage</a:t>
            </a:r>
          </a:p>
        </p:txBody>
      </p:sp>
      <p:cxnSp>
        <p:nvCxnSpPr>
          <p:cNvPr id="19" name="Connector 18"/>
          <p:cNvCxnSpPr/>
          <p:nvPr/>
        </p:nvCxnSpPr>
        <p:spPr>
          <a:xfrm>
            <a:off x="3170224" y="4645152"/>
            <a:ext cx="0" cy="155448"/>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09904" y="5504688"/>
            <a:ext cx="5120640" cy="548640"/>
          </a:xfrm>
          <a:prstGeom prst="roundRect">
            <a:avLst>
              <a:gd name="adj" fmla="val 12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FFFFFF"/>
                </a:solidFill>
              </a:rPr>
              <a:t>Score = NPC, or penalty if LPSP &gt; 1 %</a:t>
            </a:r>
          </a:p>
        </p:txBody>
      </p:sp>
      <p:cxnSp>
        <p:nvCxnSpPr>
          <p:cNvPr id="21" name="Connector 20"/>
          <p:cNvCxnSpPr/>
          <p:nvPr/>
        </p:nvCxnSpPr>
        <p:spPr>
          <a:xfrm>
            <a:off x="3170224" y="5349240"/>
            <a:ext cx="0" cy="155448"/>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96304" y="1261872"/>
            <a:ext cx="5486400" cy="365760"/>
          </a:xfrm>
          <a:prstGeom prst="rect">
            <a:avLst/>
          </a:prstGeom>
          <a:noFill/>
        </p:spPr>
        <p:txBody>
          <a:bodyPr wrap="square" lIns="27432" rIns="27432" tIns="27432" bIns="27432" anchor="t"/>
          <a:lstStyle/>
          <a:p>
            <a:pPr algn="l">
              <a:spcAft>
                <a:spcPts val="400"/>
              </a:spcAft>
            </a:pPr>
            <a:r>
              <a:rPr sz="1600" b="1" i="0">
                <a:solidFill>
                  <a:srgbClr val="13233A"/>
                </a:solidFill>
              </a:rPr>
              <a:t>Verification: 35 checks, all passing</a:t>
            </a:r>
          </a:p>
        </p:txBody>
      </p:sp>
      <p:sp>
        <p:nvSpPr>
          <p:cNvPr id="23" name="Rounded Rectangle 22"/>
          <p:cNvSpPr/>
          <p:nvPr/>
        </p:nvSpPr>
        <p:spPr>
          <a:xfrm>
            <a:off x="6096304" y="1719072"/>
            <a:ext cx="5486400" cy="1170432"/>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33464" y="1847088"/>
            <a:ext cx="685800" cy="292608"/>
          </a:xfrm>
          <a:prstGeom prst="roundRect">
            <a:avLst>
              <a:gd name="adj" fmla="val 12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100" b="1" i="0">
                <a:solidFill>
                  <a:srgbClr val="FFFFFF"/>
                </a:solidFill>
              </a:rPr>
              <a:t>PASS</a:t>
            </a:r>
          </a:p>
        </p:txBody>
      </p:sp>
      <p:sp>
        <p:nvSpPr>
          <p:cNvPr id="25" name="TextBox 24"/>
          <p:cNvSpPr txBox="1"/>
          <p:nvPr/>
        </p:nvSpPr>
        <p:spPr>
          <a:xfrm>
            <a:off x="7056424" y="1792224"/>
            <a:ext cx="4389120" cy="365760"/>
          </a:xfrm>
          <a:prstGeom prst="rect">
            <a:avLst/>
          </a:prstGeom>
          <a:noFill/>
        </p:spPr>
        <p:txBody>
          <a:bodyPr wrap="square" lIns="27432" rIns="27432" tIns="27432" bIns="27432" anchor="t"/>
          <a:lstStyle/>
          <a:p>
            <a:pPr algn="l">
              <a:spcAft>
                <a:spcPts val="400"/>
              </a:spcAft>
            </a:pPr>
            <a:r>
              <a:rPr sz="1400" b="1" i="0">
                <a:solidFill>
                  <a:srgbClr val="13233A"/>
                </a:solidFill>
              </a:rPr>
              <a:t>Simulator  ·  20</a:t>
            </a:r>
          </a:p>
        </p:txBody>
      </p:sp>
      <p:sp>
        <p:nvSpPr>
          <p:cNvPr id="26" name="TextBox 25"/>
          <p:cNvSpPr txBox="1"/>
          <p:nvPr/>
        </p:nvSpPr>
        <p:spPr>
          <a:xfrm>
            <a:off x="7056424" y="2139696"/>
            <a:ext cx="4389120" cy="731520"/>
          </a:xfrm>
          <a:prstGeom prst="rect">
            <a:avLst/>
          </a:prstGeom>
          <a:noFill/>
        </p:spPr>
        <p:txBody>
          <a:bodyPr wrap="square" lIns="27432" rIns="27432" tIns="27432" bIns="27432" anchor="t"/>
          <a:lstStyle/>
          <a:p>
            <a:pPr algn="l">
              <a:spcAft>
                <a:spcPts val="400"/>
              </a:spcAft>
            </a:pPr>
            <a:r>
              <a:rPr sz="1200" b="0" i="0">
                <a:solidFill>
                  <a:srgbClr val="4A5568"/>
                </a:solidFill>
              </a:rPr>
              <a:t>Energy balances close; SoC, converter and current limits hold; LCOE, salvage, cycle and float life match hand calculations; penalties rank correctly</a:t>
            </a:r>
          </a:p>
        </p:txBody>
      </p:sp>
      <p:sp>
        <p:nvSpPr>
          <p:cNvPr id="27" name="Rounded Rectangle 26"/>
          <p:cNvSpPr/>
          <p:nvPr/>
        </p:nvSpPr>
        <p:spPr>
          <a:xfrm>
            <a:off x="6096304" y="2980944"/>
            <a:ext cx="5486400" cy="1170432"/>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33464" y="3108960"/>
            <a:ext cx="685800" cy="292608"/>
          </a:xfrm>
          <a:prstGeom prst="roundRect">
            <a:avLst>
              <a:gd name="adj" fmla="val 12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100" b="1" i="0">
                <a:solidFill>
                  <a:srgbClr val="FFFFFF"/>
                </a:solidFill>
              </a:rPr>
              <a:t>PASS</a:t>
            </a:r>
          </a:p>
        </p:txBody>
      </p:sp>
      <p:sp>
        <p:nvSpPr>
          <p:cNvPr id="29" name="TextBox 28"/>
          <p:cNvSpPr txBox="1"/>
          <p:nvPr/>
        </p:nvSpPr>
        <p:spPr>
          <a:xfrm>
            <a:off x="7056424" y="3054096"/>
            <a:ext cx="4389120" cy="365760"/>
          </a:xfrm>
          <a:prstGeom prst="rect">
            <a:avLst/>
          </a:prstGeom>
          <a:noFill/>
        </p:spPr>
        <p:txBody>
          <a:bodyPr wrap="square" lIns="27432" rIns="27432" tIns="27432" bIns="27432" anchor="t"/>
          <a:lstStyle/>
          <a:p>
            <a:pPr algn="l">
              <a:spcAft>
                <a:spcPts val="400"/>
              </a:spcAft>
            </a:pPr>
            <a:r>
              <a:rPr sz="1400" b="1" i="0">
                <a:solidFill>
                  <a:srgbClr val="13233A"/>
                </a:solidFill>
              </a:rPr>
              <a:t>Multi-year model  ·  7</a:t>
            </a:r>
          </a:p>
        </p:txBody>
      </p:sp>
      <p:sp>
        <p:nvSpPr>
          <p:cNvPr id="30" name="TextBox 29"/>
          <p:cNvSpPr txBox="1"/>
          <p:nvPr/>
        </p:nvSpPr>
        <p:spPr>
          <a:xfrm>
            <a:off x="7056424" y="3401568"/>
            <a:ext cx="4389120" cy="731520"/>
          </a:xfrm>
          <a:prstGeom prst="rect">
            <a:avLst/>
          </a:prstGeom>
          <a:noFill/>
        </p:spPr>
        <p:txBody>
          <a:bodyPr wrap="square" lIns="27432" rIns="27432" tIns="27432" bIns="27432" anchor="t"/>
          <a:lstStyle/>
          <a:p>
            <a:pPr algn="l">
              <a:spcAft>
                <a:spcPts val="400"/>
              </a:spcAft>
            </a:pPr>
            <a:r>
              <a:rPr sz="1200" b="0" i="0">
                <a:solidFill>
                  <a:srgbClr val="4A5568"/>
                </a:solidFill>
              </a:rPr>
              <a:t>With no growth the 15-year model equals the single-year one for three designs; yearly costs add up to NPC</a:t>
            </a:r>
          </a:p>
        </p:txBody>
      </p:sp>
      <p:sp>
        <p:nvSpPr>
          <p:cNvPr id="31" name="Rounded Rectangle 30"/>
          <p:cNvSpPr/>
          <p:nvPr/>
        </p:nvSpPr>
        <p:spPr>
          <a:xfrm>
            <a:off x="6096304" y="4242816"/>
            <a:ext cx="5486400" cy="1170432"/>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233464" y="4370831"/>
            <a:ext cx="685800" cy="292608"/>
          </a:xfrm>
          <a:prstGeom prst="roundRect">
            <a:avLst>
              <a:gd name="adj" fmla="val 12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100" b="1" i="0">
                <a:solidFill>
                  <a:srgbClr val="FFFFFF"/>
                </a:solidFill>
              </a:rPr>
              <a:t>PASS</a:t>
            </a:r>
          </a:p>
        </p:txBody>
      </p:sp>
      <p:sp>
        <p:nvSpPr>
          <p:cNvPr id="33" name="TextBox 32"/>
          <p:cNvSpPr txBox="1"/>
          <p:nvPr/>
        </p:nvSpPr>
        <p:spPr>
          <a:xfrm>
            <a:off x="7056424" y="4315968"/>
            <a:ext cx="4389120" cy="365760"/>
          </a:xfrm>
          <a:prstGeom prst="rect">
            <a:avLst/>
          </a:prstGeom>
          <a:noFill/>
        </p:spPr>
        <p:txBody>
          <a:bodyPr wrap="square" lIns="27432" rIns="27432" tIns="27432" bIns="27432" anchor="t"/>
          <a:lstStyle/>
          <a:p>
            <a:pPr algn="l">
              <a:spcAft>
                <a:spcPts val="400"/>
              </a:spcAft>
            </a:pPr>
            <a:r>
              <a:rPr sz="1400" b="1" i="0">
                <a:solidFill>
                  <a:srgbClr val="13233A"/>
                </a:solidFill>
              </a:rPr>
              <a:t>Grid model  ·  8</a:t>
            </a:r>
          </a:p>
        </p:txBody>
      </p:sp>
      <p:sp>
        <p:nvSpPr>
          <p:cNvPr id="34" name="TextBox 33"/>
          <p:cNvSpPr txBox="1"/>
          <p:nvPr/>
        </p:nvSpPr>
        <p:spPr>
          <a:xfrm>
            <a:off x="7056424" y="4663440"/>
            <a:ext cx="4389120" cy="731520"/>
          </a:xfrm>
          <a:prstGeom prst="rect">
            <a:avLst/>
          </a:prstGeom>
          <a:noFill/>
        </p:spPr>
        <p:txBody>
          <a:bodyPr wrap="square" lIns="27432" rIns="27432" tIns="27432" bIns="27432" anchor="t"/>
          <a:lstStyle/>
          <a:p>
            <a:pPr algn="l">
              <a:spcAft>
                <a:spcPts val="400"/>
              </a:spcAft>
            </a:pPr>
            <a:r>
              <a:rPr sz="1200" b="0" i="0">
                <a:solidFill>
                  <a:srgbClr val="4A5568"/>
                </a:solidFill>
              </a:rPr>
              <a:t>Grid-only cost matches the hand calculation; energy balances close; exports never exceed the cap</a:t>
            </a:r>
          </a:p>
        </p:txBody>
      </p:sp>
      <p:sp>
        <p:nvSpPr>
          <p:cNvPr id="35" name="Rounded Rectangle 34"/>
          <p:cNvSpPr/>
          <p:nvPr/>
        </p:nvSpPr>
        <p:spPr>
          <a:xfrm>
            <a:off x="6096304" y="5486400"/>
            <a:ext cx="5486400" cy="658368"/>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0896" y="5486400"/>
            <a:ext cx="5157216" cy="658368"/>
          </a:xfrm>
          <a:prstGeom prst="rect">
            <a:avLst/>
          </a:prstGeom>
          <a:noFill/>
        </p:spPr>
        <p:txBody>
          <a:bodyPr wrap="square" lIns="27432" rIns="27432" tIns="27432" bIns="27432" anchor="ctr"/>
          <a:lstStyle/>
          <a:p>
            <a:pPr algn="l">
              <a:spcAft>
                <a:spcPts val="400"/>
              </a:spcAft>
            </a:pPr>
            <a:r>
              <a:rPr sz="1300" b="0" i="0">
                <a:solidFill>
                  <a:srgbClr val="13233A"/>
                </a:solidFill>
              </a:rPr>
              <a:t>Verification, not validation: the code is checked against itself and hand calculations, not against a measured microgrid.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OPTIMISATION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Grid search and particle swarm optimisation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18 / 34</a:t>
            </a:r>
          </a:p>
        </p:txBody>
      </p:sp>
      <p:sp>
        <p:nvSpPr>
          <p:cNvPr id="9" name="Rounded Rectangle 8"/>
          <p:cNvSpPr/>
          <p:nvPr/>
        </p:nvSpPr>
        <p:spPr>
          <a:xfrm>
            <a:off x="609904" y="1298448"/>
            <a:ext cx="4297680" cy="530352"/>
          </a:xfrm>
          <a:prstGeom prst="roundRect">
            <a:avLst>
              <a:gd name="adj" fmla="val 12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FFFFFF"/>
                </a:solidFill>
              </a:rPr>
              <a:t>Initialise 20 particles at random within bounds</a:t>
            </a:r>
          </a:p>
        </p:txBody>
      </p:sp>
      <p:sp>
        <p:nvSpPr>
          <p:cNvPr id="10" name="Rounded Rectangle 9"/>
          <p:cNvSpPr/>
          <p:nvPr/>
        </p:nvSpPr>
        <p:spPr>
          <a:xfrm>
            <a:off x="609904" y="2011680"/>
            <a:ext cx="4297680" cy="530352"/>
          </a:xfrm>
          <a:prstGeom prst="roundRect">
            <a:avLst>
              <a:gd name="adj" fmla="val 12000"/>
            </a:avLst>
          </a:prstGeom>
          <a:solidFill>
            <a:srgbClr val="FBFBF8"/>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Round to whole kW / strings; simulate (cached)</a:t>
            </a:r>
          </a:p>
        </p:txBody>
      </p:sp>
      <p:cxnSp>
        <p:nvCxnSpPr>
          <p:cNvPr id="11" name="Connector 10"/>
          <p:cNvCxnSpPr/>
          <p:nvPr/>
        </p:nvCxnSpPr>
        <p:spPr>
          <a:xfrm>
            <a:off x="2758744" y="1828800"/>
            <a:ext cx="0" cy="182880"/>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9904" y="2724912"/>
            <a:ext cx="4297680" cy="530352"/>
          </a:xfrm>
          <a:prstGeom prst="roundRect">
            <a:avLst>
              <a:gd name="adj" fmla="val 12000"/>
            </a:avLst>
          </a:prstGeom>
          <a:solidFill>
            <a:srgbClr val="FBFBF8"/>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Update personal and global best scores</a:t>
            </a:r>
          </a:p>
        </p:txBody>
      </p:sp>
      <p:cxnSp>
        <p:nvCxnSpPr>
          <p:cNvPr id="13" name="Connector 12"/>
          <p:cNvCxnSpPr/>
          <p:nvPr/>
        </p:nvCxnSpPr>
        <p:spPr>
          <a:xfrm>
            <a:off x="2758744" y="2542032"/>
            <a:ext cx="0" cy="182880"/>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9904" y="3438144"/>
            <a:ext cx="4297680" cy="530352"/>
          </a:xfrm>
          <a:prstGeom prst="roundRect">
            <a:avLst>
              <a:gd name="adj" fmla="val 12000"/>
            </a:avLst>
          </a:prstGeom>
          <a:solidFill>
            <a:srgbClr val="FBFBF8"/>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v ← w·v + c₁r₁(p_best − x) + c₂r₂(g_best − x)</a:t>
            </a:r>
          </a:p>
        </p:txBody>
      </p:sp>
      <p:cxnSp>
        <p:nvCxnSpPr>
          <p:cNvPr id="15" name="Connector 14"/>
          <p:cNvCxnSpPr/>
          <p:nvPr/>
        </p:nvCxnSpPr>
        <p:spPr>
          <a:xfrm>
            <a:off x="2758744" y="3255263"/>
            <a:ext cx="0" cy="182881"/>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9904" y="4151376"/>
            <a:ext cx="4297680" cy="530352"/>
          </a:xfrm>
          <a:prstGeom prst="roundRect">
            <a:avLst>
              <a:gd name="adj" fmla="val 12000"/>
            </a:avLst>
          </a:prstGeom>
          <a:solidFill>
            <a:srgbClr val="FBFBF8"/>
          </a:solidFill>
          <a:ln w="12700">
            <a:solidFill>
              <a:srgbClr val="2E6F9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0" i="0">
                <a:solidFill>
                  <a:srgbClr val="13233A"/>
                </a:solidFill>
              </a:rPr>
              <a:t>Clip |v| ≤ 20 % of range; walls absorb</a:t>
            </a:r>
          </a:p>
        </p:txBody>
      </p:sp>
      <p:cxnSp>
        <p:nvCxnSpPr>
          <p:cNvPr id="17" name="Connector 16"/>
          <p:cNvCxnSpPr/>
          <p:nvPr/>
        </p:nvCxnSpPr>
        <p:spPr>
          <a:xfrm>
            <a:off x="2758744" y="3968496"/>
            <a:ext cx="0" cy="182880"/>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09904" y="4864608"/>
            <a:ext cx="4297680" cy="530352"/>
          </a:xfrm>
          <a:prstGeom prst="roundRect">
            <a:avLst>
              <a:gd name="adj" fmla="val 12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200" b="1" i="0">
                <a:solidFill>
                  <a:srgbClr val="FFFFFF"/>
                </a:solidFill>
              </a:rPr>
              <a:t>Repeat 40 iterations → best design</a:t>
            </a:r>
          </a:p>
        </p:txBody>
      </p:sp>
      <p:cxnSp>
        <p:nvCxnSpPr>
          <p:cNvPr id="19" name="Connector 18"/>
          <p:cNvCxnSpPr/>
          <p:nvPr/>
        </p:nvCxnSpPr>
        <p:spPr>
          <a:xfrm>
            <a:off x="2758744" y="4681728"/>
            <a:ext cx="0" cy="182880"/>
          </a:xfrm>
          <a:prstGeom prst="line">
            <a:avLst/>
          </a:prstGeom>
          <a:ln w="19050">
            <a:solidFill>
              <a:srgbClr val="8A9AA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953304" y="2276856"/>
            <a:ext cx="0" cy="2139696"/>
          </a:xfrm>
          <a:prstGeom prst="line">
            <a:avLst/>
          </a:prstGeom>
          <a:ln w="19050">
            <a:solidFill>
              <a:srgbClr val="E8A33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17312" y="2651760"/>
            <a:ext cx="822960" cy="548640"/>
          </a:xfrm>
          <a:prstGeom prst="rect">
            <a:avLst/>
          </a:prstGeom>
          <a:noFill/>
        </p:spPr>
        <p:txBody>
          <a:bodyPr wrap="square" lIns="27432" rIns="27432" tIns="27432" bIns="27432" anchor="t"/>
          <a:lstStyle/>
          <a:p>
            <a:pPr algn="l">
              <a:spcAft>
                <a:spcPts val="400"/>
              </a:spcAft>
            </a:pPr>
            <a:r>
              <a:rPr sz="1100" b="0" i="1">
                <a:solidFill>
                  <a:srgbClr val="E8A33D"/>
                </a:solidFill>
              </a:rPr>
              <a:t>loop</a:t>
            </a:r>
          </a:p>
        </p:txBody>
      </p:sp>
      <p:sp>
        <p:nvSpPr>
          <p:cNvPr id="22" name="TextBox 21"/>
          <p:cNvSpPr txBox="1"/>
          <p:nvPr/>
        </p:nvSpPr>
        <p:spPr>
          <a:xfrm>
            <a:off x="609904" y="5532120"/>
            <a:ext cx="4480560" cy="274320"/>
          </a:xfrm>
          <a:prstGeom prst="rect">
            <a:avLst/>
          </a:prstGeom>
          <a:noFill/>
        </p:spPr>
        <p:txBody>
          <a:bodyPr wrap="square" lIns="27432" rIns="27432" tIns="27432" bIns="27432" anchor="t"/>
          <a:lstStyle/>
          <a:p>
            <a:pPr algn="l">
              <a:spcAft>
                <a:spcPts val="400"/>
              </a:spcAft>
            </a:pPr>
            <a:r>
              <a:rPr sz="1100" b="0" i="1">
                <a:solidFill>
                  <a:srgbClr val="5F6B78"/>
                </a:solidFill>
              </a:rPr>
              <a:t>w = 0.7298, c₁ = c₂ = 1.49618 (Clerc &amp; Kennedy 2002).</a:t>
            </a:r>
          </a:p>
        </p:txBody>
      </p:sp>
      <p:pic>
        <p:nvPicPr>
          <p:cNvPr id="23" name="pso_convergence" descr="Project figure pso_convergence.png: pso convergence"/>
          <p:cNvPicPr>
            <a:picLocks noChangeAspect="1"/>
          </p:cNvPicPr>
          <p:nvPr/>
        </p:nvPicPr>
        <p:blipFill>
          <a:blip r:embed="rId2"/>
          <a:stretch>
            <a:fillRect/>
          </a:stretch>
        </p:blipFill>
        <p:spPr>
          <a:xfrm>
            <a:off x="5730544" y="1261872"/>
            <a:ext cx="5852160" cy="3072384"/>
          </a:xfrm>
          <a:prstGeom prst="rect">
            <a:avLst/>
          </a:prstGeom>
          <a:ln w="9525">
            <a:solidFill>
              <a:srgbClr val="D5DBE1"/>
            </a:solidFill>
          </a:ln>
        </p:spPr>
      </p:pic>
      <p:sp>
        <p:nvSpPr>
          <p:cNvPr id="24" name="TextBox 23"/>
          <p:cNvSpPr txBox="1"/>
          <p:nvPr/>
        </p:nvSpPr>
        <p:spPr>
          <a:xfrm>
            <a:off x="5730544" y="4361688"/>
            <a:ext cx="5852160" cy="274320"/>
          </a:xfrm>
          <a:prstGeom prst="rect">
            <a:avLst/>
          </a:prstGeom>
          <a:noFill/>
        </p:spPr>
        <p:txBody>
          <a:bodyPr wrap="square" lIns="27432" rIns="27432" tIns="27432" bIns="27432" anchor="t"/>
          <a:lstStyle/>
          <a:p>
            <a:pPr algn="l">
              <a:spcAft>
                <a:spcPts val="400"/>
              </a:spcAft>
            </a:pPr>
            <a:r>
              <a:rPr sz="1100" b="0" i="1">
                <a:solidFill>
                  <a:srgbClr val="5F6B78"/>
                </a:solidFill>
              </a:rPr>
              <a:t>Best NPC so far for each of 5 seeds, against the grid-sweep optimum.</a:t>
            </a:r>
          </a:p>
        </p:txBody>
      </p:sp>
      <p:sp>
        <p:nvSpPr>
          <p:cNvPr id="25" name="Rounded Rectangle 24"/>
          <p:cNvSpPr/>
          <p:nvPr/>
        </p:nvSpPr>
        <p:spPr>
          <a:xfrm>
            <a:off x="5730544" y="4754880"/>
            <a:ext cx="1859280" cy="12801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67704" y="4828032"/>
            <a:ext cx="1584960" cy="704088"/>
          </a:xfrm>
          <a:prstGeom prst="rect">
            <a:avLst/>
          </a:prstGeom>
          <a:noFill/>
        </p:spPr>
        <p:txBody>
          <a:bodyPr wrap="square" lIns="27432" rIns="27432" tIns="27432" bIns="27432" anchor="b"/>
          <a:lstStyle/>
          <a:p>
            <a:pPr algn="l">
              <a:spcAft>
                <a:spcPts val="400"/>
              </a:spcAft>
            </a:pPr>
            <a:r>
              <a:rPr sz="2200" b="1" i="0">
                <a:solidFill>
                  <a:srgbClr val="2E6F95"/>
                </a:solidFill>
              </a:rPr>
              <a:t>2,700</a:t>
            </a:r>
          </a:p>
        </p:txBody>
      </p:sp>
      <p:sp>
        <p:nvSpPr>
          <p:cNvPr id="27" name="TextBox 26"/>
          <p:cNvSpPr txBox="1"/>
          <p:nvPr/>
        </p:nvSpPr>
        <p:spPr>
          <a:xfrm>
            <a:off x="5867704" y="5497372"/>
            <a:ext cx="1584960" cy="512063"/>
          </a:xfrm>
          <a:prstGeom prst="rect">
            <a:avLst/>
          </a:prstGeom>
          <a:noFill/>
        </p:spPr>
        <p:txBody>
          <a:bodyPr wrap="square" lIns="27432" rIns="27432" tIns="27432" bIns="27432" anchor="t"/>
          <a:lstStyle/>
          <a:p>
            <a:pPr algn="l">
              <a:spcAft>
                <a:spcPts val="400"/>
              </a:spcAft>
            </a:pPr>
            <a:r>
              <a:rPr sz="1200" b="0" i="0">
                <a:solidFill>
                  <a:srgbClr val="4A5568"/>
                </a:solidFill>
              </a:rPr>
              <a:t>grid designs; best ₹387.7 M</a:t>
            </a:r>
          </a:p>
        </p:txBody>
      </p:sp>
      <p:sp>
        <p:nvSpPr>
          <p:cNvPr id="28" name="Rounded Rectangle 27"/>
          <p:cNvSpPr/>
          <p:nvPr/>
        </p:nvSpPr>
        <p:spPr>
          <a:xfrm>
            <a:off x="7726984" y="4754880"/>
            <a:ext cx="1859280" cy="12801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4144" y="4828032"/>
            <a:ext cx="1584960" cy="704088"/>
          </a:xfrm>
          <a:prstGeom prst="rect">
            <a:avLst/>
          </a:prstGeom>
          <a:noFill/>
        </p:spPr>
        <p:txBody>
          <a:bodyPr wrap="square" lIns="27432" rIns="27432" tIns="27432" bIns="27432" anchor="b"/>
          <a:lstStyle/>
          <a:p>
            <a:pPr algn="l">
              <a:spcAft>
                <a:spcPts val="400"/>
              </a:spcAft>
            </a:pPr>
            <a:r>
              <a:rPr sz="2200" b="1" i="0">
                <a:solidFill>
                  <a:srgbClr val="1F7A72"/>
                </a:solidFill>
              </a:rPr>
              <a:t>5 / 5</a:t>
            </a:r>
          </a:p>
        </p:txBody>
      </p:sp>
      <p:sp>
        <p:nvSpPr>
          <p:cNvPr id="30" name="TextBox 29"/>
          <p:cNvSpPr txBox="1"/>
          <p:nvPr/>
        </p:nvSpPr>
        <p:spPr>
          <a:xfrm>
            <a:off x="7864144" y="5497372"/>
            <a:ext cx="1584960" cy="512063"/>
          </a:xfrm>
          <a:prstGeom prst="rect">
            <a:avLst/>
          </a:prstGeom>
          <a:noFill/>
        </p:spPr>
        <p:txBody>
          <a:bodyPr wrap="square" lIns="27432" rIns="27432" tIns="27432" bIns="27432" anchor="t"/>
          <a:lstStyle/>
          <a:p>
            <a:pPr algn="l">
              <a:spcAft>
                <a:spcPts val="400"/>
              </a:spcAft>
            </a:pPr>
            <a:r>
              <a:rPr sz="1200" b="0" i="0">
                <a:solidFill>
                  <a:srgbClr val="4A5568"/>
                </a:solidFill>
              </a:rPr>
              <a:t>PSO seeds within 0.41 %</a:t>
            </a:r>
          </a:p>
        </p:txBody>
      </p:sp>
      <p:sp>
        <p:nvSpPr>
          <p:cNvPr id="31" name="Rounded Rectangle 30"/>
          <p:cNvSpPr/>
          <p:nvPr/>
        </p:nvSpPr>
        <p:spPr>
          <a:xfrm>
            <a:off x="9723424" y="4754880"/>
            <a:ext cx="1859280" cy="12801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60584" y="4828032"/>
            <a:ext cx="1584960" cy="704088"/>
          </a:xfrm>
          <a:prstGeom prst="rect">
            <a:avLst/>
          </a:prstGeom>
          <a:noFill/>
        </p:spPr>
        <p:txBody>
          <a:bodyPr wrap="square" lIns="27432" rIns="27432" tIns="27432" bIns="27432" anchor="b"/>
          <a:lstStyle/>
          <a:p>
            <a:pPr algn="l">
              <a:spcAft>
                <a:spcPts val="400"/>
              </a:spcAft>
            </a:pPr>
            <a:r>
              <a:rPr sz="2200" b="1" i="0">
                <a:solidFill>
                  <a:srgbClr val="2E6F95"/>
                </a:solidFill>
              </a:rPr>
              <a:t>≈820</a:t>
            </a:r>
          </a:p>
        </p:txBody>
      </p:sp>
      <p:sp>
        <p:nvSpPr>
          <p:cNvPr id="33" name="TextBox 32"/>
          <p:cNvSpPr txBox="1"/>
          <p:nvPr/>
        </p:nvSpPr>
        <p:spPr>
          <a:xfrm>
            <a:off x="9860584" y="5497372"/>
            <a:ext cx="1584960" cy="512063"/>
          </a:xfrm>
          <a:prstGeom prst="rect">
            <a:avLst/>
          </a:prstGeom>
          <a:noFill/>
        </p:spPr>
        <p:txBody>
          <a:bodyPr wrap="square" lIns="27432" rIns="27432" tIns="27432" bIns="27432" anchor="t"/>
          <a:lstStyle/>
          <a:p>
            <a:pPr algn="l">
              <a:spcAft>
                <a:spcPts val="400"/>
              </a:spcAft>
            </a:pPr>
            <a:r>
              <a:rPr sz="1200" b="0" i="0">
                <a:solidFill>
                  <a:srgbClr val="4A5568"/>
                </a:solidFill>
              </a:rPr>
              <a:t>simulations per PSO run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RESULTS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Optimal off-grid sizing</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19 / 34</a:t>
            </a:r>
          </a:p>
        </p:txBody>
      </p:sp>
      <p:sp>
        <p:nvSpPr>
          <p:cNvPr id="9" name="Rounded Rectangle 8"/>
          <p:cNvSpPr/>
          <p:nvPr/>
        </p:nvSpPr>
        <p:spPr>
          <a:xfrm>
            <a:off x="609904" y="126187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7064" y="1335024"/>
            <a:ext cx="2240280" cy="543153"/>
          </a:xfrm>
          <a:prstGeom prst="rect">
            <a:avLst/>
          </a:prstGeom>
          <a:noFill/>
        </p:spPr>
        <p:txBody>
          <a:bodyPr wrap="square" lIns="27432" rIns="27432" tIns="27432" bIns="27432" anchor="b"/>
          <a:lstStyle/>
          <a:p>
            <a:pPr algn="l">
              <a:spcAft>
                <a:spcPts val="400"/>
              </a:spcAft>
            </a:pPr>
            <a:r>
              <a:rPr sz="2100" b="1" i="0">
                <a:solidFill>
                  <a:srgbClr val="1F7A72"/>
                </a:solidFill>
              </a:rPr>
              <a:t>4,368 kW</a:t>
            </a:r>
          </a:p>
        </p:txBody>
      </p:sp>
      <p:sp>
        <p:nvSpPr>
          <p:cNvPr id="11" name="TextBox 10"/>
          <p:cNvSpPr txBox="1"/>
          <p:nvPr/>
        </p:nvSpPr>
        <p:spPr>
          <a:xfrm>
            <a:off x="747064" y="183465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PV array</a:t>
            </a:r>
          </a:p>
        </p:txBody>
      </p:sp>
      <p:sp>
        <p:nvSpPr>
          <p:cNvPr id="12" name="Rounded Rectangle 11"/>
          <p:cNvSpPr/>
          <p:nvPr/>
        </p:nvSpPr>
        <p:spPr>
          <a:xfrm>
            <a:off x="3261664" y="126187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8824" y="1335024"/>
            <a:ext cx="2240280" cy="543153"/>
          </a:xfrm>
          <a:prstGeom prst="rect">
            <a:avLst/>
          </a:prstGeom>
          <a:noFill/>
        </p:spPr>
        <p:txBody>
          <a:bodyPr wrap="square" lIns="27432" rIns="27432" tIns="27432" bIns="27432" anchor="b"/>
          <a:lstStyle/>
          <a:p>
            <a:pPr algn="l">
              <a:spcAft>
                <a:spcPts val="400"/>
              </a:spcAft>
            </a:pPr>
            <a:r>
              <a:rPr sz="2100" b="1" i="0">
                <a:solidFill>
                  <a:srgbClr val="2A78D6"/>
                </a:solidFill>
              </a:rPr>
              <a:t>10.6 MWh</a:t>
            </a:r>
          </a:p>
        </p:txBody>
      </p:sp>
      <p:sp>
        <p:nvSpPr>
          <p:cNvPr id="14" name="TextBox 13"/>
          <p:cNvSpPr txBox="1"/>
          <p:nvPr/>
        </p:nvSpPr>
        <p:spPr>
          <a:xfrm>
            <a:off x="3398824" y="183465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battery (177 strings)</a:t>
            </a:r>
          </a:p>
        </p:txBody>
      </p:sp>
      <p:sp>
        <p:nvSpPr>
          <p:cNvPr id="15" name="Rounded Rectangle 14"/>
          <p:cNvSpPr/>
          <p:nvPr/>
        </p:nvSpPr>
        <p:spPr>
          <a:xfrm>
            <a:off x="609904" y="235915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064" y="2432304"/>
            <a:ext cx="2240280" cy="543153"/>
          </a:xfrm>
          <a:prstGeom prst="rect">
            <a:avLst/>
          </a:prstGeom>
          <a:noFill/>
        </p:spPr>
        <p:txBody>
          <a:bodyPr wrap="square" lIns="27432" rIns="27432" tIns="27432" bIns="27432" anchor="b"/>
          <a:lstStyle/>
          <a:p>
            <a:pPr algn="l">
              <a:spcAft>
                <a:spcPts val="400"/>
              </a:spcAft>
            </a:pPr>
            <a:r>
              <a:rPr sz="2100" b="1" i="0">
                <a:solidFill>
                  <a:srgbClr val="2E6F95"/>
                </a:solidFill>
              </a:rPr>
              <a:t>998 kW</a:t>
            </a:r>
          </a:p>
        </p:txBody>
      </p:sp>
      <p:sp>
        <p:nvSpPr>
          <p:cNvPr id="17" name="TextBox 16"/>
          <p:cNvSpPr txBox="1"/>
          <p:nvPr/>
        </p:nvSpPr>
        <p:spPr>
          <a:xfrm>
            <a:off x="747064" y="293193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converter</a:t>
            </a:r>
          </a:p>
        </p:txBody>
      </p:sp>
      <p:sp>
        <p:nvSpPr>
          <p:cNvPr id="18" name="Rounded Rectangle 17"/>
          <p:cNvSpPr/>
          <p:nvPr/>
        </p:nvSpPr>
        <p:spPr>
          <a:xfrm>
            <a:off x="3261664" y="235915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98824" y="2432304"/>
            <a:ext cx="2240280" cy="543153"/>
          </a:xfrm>
          <a:prstGeom prst="rect">
            <a:avLst/>
          </a:prstGeom>
          <a:noFill/>
        </p:spPr>
        <p:txBody>
          <a:bodyPr wrap="square" lIns="27432" rIns="27432" tIns="27432" bIns="27432" anchor="b"/>
          <a:lstStyle/>
          <a:p>
            <a:pPr algn="l">
              <a:spcAft>
                <a:spcPts val="400"/>
              </a:spcAft>
            </a:pPr>
            <a:r>
              <a:rPr sz="2100" b="1" i="0">
                <a:solidFill>
                  <a:srgbClr val="6250D6"/>
                </a:solidFill>
              </a:rPr>
              <a:t>4 strings</a:t>
            </a:r>
          </a:p>
        </p:txBody>
      </p:sp>
      <p:sp>
        <p:nvSpPr>
          <p:cNvPr id="20" name="TextBox 19"/>
          <p:cNvSpPr txBox="1"/>
          <p:nvPr/>
        </p:nvSpPr>
        <p:spPr>
          <a:xfrm>
            <a:off x="3398824" y="293193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supercapacitor (required)</a:t>
            </a:r>
          </a:p>
        </p:txBody>
      </p:sp>
      <p:sp>
        <p:nvSpPr>
          <p:cNvPr id="21" name="Rounded Rectangle 20"/>
          <p:cNvSpPr/>
          <p:nvPr/>
        </p:nvSpPr>
        <p:spPr>
          <a:xfrm>
            <a:off x="609904" y="345643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064" y="3529584"/>
            <a:ext cx="2240280" cy="543153"/>
          </a:xfrm>
          <a:prstGeom prst="rect">
            <a:avLst/>
          </a:prstGeom>
          <a:noFill/>
        </p:spPr>
        <p:txBody>
          <a:bodyPr wrap="square" lIns="27432" rIns="27432" tIns="27432" bIns="27432" anchor="b"/>
          <a:lstStyle/>
          <a:p>
            <a:pPr algn="l">
              <a:spcAft>
                <a:spcPts val="400"/>
              </a:spcAft>
            </a:pPr>
            <a:r>
              <a:rPr sz="2100" b="1" i="0">
                <a:solidFill>
                  <a:srgbClr val="13233A"/>
                </a:solidFill>
              </a:rPr>
              <a:t>₹385.1 M</a:t>
            </a:r>
          </a:p>
        </p:txBody>
      </p:sp>
      <p:sp>
        <p:nvSpPr>
          <p:cNvPr id="23" name="TextBox 22"/>
          <p:cNvSpPr txBox="1"/>
          <p:nvPr/>
        </p:nvSpPr>
        <p:spPr>
          <a:xfrm>
            <a:off x="747064" y="402921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15-year NPC</a:t>
            </a:r>
          </a:p>
        </p:txBody>
      </p:sp>
      <p:sp>
        <p:nvSpPr>
          <p:cNvPr id="24" name="Rounded Rectangle 23"/>
          <p:cNvSpPr/>
          <p:nvPr/>
        </p:nvSpPr>
        <p:spPr>
          <a:xfrm>
            <a:off x="3261664" y="345643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98824" y="3529584"/>
            <a:ext cx="2240280" cy="543153"/>
          </a:xfrm>
          <a:prstGeom prst="rect">
            <a:avLst/>
          </a:prstGeom>
          <a:noFill/>
        </p:spPr>
        <p:txBody>
          <a:bodyPr wrap="square" lIns="27432" rIns="27432" tIns="27432" bIns="27432" anchor="b"/>
          <a:lstStyle/>
          <a:p>
            <a:pPr algn="l">
              <a:spcAft>
                <a:spcPts val="400"/>
              </a:spcAft>
            </a:pPr>
            <a:r>
              <a:rPr sz="2100" b="1" i="0">
                <a:solidFill>
                  <a:srgbClr val="13233A"/>
                </a:solidFill>
              </a:rPr>
              <a:t>₹11.25/kWh</a:t>
            </a:r>
          </a:p>
        </p:txBody>
      </p:sp>
      <p:sp>
        <p:nvSpPr>
          <p:cNvPr id="26" name="TextBox 25"/>
          <p:cNvSpPr txBox="1"/>
          <p:nvPr/>
        </p:nvSpPr>
        <p:spPr>
          <a:xfrm>
            <a:off x="3398824" y="402921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LCOE</a:t>
            </a:r>
          </a:p>
        </p:txBody>
      </p:sp>
      <p:sp>
        <p:nvSpPr>
          <p:cNvPr id="27" name="Rounded Rectangle 26"/>
          <p:cNvSpPr/>
          <p:nvPr/>
        </p:nvSpPr>
        <p:spPr>
          <a:xfrm>
            <a:off x="609904" y="455371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064" y="4626864"/>
            <a:ext cx="2240280" cy="543153"/>
          </a:xfrm>
          <a:prstGeom prst="rect">
            <a:avLst/>
          </a:prstGeom>
          <a:noFill/>
        </p:spPr>
        <p:txBody>
          <a:bodyPr wrap="square" lIns="27432" rIns="27432" tIns="27432" bIns="27432" anchor="b"/>
          <a:lstStyle/>
          <a:p>
            <a:pPr algn="l">
              <a:spcAft>
                <a:spcPts val="400"/>
              </a:spcAft>
            </a:pPr>
            <a:r>
              <a:rPr sz="2100" b="1" i="0">
                <a:solidFill>
                  <a:srgbClr val="E34948"/>
                </a:solidFill>
              </a:rPr>
              <a:t>1.00 %</a:t>
            </a:r>
          </a:p>
        </p:txBody>
      </p:sp>
      <p:sp>
        <p:nvSpPr>
          <p:cNvPr id="29" name="TextBox 28"/>
          <p:cNvSpPr txBox="1"/>
          <p:nvPr/>
        </p:nvSpPr>
        <p:spPr>
          <a:xfrm>
            <a:off x="747064" y="512649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LPSP (limit 1 %)</a:t>
            </a:r>
          </a:p>
        </p:txBody>
      </p:sp>
      <p:sp>
        <p:nvSpPr>
          <p:cNvPr id="30" name="Rounded Rectangle 29"/>
          <p:cNvSpPr/>
          <p:nvPr/>
        </p:nvSpPr>
        <p:spPr>
          <a:xfrm>
            <a:off x="3261664" y="4553712"/>
            <a:ext cx="2514600" cy="98755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98824" y="4626864"/>
            <a:ext cx="2240280" cy="543153"/>
          </a:xfrm>
          <a:prstGeom prst="rect">
            <a:avLst/>
          </a:prstGeom>
          <a:noFill/>
        </p:spPr>
        <p:txBody>
          <a:bodyPr wrap="square" lIns="27432" rIns="27432" tIns="27432" bIns="27432" anchor="b"/>
          <a:lstStyle/>
          <a:p>
            <a:pPr algn="l">
              <a:spcAft>
                <a:spcPts val="400"/>
              </a:spcAft>
            </a:pPr>
            <a:r>
              <a:rPr sz="2100" b="1" i="0">
                <a:solidFill>
                  <a:srgbClr val="2A78D6"/>
                </a:solidFill>
              </a:rPr>
              <a:t>7.7 years</a:t>
            </a:r>
          </a:p>
        </p:txBody>
      </p:sp>
      <p:sp>
        <p:nvSpPr>
          <p:cNvPr id="32" name="TextBox 31"/>
          <p:cNvSpPr txBox="1"/>
          <p:nvPr/>
        </p:nvSpPr>
        <p:spPr>
          <a:xfrm>
            <a:off x="3398824" y="5126492"/>
            <a:ext cx="2240280" cy="395020"/>
          </a:xfrm>
          <a:prstGeom prst="rect">
            <a:avLst/>
          </a:prstGeom>
          <a:noFill/>
        </p:spPr>
        <p:txBody>
          <a:bodyPr wrap="square" lIns="27432" rIns="27432" tIns="27432" bIns="27432" anchor="t"/>
          <a:lstStyle/>
          <a:p>
            <a:pPr algn="l">
              <a:spcAft>
                <a:spcPts val="400"/>
              </a:spcAft>
            </a:pPr>
            <a:r>
              <a:rPr sz="1200" b="0" i="0">
                <a:solidFill>
                  <a:srgbClr val="4A5568"/>
                </a:solidFill>
              </a:rPr>
              <a:t>battery life</a:t>
            </a:r>
          </a:p>
        </p:txBody>
      </p:sp>
      <p:pic>
        <p:nvPicPr>
          <p:cNvPr id="33" name="cost_breakdown" descr="Project figure cost_breakdown.png: cost breakdown"/>
          <p:cNvPicPr>
            <a:picLocks noChangeAspect="1"/>
          </p:cNvPicPr>
          <p:nvPr/>
        </p:nvPicPr>
        <p:blipFill>
          <a:blip r:embed="rId2"/>
          <a:stretch>
            <a:fillRect/>
          </a:stretch>
        </p:blipFill>
        <p:spPr>
          <a:xfrm>
            <a:off x="6050584" y="1261872"/>
            <a:ext cx="5532120" cy="2993853"/>
          </a:xfrm>
          <a:prstGeom prst="rect">
            <a:avLst/>
          </a:prstGeom>
          <a:ln w="9525">
            <a:solidFill>
              <a:srgbClr val="D5DBE1"/>
            </a:solidFill>
          </a:ln>
        </p:spPr>
      </p:pic>
      <p:sp>
        <p:nvSpPr>
          <p:cNvPr id="34" name="TextBox 33"/>
          <p:cNvSpPr txBox="1"/>
          <p:nvPr/>
        </p:nvSpPr>
        <p:spPr>
          <a:xfrm>
            <a:off x="6050584" y="4283157"/>
            <a:ext cx="5532120" cy="274320"/>
          </a:xfrm>
          <a:prstGeom prst="rect">
            <a:avLst/>
          </a:prstGeom>
          <a:noFill/>
        </p:spPr>
        <p:txBody>
          <a:bodyPr wrap="square" lIns="27432" rIns="27432" tIns="27432" bIns="27432" anchor="t"/>
          <a:lstStyle/>
          <a:p>
            <a:pPr algn="l">
              <a:spcAft>
                <a:spcPts val="400"/>
              </a:spcAft>
            </a:pPr>
            <a:r>
              <a:rPr sz="1100" b="0" i="1">
                <a:solidFill>
                  <a:srgbClr val="5F6B78"/>
                </a:solidFill>
              </a:rPr>
              <a:t>Where the NPC goes: capital (blue), 15-year costs (orange), salvage credit (green).</a:t>
            </a:r>
          </a:p>
        </p:txBody>
      </p:sp>
      <p:sp>
        <p:nvSpPr>
          <p:cNvPr id="35" name="Rounded Rectangle 34"/>
          <p:cNvSpPr/>
          <p:nvPr/>
        </p:nvSpPr>
        <p:spPr>
          <a:xfrm>
            <a:off x="609904" y="5577840"/>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2784" y="5577840"/>
            <a:ext cx="10607040" cy="566928"/>
          </a:xfrm>
          <a:prstGeom prst="rect">
            <a:avLst/>
          </a:prstGeom>
          <a:noFill/>
        </p:spPr>
        <p:txBody>
          <a:bodyPr wrap="square" lIns="27432" rIns="27432" tIns="27432" bIns="27432" anchor="ctr"/>
          <a:lstStyle/>
          <a:p>
            <a:pPr algn="l">
              <a:spcAft>
                <a:spcPts val="400"/>
              </a:spcAft>
            </a:pPr>
            <a:r>
              <a:rPr sz="1300" b="1" i="0">
                <a:solidFill>
                  <a:srgbClr val="E8A33D"/>
                </a:solidFill>
              </a:rPr>
              <a:t>Takeaway  </a:t>
            </a:r>
            <a:r>
              <a:rPr sz="1300" b="1" i="0">
                <a:solidFill>
                  <a:srgbClr val="FFFFFF"/>
                </a:solidFill>
              </a:rPr>
              <a:t>PSO ₹385.1 M vs grid sweep ₹387.7 M: </a:t>
            </a:r>
            <a:r>
              <a:rPr sz="1300" b="0" i="0">
                <a:solidFill>
                  <a:srgbClr val="FFFFFF"/>
                </a:solidFill>
              </a:rPr>
              <a:t>the same valley found two independent ways — strong evidence, not a proof of global optimality.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RESULTS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Design space: a flat valley along the reliability boundary</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20 / 34</a:t>
            </a:r>
          </a:p>
        </p:txBody>
      </p:sp>
      <p:pic>
        <p:nvPicPr>
          <p:cNvPr id="9" name="npc_landscape" descr="Project figure npc_landscape.png: npc landscape"/>
          <p:cNvPicPr>
            <a:picLocks noChangeAspect="1"/>
          </p:cNvPicPr>
          <p:nvPr/>
        </p:nvPicPr>
        <p:blipFill>
          <a:blip r:embed="rId2"/>
          <a:stretch>
            <a:fillRect/>
          </a:stretch>
        </p:blipFill>
        <p:spPr>
          <a:xfrm>
            <a:off x="609904" y="1261872"/>
            <a:ext cx="4937760" cy="3086100"/>
          </a:xfrm>
          <a:prstGeom prst="rect">
            <a:avLst/>
          </a:prstGeom>
          <a:ln w="9525">
            <a:solidFill>
              <a:srgbClr val="D5DBE1"/>
            </a:solidFill>
          </a:ln>
        </p:spPr>
      </p:pic>
      <p:pic>
        <p:nvPicPr>
          <p:cNvPr id="10" name="tradeoff" descr="Project figure tradeoff.png: tradeoff"/>
          <p:cNvPicPr>
            <a:picLocks noChangeAspect="1"/>
          </p:cNvPicPr>
          <p:nvPr/>
        </p:nvPicPr>
        <p:blipFill>
          <a:blip r:embed="rId3"/>
          <a:stretch>
            <a:fillRect/>
          </a:stretch>
        </p:blipFill>
        <p:spPr>
          <a:xfrm>
            <a:off x="5730544" y="1859141"/>
            <a:ext cx="5852160" cy="2234461"/>
          </a:xfrm>
          <a:prstGeom prst="rect">
            <a:avLst/>
          </a:prstGeom>
          <a:ln w="9525">
            <a:solidFill>
              <a:srgbClr val="D5DBE1"/>
            </a:solidFill>
          </a:ln>
        </p:spPr>
      </p:pic>
      <p:sp>
        <p:nvSpPr>
          <p:cNvPr id="11" name="TextBox 10"/>
          <p:cNvSpPr txBox="1"/>
          <p:nvPr/>
        </p:nvSpPr>
        <p:spPr>
          <a:xfrm>
            <a:off x="609904" y="4375404"/>
            <a:ext cx="4937760" cy="274320"/>
          </a:xfrm>
          <a:prstGeom prst="rect">
            <a:avLst/>
          </a:prstGeom>
          <a:noFill/>
        </p:spPr>
        <p:txBody>
          <a:bodyPr wrap="square" lIns="27432" rIns="27432" tIns="27432" bIns="27432" anchor="t"/>
          <a:lstStyle/>
          <a:p>
            <a:pPr algn="l">
              <a:spcAft>
                <a:spcPts val="400"/>
              </a:spcAft>
            </a:pPr>
            <a:r>
              <a:rPr sz="1100" b="0" i="1">
                <a:solidFill>
                  <a:srgbClr val="5F6B78"/>
                </a:solidFill>
              </a:rPr>
              <a:t>NPC landscape at 1,000 kW converter; line = 1 % LPSP.</a:t>
            </a:r>
          </a:p>
        </p:txBody>
      </p:sp>
      <p:sp>
        <p:nvSpPr>
          <p:cNvPr id="12" name="TextBox 11"/>
          <p:cNvSpPr txBox="1"/>
          <p:nvPr/>
        </p:nvSpPr>
        <p:spPr>
          <a:xfrm>
            <a:off x="5730544" y="4121034"/>
            <a:ext cx="5852160" cy="274320"/>
          </a:xfrm>
          <a:prstGeom prst="rect">
            <a:avLst/>
          </a:prstGeom>
          <a:noFill/>
        </p:spPr>
        <p:txBody>
          <a:bodyPr wrap="square" lIns="27432" rIns="27432" tIns="27432" bIns="27432" anchor="t"/>
          <a:lstStyle/>
          <a:p>
            <a:pPr algn="l">
              <a:spcAft>
                <a:spcPts val="400"/>
              </a:spcAft>
            </a:pPr>
            <a:r>
              <a:rPr sz="1100" b="0" i="1">
                <a:solidFill>
                  <a:srgbClr val="5F6B78"/>
                </a:solidFill>
              </a:rPr>
              <a:t>Battery needed and NPC along the 1 % boundary.</a:t>
            </a:r>
          </a:p>
        </p:txBody>
      </p:sp>
      <p:sp>
        <p:nvSpPr>
          <p:cNvPr id="13" name="Rounded Rectangle 12"/>
          <p:cNvSpPr/>
          <p:nvPr/>
        </p:nvSpPr>
        <p:spPr>
          <a:xfrm>
            <a:off x="609904" y="5138928"/>
            <a:ext cx="3511296"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064" y="5212080"/>
            <a:ext cx="3236976" cy="528066"/>
          </a:xfrm>
          <a:prstGeom prst="rect">
            <a:avLst/>
          </a:prstGeom>
          <a:noFill/>
        </p:spPr>
        <p:txBody>
          <a:bodyPr wrap="square" lIns="27432" rIns="27432" tIns="27432" bIns="27432" anchor="b"/>
          <a:lstStyle/>
          <a:p>
            <a:pPr algn="l">
              <a:spcAft>
                <a:spcPts val="400"/>
              </a:spcAft>
            </a:pPr>
            <a:r>
              <a:rPr sz="2200" b="1" i="0">
                <a:solidFill>
                  <a:srgbClr val="2E6F95"/>
                </a:solidFill>
              </a:rPr>
              <a:t>6</a:t>
            </a:r>
          </a:p>
        </p:txBody>
      </p:sp>
      <p:sp>
        <p:nvSpPr>
          <p:cNvPr id="15" name="TextBox 14"/>
          <p:cNvSpPr txBox="1"/>
          <p:nvPr/>
        </p:nvSpPr>
        <p:spPr>
          <a:xfrm>
            <a:off x="747064" y="5695797"/>
            <a:ext cx="3236976" cy="384048"/>
          </a:xfrm>
          <a:prstGeom prst="rect">
            <a:avLst/>
          </a:prstGeom>
          <a:noFill/>
        </p:spPr>
        <p:txBody>
          <a:bodyPr wrap="square" lIns="27432" rIns="27432" tIns="27432" bIns="27432" anchor="t"/>
          <a:lstStyle/>
          <a:p>
            <a:pPr algn="l">
              <a:spcAft>
                <a:spcPts val="400"/>
              </a:spcAft>
            </a:pPr>
            <a:r>
              <a:rPr sz="1200" b="0" i="0">
                <a:solidFill>
                  <a:srgbClr val="4A5568"/>
                </a:solidFill>
              </a:rPr>
              <a:t>feasible grid designs within 2 % of the cheapest</a:t>
            </a:r>
          </a:p>
        </p:txBody>
      </p:sp>
      <p:sp>
        <p:nvSpPr>
          <p:cNvPr id="16" name="Rounded Rectangle 15"/>
          <p:cNvSpPr/>
          <p:nvPr/>
        </p:nvSpPr>
        <p:spPr>
          <a:xfrm>
            <a:off x="4340656" y="5138928"/>
            <a:ext cx="3511296"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7816" y="5212080"/>
            <a:ext cx="3236976" cy="528066"/>
          </a:xfrm>
          <a:prstGeom prst="rect">
            <a:avLst/>
          </a:prstGeom>
          <a:noFill/>
        </p:spPr>
        <p:txBody>
          <a:bodyPr wrap="square" lIns="27432" rIns="27432" tIns="27432" bIns="27432" anchor="b"/>
          <a:lstStyle/>
          <a:p>
            <a:pPr algn="l">
              <a:spcAft>
                <a:spcPts val="400"/>
              </a:spcAft>
            </a:pPr>
            <a:r>
              <a:rPr sz="2200" b="1" i="0">
                <a:solidFill>
                  <a:srgbClr val="2E6F95"/>
                </a:solidFill>
              </a:rPr>
              <a:t>1.6 %</a:t>
            </a:r>
          </a:p>
        </p:txBody>
      </p:sp>
      <p:sp>
        <p:nvSpPr>
          <p:cNvPr id="18" name="TextBox 17"/>
          <p:cNvSpPr txBox="1"/>
          <p:nvPr/>
        </p:nvSpPr>
        <p:spPr>
          <a:xfrm>
            <a:off x="4477816" y="5695797"/>
            <a:ext cx="3236976" cy="384048"/>
          </a:xfrm>
          <a:prstGeom prst="rect">
            <a:avLst/>
          </a:prstGeom>
          <a:noFill/>
        </p:spPr>
        <p:txBody>
          <a:bodyPr wrap="square" lIns="27432" rIns="27432" tIns="27432" bIns="27432" anchor="t"/>
          <a:lstStyle/>
          <a:p>
            <a:pPr algn="l">
              <a:spcAft>
                <a:spcPts val="400"/>
              </a:spcAft>
            </a:pPr>
            <a:r>
              <a:rPr sz="1200" b="0" i="0">
                <a:solidFill>
                  <a:srgbClr val="4A5568"/>
                </a:solidFill>
              </a:rPr>
              <a:t>cost spread of the five cheapest</a:t>
            </a:r>
          </a:p>
        </p:txBody>
      </p:sp>
      <p:sp>
        <p:nvSpPr>
          <p:cNvPr id="19" name="Rounded Rectangle 18"/>
          <p:cNvSpPr/>
          <p:nvPr/>
        </p:nvSpPr>
        <p:spPr>
          <a:xfrm>
            <a:off x="8071408" y="5138928"/>
            <a:ext cx="3511296"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8568" y="5212080"/>
            <a:ext cx="3236976" cy="528066"/>
          </a:xfrm>
          <a:prstGeom prst="rect">
            <a:avLst/>
          </a:prstGeom>
          <a:noFill/>
        </p:spPr>
        <p:txBody>
          <a:bodyPr wrap="square" lIns="27432" rIns="27432" tIns="27432" bIns="27432" anchor="b"/>
          <a:lstStyle/>
          <a:p>
            <a:pPr algn="l">
              <a:spcAft>
                <a:spcPts val="400"/>
              </a:spcAft>
            </a:pPr>
            <a:r>
              <a:rPr sz="2000" b="1" i="0">
                <a:solidFill>
                  <a:srgbClr val="E34948"/>
                </a:solidFill>
              </a:rPr>
              <a:t>On the boundary</a:t>
            </a:r>
          </a:p>
        </p:txBody>
      </p:sp>
      <p:sp>
        <p:nvSpPr>
          <p:cNvPr id="21" name="TextBox 20"/>
          <p:cNvSpPr txBox="1"/>
          <p:nvPr/>
        </p:nvSpPr>
        <p:spPr>
          <a:xfrm>
            <a:off x="8208568" y="5695797"/>
            <a:ext cx="3236976" cy="384048"/>
          </a:xfrm>
          <a:prstGeom prst="rect">
            <a:avLst/>
          </a:prstGeom>
          <a:noFill/>
        </p:spPr>
        <p:txBody>
          <a:bodyPr wrap="square" lIns="27432" rIns="27432" tIns="27432" bIns="27432" anchor="t"/>
          <a:lstStyle/>
          <a:p>
            <a:pPr algn="l">
              <a:spcAft>
                <a:spcPts val="400"/>
              </a:spcAft>
            </a:pPr>
            <a:r>
              <a:rPr sz="1200" b="0" i="0">
                <a:solidFill>
                  <a:srgbClr val="4A5568"/>
                </a:solidFill>
              </a:rPr>
              <a:t>every optimum sits exactly at LPSP = 1 %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RESULTS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Energy flows and hourly dispatch</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21 / 34</a:t>
            </a:r>
          </a:p>
        </p:txBody>
      </p:sp>
      <p:pic>
        <p:nvPicPr>
          <p:cNvPr id="9" name="energy_flows" descr="Project figure energy_flows.png: energy flows"/>
          <p:cNvPicPr>
            <a:picLocks noChangeAspect="1"/>
          </p:cNvPicPr>
          <p:nvPr/>
        </p:nvPicPr>
        <p:blipFill>
          <a:blip r:embed="rId2"/>
          <a:stretch>
            <a:fillRect/>
          </a:stretch>
        </p:blipFill>
        <p:spPr>
          <a:xfrm>
            <a:off x="609904" y="1261872"/>
            <a:ext cx="5394960" cy="2277872"/>
          </a:xfrm>
          <a:prstGeom prst="rect">
            <a:avLst/>
          </a:prstGeom>
          <a:ln w="9525">
            <a:solidFill>
              <a:srgbClr val="D5DBE1"/>
            </a:solidFill>
          </a:ln>
        </p:spPr>
      </p:pic>
      <p:pic>
        <p:nvPicPr>
          <p:cNvPr id="10" name="dispatch_days" descr="Project figure dispatch_days.png: dispatch days"/>
          <p:cNvPicPr>
            <a:picLocks noChangeAspect="1"/>
          </p:cNvPicPr>
          <p:nvPr/>
        </p:nvPicPr>
        <p:blipFill>
          <a:blip r:embed="rId3"/>
          <a:stretch>
            <a:fillRect/>
          </a:stretch>
        </p:blipFill>
        <p:spPr>
          <a:xfrm>
            <a:off x="6187744" y="1261872"/>
            <a:ext cx="5394960" cy="2059893"/>
          </a:xfrm>
          <a:prstGeom prst="rect">
            <a:avLst/>
          </a:prstGeom>
          <a:ln w="9525">
            <a:solidFill>
              <a:srgbClr val="D5DBE1"/>
            </a:solidFill>
          </a:ln>
        </p:spPr>
      </p:pic>
      <p:sp>
        <p:nvSpPr>
          <p:cNvPr id="11" name="TextBox 10"/>
          <p:cNvSpPr txBox="1"/>
          <p:nvPr/>
        </p:nvSpPr>
        <p:spPr>
          <a:xfrm>
            <a:off x="609904" y="3567176"/>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Annual energy flows at the optimum (MWh).</a:t>
            </a:r>
          </a:p>
        </p:txBody>
      </p:sp>
      <p:sp>
        <p:nvSpPr>
          <p:cNvPr id="12" name="TextBox 11"/>
          <p:cNvSpPr txBox="1"/>
          <p:nvPr/>
        </p:nvSpPr>
        <p:spPr>
          <a:xfrm>
            <a:off x="6187744" y="3349197"/>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Hourly dispatch: sunniest day and worst day.</a:t>
            </a:r>
          </a:p>
        </p:txBody>
      </p:sp>
      <p:sp>
        <p:nvSpPr>
          <p:cNvPr id="13" name="Rounded Rectangle 12"/>
          <p:cNvSpPr/>
          <p:nvPr/>
        </p:nvSpPr>
        <p:spPr>
          <a:xfrm>
            <a:off x="609904" y="416052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064" y="4233672"/>
            <a:ext cx="2331720" cy="578358"/>
          </a:xfrm>
          <a:prstGeom prst="rect">
            <a:avLst/>
          </a:prstGeom>
          <a:noFill/>
        </p:spPr>
        <p:txBody>
          <a:bodyPr wrap="square" lIns="27432" rIns="27432" tIns="27432" bIns="27432" anchor="b"/>
          <a:lstStyle/>
          <a:p>
            <a:pPr algn="l">
              <a:spcAft>
                <a:spcPts val="400"/>
              </a:spcAft>
            </a:pPr>
            <a:r>
              <a:rPr sz="2200" b="1" i="0">
                <a:solidFill>
                  <a:srgbClr val="1F7A72"/>
                </a:solidFill>
              </a:rPr>
              <a:t>5,593 MWh</a:t>
            </a:r>
          </a:p>
        </p:txBody>
      </p:sp>
      <p:sp>
        <p:nvSpPr>
          <p:cNvPr id="15" name="TextBox 14"/>
          <p:cNvSpPr txBox="1"/>
          <p:nvPr/>
        </p:nvSpPr>
        <p:spPr>
          <a:xfrm>
            <a:off x="747064" y="477042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PV generated per year</a:t>
            </a:r>
          </a:p>
        </p:txBody>
      </p:sp>
      <p:sp>
        <p:nvSpPr>
          <p:cNvPr id="16" name="Rounded Rectangle 15"/>
          <p:cNvSpPr/>
          <p:nvPr/>
        </p:nvSpPr>
        <p:spPr>
          <a:xfrm>
            <a:off x="3398824" y="416052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5984" y="4233672"/>
            <a:ext cx="2331720" cy="578358"/>
          </a:xfrm>
          <a:prstGeom prst="rect">
            <a:avLst/>
          </a:prstGeom>
          <a:noFill/>
        </p:spPr>
        <p:txBody>
          <a:bodyPr wrap="square" lIns="27432" rIns="27432" tIns="27432" bIns="27432" anchor="b"/>
          <a:lstStyle/>
          <a:p>
            <a:pPr algn="l">
              <a:spcAft>
                <a:spcPts val="400"/>
              </a:spcAft>
            </a:pPr>
            <a:r>
              <a:rPr sz="2200" b="1" i="0">
                <a:solidFill>
                  <a:srgbClr val="8A9AAB"/>
                </a:solidFill>
              </a:rPr>
              <a:t>34 %</a:t>
            </a:r>
          </a:p>
        </p:txBody>
      </p:sp>
      <p:sp>
        <p:nvSpPr>
          <p:cNvPr id="18" name="TextBox 17"/>
          <p:cNvSpPr txBox="1"/>
          <p:nvPr/>
        </p:nvSpPr>
        <p:spPr>
          <a:xfrm>
            <a:off x="3535984" y="477042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of PV curtailed (battery full)</a:t>
            </a:r>
          </a:p>
        </p:txBody>
      </p:sp>
      <p:sp>
        <p:nvSpPr>
          <p:cNvPr id="19" name="Rounded Rectangle 18"/>
          <p:cNvSpPr/>
          <p:nvPr/>
        </p:nvSpPr>
        <p:spPr>
          <a:xfrm>
            <a:off x="6187744" y="416052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4904" y="4233672"/>
            <a:ext cx="2331720" cy="578358"/>
          </a:xfrm>
          <a:prstGeom prst="rect">
            <a:avLst/>
          </a:prstGeom>
          <a:noFill/>
        </p:spPr>
        <p:txBody>
          <a:bodyPr wrap="square" lIns="27432" rIns="27432" tIns="27432" bIns="27432" anchor="b"/>
          <a:lstStyle/>
          <a:p>
            <a:pPr algn="l">
              <a:spcAft>
                <a:spcPts val="400"/>
              </a:spcAft>
            </a:pPr>
            <a:r>
              <a:rPr sz="2200" b="1" i="0">
                <a:solidFill>
                  <a:srgbClr val="2A78D6"/>
                </a:solidFill>
              </a:rPr>
              <a:t>441 MWh</a:t>
            </a:r>
          </a:p>
        </p:txBody>
      </p:sp>
      <p:sp>
        <p:nvSpPr>
          <p:cNvPr id="21" name="TextBox 20"/>
          <p:cNvSpPr txBox="1"/>
          <p:nvPr/>
        </p:nvSpPr>
        <p:spPr>
          <a:xfrm>
            <a:off x="6324904" y="477042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lost in battery and converter</a:t>
            </a:r>
          </a:p>
        </p:txBody>
      </p:sp>
      <p:sp>
        <p:nvSpPr>
          <p:cNvPr id="22" name="Rounded Rectangle 21"/>
          <p:cNvSpPr/>
          <p:nvPr/>
        </p:nvSpPr>
        <p:spPr>
          <a:xfrm>
            <a:off x="8976664" y="416052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3824" y="4233672"/>
            <a:ext cx="2331720" cy="578358"/>
          </a:xfrm>
          <a:prstGeom prst="rect">
            <a:avLst/>
          </a:prstGeom>
          <a:noFill/>
        </p:spPr>
        <p:txBody>
          <a:bodyPr wrap="square" lIns="27432" rIns="27432" tIns="27432" bIns="27432" anchor="b"/>
          <a:lstStyle/>
          <a:p>
            <a:pPr algn="l">
              <a:spcAft>
                <a:spcPts val="400"/>
              </a:spcAft>
            </a:pPr>
            <a:r>
              <a:rPr sz="2200" b="1" i="0">
                <a:solidFill>
                  <a:srgbClr val="E34948"/>
                </a:solidFill>
              </a:rPr>
              <a:t>33 MWh</a:t>
            </a:r>
          </a:p>
        </p:txBody>
      </p:sp>
      <p:sp>
        <p:nvSpPr>
          <p:cNvPr id="24" name="TextBox 23"/>
          <p:cNvSpPr txBox="1"/>
          <p:nvPr/>
        </p:nvSpPr>
        <p:spPr>
          <a:xfrm>
            <a:off x="9113824" y="477042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unmet = 1 % of demand</a:t>
            </a:r>
          </a:p>
        </p:txBody>
      </p:sp>
      <p:sp>
        <p:nvSpPr>
          <p:cNvPr id="25" name="Rounded Rectangle 24"/>
          <p:cNvSpPr/>
          <p:nvPr/>
        </p:nvSpPr>
        <p:spPr>
          <a:xfrm>
            <a:off x="609904" y="5486400"/>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784" y="5486400"/>
            <a:ext cx="10607040" cy="566928"/>
          </a:xfrm>
          <a:prstGeom prst="rect">
            <a:avLst/>
          </a:prstGeom>
          <a:noFill/>
        </p:spPr>
        <p:txBody>
          <a:bodyPr wrap="square" lIns="27432" rIns="27432" tIns="27432" bIns="27432" anchor="ctr"/>
          <a:lstStyle/>
          <a:p>
            <a:pPr algn="l">
              <a:spcAft>
                <a:spcPts val="400"/>
              </a:spcAft>
            </a:pPr>
            <a:r>
              <a:rPr sz="1400" b="1" i="0">
                <a:solidFill>
                  <a:srgbClr val="E8A33D"/>
                </a:solidFill>
              </a:rPr>
              <a:t>Takeaway  </a:t>
            </a:r>
            <a:r>
              <a:rPr sz="1400" b="0" i="0">
                <a:solidFill>
                  <a:srgbClr val="FFFFFF"/>
                </a:solidFill>
              </a:rPr>
              <a:t>An islanded system must oversize PV and throw energy away to stay reliable through dull spells.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RESULTS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Battery operation and ageing</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22 / 34</a:t>
            </a:r>
          </a:p>
        </p:txBody>
      </p:sp>
      <p:pic>
        <p:nvPicPr>
          <p:cNvPr id="9" name="soc_cycles" descr="Project figure soc_cycles.png: soc cycles"/>
          <p:cNvPicPr>
            <a:picLocks noChangeAspect="1"/>
          </p:cNvPicPr>
          <p:nvPr/>
        </p:nvPicPr>
        <p:blipFill>
          <a:blip r:embed="rId2"/>
          <a:stretch>
            <a:fillRect/>
          </a:stretch>
        </p:blipFill>
        <p:spPr>
          <a:xfrm>
            <a:off x="609904" y="1261872"/>
            <a:ext cx="5394960" cy="2697480"/>
          </a:xfrm>
          <a:prstGeom prst="rect">
            <a:avLst/>
          </a:prstGeom>
          <a:ln w="9525">
            <a:solidFill>
              <a:srgbClr val="D5DBE1"/>
            </a:solidFill>
          </a:ln>
        </p:spPr>
      </p:pic>
      <p:pic>
        <p:nvPicPr>
          <p:cNvPr id="10" name="battery_life" descr="Project figure battery_life.png: battery life"/>
          <p:cNvPicPr>
            <a:picLocks noChangeAspect="1"/>
          </p:cNvPicPr>
          <p:nvPr/>
        </p:nvPicPr>
        <p:blipFill>
          <a:blip r:embed="rId3"/>
          <a:stretch>
            <a:fillRect/>
          </a:stretch>
        </p:blipFill>
        <p:spPr>
          <a:xfrm>
            <a:off x="6272653" y="1261872"/>
            <a:ext cx="5225142" cy="2743200"/>
          </a:xfrm>
          <a:prstGeom prst="rect">
            <a:avLst/>
          </a:prstGeom>
          <a:ln w="9525">
            <a:solidFill>
              <a:srgbClr val="D5DBE1"/>
            </a:solidFill>
          </a:ln>
        </p:spPr>
      </p:pic>
      <p:sp>
        <p:nvSpPr>
          <p:cNvPr id="11" name="TextBox 10"/>
          <p:cNvSpPr txBox="1"/>
          <p:nvPr/>
        </p:nvSpPr>
        <p:spPr>
          <a:xfrm>
            <a:off x="609904" y="3986784"/>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Rainflow cycle depths of the hourly SoC (one year).</a:t>
            </a:r>
          </a:p>
        </p:txBody>
      </p:sp>
      <p:sp>
        <p:nvSpPr>
          <p:cNvPr id="12" name="TextBox 11"/>
          <p:cNvSpPr txBox="1"/>
          <p:nvPr/>
        </p:nvSpPr>
        <p:spPr>
          <a:xfrm>
            <a:off x="6187744" y="4032504"/>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Battery life against bank size at the optimum PV.</a:t>
            </a:r>
          </a:p>
        </p:txBody>
      </p:sp>
      <p:sp>
        <p:nvSpPr>
          <p:cNvPr id="13" name="Rounded Rectangle 12"/>
          <p:cNvSpPr/>
          <p:nvPr/>
        </p:nvSpPr>
        <p:spPr>
          <a:xfrm>
            <a:off x="609904" y="420624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064" y="4279392"/>
            <a:ext cx="2331720" cy="578358"/>
          </a:xfrm>
          <a:prstGeom prst="rect">
            <a:avLst/>
          </a:prstGeom>
          <a:noFill/>
        </p:spPr>
        <p:txBody>
          <a:bodyPr wrap="square" lIns="27432" rIns="27432" tIns="27432" bIns="27432" anchor="b"/>
          <a:lstStyle/>
          <a:p>
            <a:pPr algn="l">
              <a:spcAft>
                <a:spcPts val="400"/>
              </a:spcAft>
            </a:pPr>
            <a:r>
              <a:rPr sz="2200" b="1" i="0">
                <a:solidFill>
                  <a:srgbClr val="2A78D6"/>
                </a:solidFill>
              </a:rPr>
              <a:t>7.7 y</a:t>
            </a:r>
          </a:p>
        </p:txBody>
      </p:sp>
      <p:sp>
        <p:nvSpPr>
          <p:cNvPr id="15" name="TextBox 14"/>
          <p:cNvSpPr txBox="1"/>
          <p:nvPr/>
        </p:nvSpPr>
        <p:spPr>
          <a:xfrm>
            <a:off x="747064" y="481614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wear life: cycling-limited</a:t>
            </a:r>
          </a:p>
        </p:txBody>
      </p:sp>
      <p:sp>
        <p:nvSpPr>
          <p:cNvPr id="16" name="Rounded Rectangle 15"/>
          <p:cNvSpPr/>
          <p:nvPr/>
        </p:nvSpPr>
        <p:spPr>
          <a:xfrm>
            <a:off x="3398824" y="420624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5984" y="4279392"/>
            <a:ext cx="2331720" cy="578358"/>
          </a:xfrm>
          <a:prstGeom prst="rect">
            <a:avLst/>
          </a:prstGeom>
          <a:noFill/>
        </p:spPr>
        <p:txBody>
          <a:bodyPr wrap="square" lIns="27432" rIns="27432" tIns="27432" bIns="27432" anchor="b"/>
          <a:lstStyle/>
          <a:p>
            <a:pPr algn="l">
              <a:spcAft>
                <a:spcPts val="400"/>
              </a:spcAft>
            </a:pPr>
            <a:r>
              <a:rPr sz="2200" b="1" i="0">
                <a:solidFill>
                  <a:srgbClr val="8A9AAB"/>
                </a:solidFill>
              </a:rPr>
              <a:t>12.1 y</a:t>
            </a:r>
          </a:p>
        </p:txBody>
      </p:sp>
      <p:sp>
        <p:nvSpPr>
          <p:cNvPr id="18" name="TextBox 17"/>
          <p:cNvSpPr txBox="1"/>
          <p:nvPr/>
        </p:nvSpPr>
        <p:spPr>
          <a:xfrm>
            <a:off x="3535984" y="481614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float life at site temperatures</a:t>
            </a:r>
          </a:p>
        </p:txBody>
      </p:sp>
      <p:sp>
        <p:nvSpPr>
          <p:cNvPr id="19" name="Rounded Rectangle 18"/>
          <p:cNvSpPr/>
          <p:nvPr/>
        </p:nvSpPr>
        <p:spPr>
          <a:xfrm>
            <a:off x="6187744" y="420624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4904" y="4279392"/>
            <a:ext cx="2331720" cy="578358"/>
          </a:xfrm>
          <a:prstGeom prst="rect">
            <a:avLst/>
          </a:prstGeom>
          <a:noFill/>
        </p:spPr>
        <p:txBody>
          <a:bodyPr wrap="square" lIns="27432" rIns="27432" tIns="27432" bIns="27432" anchor="b"/>
          <a:lstStyle/>
          <a:p>
            <a:pPr algn="l">
              <a:spcAft>
                <a:spcPts val="400"/>
              </a:spcAft>
            </a:pPr>
            <a:r>
              <a:rPr sz="2200" b="1" i="0">
                <a:solidFill>
                  <a:srgbClr val="E8A33D"/>
                </a:solidFill>
              </a:rPr>
              <a:t>year 7.7</a:t>
            </a:r>
          </a:p>
        </p:txBody>
      </p:sp>
      <p:sp>
        <p:nvSpPr>
          <p:cNvPr id="21" name="TextBox 20"/>
          <p:cNvSpPr txBox="1"/>
          <p:nvPr/>
        </p:nvSpPr>
        <p:spPr>
          <a:xfrm>
            <a:off x="6324904" y="481614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one replacement in 15 years</a:t>
            </a:r>
          </a:p>
        </p:txBody>
      </p:sp>
      <p:sp>
        <p:nvSpPr>
          <p:cNvPr id="22" name="Rounded Rectangle 21"/>
          <p:cNvSpPr/>
          <p:nvPr/>
        </p:nvSpPr>
        <p:spPr>
          <a:xfrm>
            <a:off x="8976664" y="420624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3824" y="4279392"/>
            <a:ext cx="2331720" cy="578358"/>
          </a:xfrm>
          <a:prstGeom prst="rect">
            <a:avLst/>
          </a:prstGeom>
          <a:noFill/>
        </p:spPr>
        <p:txBody>
          <a:bodyPr wrap="square" lIns="27432" rIns="27432" tIns="27432" bIns="27432" anchor="b"/>
          <a:lstStyle/>
          <a:p>
            <a:pPr algn="l">
              <a:spcAft>
                <a:spcPts val="400"/>
              </a:spcAft>
            </a:pPr>
            <a:r>
              <a:rPr sz="2200" b="1" i="0">
                <a:solidFill>
                  <a:srgbClr val="2E6F95"/>
                </a:solidFill>
              </a:rPr>
              <a:t>₹54.6 M</a:t>
            </a:r>
          </a:p>
        </p:txBody>
      </p:sp>
      <p:sp>
        <p:nvSpPr>
          <p:cNvPr id="24" name="TextBox 23"/>
          <p:cNvSpPr txBox="1"/>
          <p:nvPr/>
        </p:nvSpPr>
        <p:spPr>
          <a:xfrm>
            <a:off x="9113824" y="481614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replacements (present value)</a:t>
            </a:r>
          </a:p>
        </p:txBody>
      </p:sp>
      <p:sp>
        <p:nvSpPr>
          <p:cNvPr id="25" name="Rounded Rectangle 24"/>
          <p:cNvSpPr/>
          <p:nvPr/>
        </p:nvSpPr>
        <p:spPr>
          <a:xfrm>
            <a:off x="609904" y="5513832"/>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784" y="5513832"/>
            <a:ext cx="10607040" cy="566928"/>
          </a:xfrm>
          <a:prstGeom prst="rect">
            <a:avLst/>
          </a:prstGeom>
          <a:noFill/>
        </p:spPr>
        <p:txBody>
          <a:bodyPr wrap="square" lIns="27432" rIns="27432" tIns="27432" bIns="27432" anchor="ctr"/>
          <a:lstStyle/>
          <a:p>
            <a:pPr algn="l">
              <a:spcAft>
                <a:spcPts val="400"/>
              </a:spcAft>
            </a:pPr>
            <a:r>
              <a:rPr sz="1400" b="1" i="0">
                <a:solidFill>
                  <a:srgbClr val="E8A33D"/>
                </a:solidFill>
              </a:rPr>
              <a:t>Takeaway  </a:t>
            </a:r>
            <a:r>
              <a:rPr sz="1400" b="0" i="0">
                <a:solidFill>
                  <a:srgbClr val="FFFFFF"/>
                </a:solidFill>
              </a:rPr>
              <a:t>Ageing links sizing to cost: a larger bank cycles less, lasts longer and needs fewer replacements.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ROBUSTNESS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Multi-year weather robustness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23 / 34</a:t>
            </a:r>
          </a:p>
        </p:txBody>
      </p:sp>
      <p:pic>
        <p:nvPicPr>
          <p:cNvPr id="9" name="perf_weather_years" descr="Project figure perf_weather_years.png: perf weather years"/>
          <p:cNvPicPr>
            <a:picLocks noChangeAspect="1"/>
          </p:cNvPicPr>
          <p:nvPr/>
        </p:nvPicPr>
        <p:blipFill>
          <a:blip r:embed="rId2"/>
          <a:stretch>
            <a:fillRect/>
          </a:stretch>
        </p:blipFill>
        <p:spPr>
          <a:xfrm>
            <a:off x="992676" y="1261872"/>
            <a:ext cx="10207255" cy="3657600"/>
          </a:xfrm>
          <a:prstGeom prst="rect">
            <a:avLst/>
          </a:prstGeom>
          <a:ln w="9525">
            <a:solidFill>
              <a:srgbClr val="D5DBE1"/>
            </a:solidFill>
          </a:ln>
        </p:spPr>
      </p:pic>
      <p:sp>
        <p:nvSpPr>
          <p:cNvPr id="10" name="TextBox 9"/>
          <p:cNvSpPr txBox="1"/>
          <p:nvPr/>
        </p:nvSpPr>
        <p:spPr>
          <a:xfrm>
            <a:off x="609904" y="4937759"/>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Left: LPSP of each design in each weather year. Right: mean NPC over the 12 years.</a:t>
            </a:r>
          </a:p>
        </p:txBody>
      </p:sp>
      <p:sp>
        <p:nvSpPr>
          <p:cNvPr id="11" name="Rounded Rectangle 10"/>
          <p:cNvSpPr/>
          <p:nvPr/>
        </p:nvSpPr>
        <p:spPr>
          <a:xfrm>
            <a:off x="609904" y="5257800"/>
            <a:ext cx="2606040" cy="89611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064" y="5330952"/>
            <a:ext cx="2331720" cy="492861"/>
          </a:xfrm>
          <a:prstGeom prst="rect">
            <a:avLst/>
          </a:prstGeom>
          <a:noFill/>
        </p:spPr>
        <p:txBody>
          <a:bodyPr wrap="square" lIns="27432" rIns="27432" tIns="27432" bIns="27432" anchor="b"/>
          <a:lstStyle/>
          <a:p>
            <a:pPr algn="l">
              <a:spcAft>
                <a:spcPts val="400"/>
              </a:spcAft>
            </a:pPr>
            <a:r>
              <a:rPr sz="2000" b="1" i="0">
                <a:solidFill>
                  <a:srgbClr val="E34948"/>
                </a:solidFill>
              </a:rPr>
              <a:t>8 of 12</a:t>
            </a:r>
          </a:p>
        </p:txBody>
      </p:sp>
      <p:sp>
        <p:nvSpPr>
          <p:cNvPr id="13" name="TextBox 12"/>
          <p:cNvSpPr txBox="1"/>
          <p:nvPr/>
        </p:nvSpPr>
        <p:spPr>
          <a:xfrm>
            <a:off x="747064" y="5777544"/>
            <a:ext cx="2331720" cy="358444"/>
          </a:xfrm>
          <a:prstGeom prst="rect">
            <a:avLst/>
          </a:prstGeom>
          <a:noFill/>
        </p:spPr>
        <p:txBody>
          <a:bodyPr wrap="square" lIns="27432" rIns="27432" tIns="27432" bIns="27432" anchor="t"/>
          <a:lstStyle/>
          <a:p>
            <a:pPr algn="l">
              <a:spcAft>
                <a:spcPts val="400"/>
              </a:spcAft>
            </a:pPr>
            <a:r>
              <a:rPr sz="1100" b="0" i="0">
                <a:solidFill>
                  <a:srgbClr val="4A5568"/>
                </a:solidFill>
              </a:rPr>
              <a:t>years the 2023 design misses 1 %</a:t>
            </a:r>
          </a:p>
        </p:txBody>
      </p:sp>
      <p:sp>
        <p:nvSpPr>
          <p:cNvPr id="14" name="Rounded Rectangle 13"/>
          <p:cNvSpPr/>
          <p:nvPr/>
        </p:nvSpPr>
        <p:spPr>
          <a:xfrm>
            <a:off x="3398824" y="5257800"/>
            <a:ext cx="2606040" cy="89611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5984" y="5330952"/>
            <a:ext cx="2331720" cy="492861"/>
          </a:xfrm>
          <a:prstGeom prst="rect">
            <a:avLst/>
          </a:prstGeom>
          <a:noFill/>
        </p:spPr>
        <p:txBody>
          <a:bodyPr wrap="square" lIns="27432" rIns="27432" tIns="27432" bIns="27432" anchor="b"/>
          <a:lstStyle/>
          <a:p>
            <a:pPr algn="l">
              <a:spcAft>
                <a:spcPts val="400"/>
              </a:spcAft>
            </a:pPr>
            <a:r>
              <a:rPr sz="2000" b="1" i="0">
                <a:solidFill>
                  <a:srgbClr val="E34948"/>
                </a:solidFill>
              </a:rPr>
              <a:t>2.43 %</a:t>
            </a:r>
          </a:p>
        </p:txBody>
      </p:sp>
      <p:sp>
        <p:nvSpPr>
          <p:cNvPr id="16" name="TextBox 15"/>
          <p:cNvSpPr txBox="1"/>
          <p:nvPr/>
        </p:nvSpPr>
        <p:spPr>
          <a:xfrm>
            <a:off x="3535984" y="5777544"/>
            <a:ext cx="2331720" cy="358444"/>
          </a:xfrm>
          <a:prstGeom prst="rect">
            <a:avLst/>
          </a:prstGeom>
          <a:noFill/>
        </p:spPr>
        <p:txBody>
          <a:bodyPr wrap="square" lIns="27432" rIns="27432" tIns="27432" bIns="27432" anchor="t"/>
          <a:lstStyle/>
          <a:p>
            <a:pPr algn="l">
              <a:spcAft>
                <a:spcPts val="400"/>
              </a:spcAft>
            </a:pPr>
            <a:r>
              <a:rPr sz="1100" b="0" i="0">
                <a:solidFill>
                  <a:srgbClr val="4A5568"/>
                </a:solidFill>
              </a:rPr>
              <a:t>worst year (2022)</a:t>
            </a:r>
          </a:p>
        </p:txBody>
      </p:sp>
      <p:sp>
        <p:nvSpPr>
          <p:cNvPr id="17" name="Rounded Rectangle 16"/>
          <p:cNvSpPr/>
          <p:nvPr/>
        </p:nvSpPr>
        <p:spPr>
          <a:xfrm>
            <a:off x="6187744" y="5257800"/>
            <a:ext cx="2606040" cy="89611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904" y="5330952"/>
            <a:ext cx="2331720" cy="492861"/>
          </a:xfrm>
          <a:prstGeom prst="rect">
            <a:avLst/>
          </a:prstGeom>
          <a:noFill/>
        </p:spPr>
        <p:txBody>
          <a:bodyPr wrap="square" lIns="27432" rIns="27432" tIns="27432" bIns="27432" anchor="b"/>
          <a:lstStyle/>
          <a:p>
            <a:pPr algn="l">
              <a:spcAft>
                <a:spcPts val="400"/>
              </a:spcAft>
            </a:pPr>
            <a:r>
              <a:rPr sz="2000" b="1" i="0">
                <a:solidFill>
                  <a:srgbClr val="2A78D6"/>
                </a:solidFill>
              </a:rPr>
              <a:t>+14 %</a:t>
            </a:r>
          </a:p>
        </p:txBody>
      </p:sp>
      <p:sp>
        <p:nvSpPr>
          <p:cNvPr id="19" name="TextBox 18"/>
          <p:cNvSpPr txBox="1"/>
          <p:nvPr/>
        </p:nvSpPr>
        <p:spPr>
          <a:xfrm>
            <a:off x="6324904" y="5777544"/>
            <a:ext cx="2331720" cy="358444"/>
          </a:xfrm>
          <a:prstGeom prst="rect">
            <a:avLst/>
          </a:prstGeom>
          <a:noFill/>
        </p:spPr>
        <p:txBody>
          <a:bodyPr wrap="square" lIns="27432" rIns="27432" tIns="27432" bIns="27432" anchor="t"/>
          <a:lstStyle/>
          <a:p>
            <a:pPr algn="l">
              <a:spcAft>
                <a:spcPts val="400"/>
              </a:spcAft>
            </a:pPr>
            <a:r>
              <a:rPr sz="1100" b="0" i="0">
                <a:solidFill>
                  <a:srgbClr val="4A5568"/>
                </a:solidFill>
              </a:rPr>
              <a:t>cost of meeting 1 % in all 12 years</a:t>
            </a:r>
          </a:p>
        </p:txBody>
      </p:sp>
      <p:sp>
        <p:nvSpPr>
          <p:cNvPr id="20" name="Rounded Rectangle 19"/>
          <p:cNvSpPr/>
          <p:nvPr/>
        </p:nvSpPr>
        <p:spPr>
          <a:xfrm>
            <a:off x="8976664" y="5257800"/>
            <a:ext cx="2606040" cy="896112"/>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3824" y="5330952"/>
            <a:ext cx="2331720" cy="492861"/>
          </a:xfrm>
          <a:prstGeom prst="rect">
            <a:avLst/>
          </a:prstGeom>
          <a:noFill/>
        </p:spPr>
        <p:txBody>
          <a:bodyPr wrap="square" lIns="27432" rIns="27432" tIns="27432" bIns="27432" anchor="b"/>
          <a:lstStyle/>
          <a:p>
            <a:pPr algn="l">
              <a:spcAft>
                <a:spcPts val="400"/>
              </a:spcAft>
            </a:pPr>
            <a:r>
              <a:rPr sz="2000" b="1" i="0">
                <a:solidFill>
                  <a:srgbClr val="8A9AAB"/>
                </a:solidFill>
              </a:rPr>
              <a:t>133 h</a:t>
            </a:r>
          </a:p>
        </p:txBody>
      </p:sp>
      <p:sp>
        <p:nvSpPr>
          <p:cNvPr id="22" name="TextBox 21"/>
          <p:cNvSpPr txBox="1"/>
          <p:nvPr/>
        </p:nvSpPr>
        <p:spPr>
          <a:xfrm>
            <a:off x="9113824" y="5777544"/>
            <a:ext cx="2331720" cy="358444"/>
          </a:xfrm>
          <a:prstGeom prst="rect">
            <a:avLst/>
          </a:prstGeom>
          <a:noFill/>
        </p:spPr>
        <p:txBody>
          <a:bodyPr wrap="square" lIns="27432" rIns="27432" tIns="27432" bIns="27432" anchor="t"/>
          <a:lstStyle/>
          <a:p>
            <a:pPr algn="l">
              <a:spcAft>
                <a:spcPts val="400"/>
              </a:spcAft>
            </a:pPr>
            <a:r>
              <a:rPr sz="1100" b="0" i="0">
                <a:solidFill>
                  <a:srgbClr val="4A5568"/>
                </a:solidFill>
              </a:rPr>
              <a:t>shortage hours in 2023 (17 events)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SENSITIVITY</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One-at-a-time sensitivity of the re-optimised cost</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24 / 34</a:t>
            </a:r>
          </a:p>
        </p:txBody>
      </p:sp>
      <p:pic>
        <p:nvPicPr>
          <p:cNvPr id="9" name="sens_spider" descr="Project figure sens_spider.png: sens spider"/>
          <p:cNvPicPr>
            <a:picLocks noChangeAspect="1"/>
          </p:cNvPicPr>
          <p:nvPr/>
        </p:nvPicPr>
        <p:blipFill>
          <a:blip r:embed="rId2"/>
          <a:stretch>
            <a:fillRect/>
          </a:stretch>
        </p:blipFill>
        <p:spPr>
          <a:xfrm>
            <a:off x="967713" y="1261872"/>
            <a:ext cx="10257182" cy="3931920"/>
          </a:xfrm>
          <a:prstGeom prst="rect">
            <a:avLst/>
          </a:prstGeom>
          <a:ln w="9525">
            <a:solidFill>
              <a:srgbClr val="D5DBE1"/>
            </a:solidFill>
          </a:ln>
        </p:spPr>
      </p:pic>
      <p:sp>
        <p:nvSpPr>
          <p:cNvPr id="10" name="TextBox 9"/>
          <p:cNvSpPr txBox="1"/>
          <p:nvPr/>
        </p:nvSpPr>
        <p:spPr>
          <a:xfrm>
            <a:off x="609904" y="5212079"/>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Spider plot: % change of re-optimised NPC (base ₹385 M) for each input changed alone.</a:t>
            </a:r>
          </a:p>
        </p:txBody>
      </p:sp>
      <p:sp>
        <p:nvSpPr>
          <p:cNvPr id="11" name="Rounded Rectangle 10"/>
          <p:cNvSpPr/>
          <p:nvPr/>
        </p:nvSpPr>
        <p:spPr>
          <a:xfrm>
            <a:off x="609904" y="5440680"/>
            <a:ext cx="2606040" cy="749808"/>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064" y="5513832"/>
            <a:ext cx="2331720" cy="412394"/>
          </a:xfrm>
          <a:prstGeom prst="rect">
            <a:avLst/>
          </a:prstGeom>
          <a:noFill/>
        </p:spPr>
        <p:txBody>
          <a:bodyPr wrap="square" lIns="27432" rIns="27432" tIns="27432" bIns="27432" anchor="b"/>
          <a:lstStyle/>
          <a:p>
            <a:pPr algn="l">
              <a:spcAft>
                <a:spcPts val="400"/>
              </a:spcAft>
            </a:pPr>
            <a:r>
              <a:rPr sz="1700" b="1" i="0">
                <a:solidFill>
                  <a:srgbClr val="C86A0A"/>
                </a:solidFill>
              </a:rPr>
              <a:t>-19 / +20 %</a:t>
            </a:r>
          </a:p>
        </p:txBody>
      </p:sp>
      <p:sp>
        <p:nvSpPr>
          <p:cNvPr id="13" name="TextBox 12"/>
          <p:cNvSpPr txBox="1"/>
          <p:nvPr/>
        </p:nvSpPr>
        <p:spPr>
          <a:xfrm>
            <a:off x="747064" y="5875568"/>
            <a:ext cx="2331720" cy="299923"/>
          </a:xfrm>
          <a:prstGeom prst="rect">
            <a:avLst/>
          </a:prstGeom>
          <a:noFill/>
        </p:spPr>
        <p:txBody>
          <a:bodyPr wrap="square" lIns="27432" rIns="27432" tIns="27432" bIns="27432" anchor="t"/>
          <a:lstStyle/>
          <a:p>
            <a:pPr algn="l">
              <a:spcAft>
                <a:spcPts val="400"/>
              </a:spcAft>
            </a:pPr>
            <a:r>
              <a:rPr sz="1100" b="0" i="0">
                <a:solidFill>
                  <a:srgbClr val="4A5568"/>
                </a:solidFill>
              </a:rPr>
              <a:t>demand −20 / +20 %</a:t>
            </a:r>
          </a:p>
        </p:txBody>
      </p:sp>
      <p:sp>
        <p:nvSpPr>
          <p:cNvPr id="14" name="Rounded Rectangle 13"/>
          <p:cNvSpPr/>
          <p:nvPr/>
        </p:nvSpPr>
        <p:spPr>
          <a:xfrm>
            <a:off x="3398824" y="5440680"/>
            <a:ext cx="2606040" cy="749808"/>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5984" y="5513832"/>
            <a:ext cx="2331720" cy="412394"/>
          </a:xfrm>
          <a:prstGeom prst="rect">
            <a:avLst/>
          </a:prstGeom>
          <a:noFill/>
        </p:spPr>
        <p:txBody>
          <a:bodyPr wrap="square" lIns="27432" rIns="27432" tIns="27432" bIns="27432" anchor="b"/>
          <a:lstStyle/>
          <a:p>
            <a:pPr algn="l">
              <a:spcAft>
                <a:spcPts val="400"/>
              </a:spcAft>
            </a:pPr>
            <a:r>
              <a:rPr sz="1700" b="1" i="0">
                <a:solidFill>
                  <a:srgbClr val="1F7A72"/>
                </a:solidFill>
              </a:rPr>
              <a:t>-9 / +9 %</a:t>
            </a:r>
          </a:p>
        </p:txBody>
      </p:sp>
      <p:sp>
        <p:nvSpPr>
          <p:cNvPr id="16" name="TextBox 15"/>
          <p:cNvSpPr txBox="1"/>
          <p:nvPr/>
        </p:nvSpPr>
        <p:spPr>
          <a:xfrm>
            <a:off x="3535984" y="5875568"/>
            <a:ext cx="2331720" cy="299923"/>
          </a:xfrm>
          <a:prstGeom prst="rect">
            <a:avLst/>
          </a:prstGeom>
          <a:noFill/>
        </p:spPr>
        <p:txBody>
          <a:bodyPr wrap="square" lIns="27432" rIns="27432" tIns="27432" bIns="27432" anchor="t"/>
          <a:lstStyle/>
          <a:p>
            <a:pPr algn="l">
              <a:spcAft>
                <a:spcPts val="400"/>
              </a:spcAft>
            </a:pPr>
            <a:r>
              <a:rPr sz="1100" b="0" i="0">
                <a:solidFill>
                  <a:srgbClr val="4A5568"/>
                </a:solidFill>
              </a:rPr>
              <a:t>PV price −20 / +20 %</a:t>
            </a:r>
          </a:p>
        </p:txBody>
      </p:sp>
      <p:sp>
        <p:nvSpPr>
          <p:cNvPr id="17" name="Rounded Rectangle 16"/>
          <p:cNvSpPr/>
          <p:nvPr/>
        </p:nvSpPr>
        <p:spPr>
          <a:xfrm>
            <a:off x="6187744" y="5440680"/>
            <a:ext cx="2606040" cy="749808"/>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904" y="5513832"/>
            <a:ext cx="2331720" cy="412394"/>
          </a:xfrm>
          <a:prstGeom prst="rect">
            <a:avLst/>
          </a:prstGeom>
          <a:noFill/>
        </p:spPr>
        <p:txBody>
          <a:bodyPr wrap="square" lIns="27432" rIns="27432" tIns="27432" bIns="27432" anchor="b"/>
          <a:lstStyle/>
          <a:p>
            <a:pPr algn="l">
              <a:spcAft>
                <a:spcPts val="400"/>
              </a:spcAft>
            </a:pPr>
            <a:r>
              <a:rPr sz="1700" b="1" i="0">
                <a:solidFill>
                  <a:srgbClr val="2A78D6"/>
                </a:solidFill>
              </a:rPr>
              <a:t>-7 / +7 %</a:t>
            </a:r>
          </a:p>
        </p:txBody>
      </p:sp>
      <p:sp>
        <p:nvSpPr>
          <p:cNvPr id="19" name="TextBox 18"/>
          <p:cNvSpPr txBox="1"/>
          <p:nvPr/>
        </p:nvSpPr>
        <p:spPr>
          <a:xfrm>
            <a:off x="6324904" y="5875568"/>
            <a:ext cx="2331720" cy="299923"/>
          </a:xfrm>
          <a:prstGeom prst="rect">
            <a:avLst/>
          </a:prstGeom>
          <a:noFill/>
        </p:spPr>
        <p:txBody>
          <a:bodyPr wrap="square" lIns="27432" rIns="27432" tIns="27432" bIns="27432" anchor="t"/>
          <a:lstStyle/>
          <a:p>
            <a:pPr algn="l">
              <a:spcAft>
                <a:spcPts val="400"/>
              </a:spcAft>
            </a:pPr>
            <a:r>
              <a:rPr sz="1100" b="0" i="0">
                <a:solidFill>
                  <a:srgbClr val="4A5568"/>
                </a:solidFill>
              </a:rPr>
              <a:t>battery price −20 / +20 %</a:t>
            </a:r>
          </a:p>
        </p:txBody>
      </p:sp>
      <p:sp>
        <p:nvSpPr>
          <p:cNvPr id="20" name="Rounded Rectangle 19"/>
          <p:cNvSpPr/>
          <p:nvPr/>
        </p:nvSpPr>
        <p:spPr>
          <a:xfrm>
            <a:off x="8976664" y="5440680"/>
            <a:ext cx="2606040" cy="749808"/>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3824" y="5513832"/>
            <a:ext cx="2331720" cy="412394"/>
          </a:xfrm>
          <a:prstGeom prst="rect">
            <a:avLst/>
          </a:prstGeom>
          <a:noFill/>
        </p:spPr>
        <p:txBody>
          <a:bodyPr wrap="square" lIns="27432" rIns="27432" tIns="27432" bIns="27432" anchor="b"/>
          <a:lstStyle/>
          <a:p>
            <a:pPr algn="l">
              <a:spcAft>
                <a:spcPts val="400"/>
              </a:spcAft>
            </a:pPr>
            <a:r>
              <a:rPr sz="1700" b="1" i="0">
                <a:solidFill>
                  <a:srgbClr val="2A78D6"/>
                </a:solidFill>
              </a:rPr>
              <a:t>+7 / -4 %</a:t>
            </a:r>
          </a:p>
        </p:txBody>
      </p:sp>
      <p:sp>
        <p:nvSpPr>
          <p:cNvPr id="22" name="TextBox 21"/>
          <p:cNvSpPr txBox="1"/>
          <p:nvPr/>
        </p:nvSpPr>
        <p:spPr>
          <a:xfrm>
            <a:off x="9113824" y="5875568"/>
            <a:ext cx="2331720" cy="299923"/>
          </a:xfrm>
          <a:prstGeom prst="rect">
            <a:avLst/>
          </a:prstGeom>
          <a:noFill/>
        </p:spPr>
        <p:txBody>
          <a:bodyPr wrap="square" lIns="27432" rIns="27432" tIns="27432" bIns="27432" anchor="t"/>
          <a:lstStyle/>
          <a:p>
            <a:pPr algn="l">
              <a:spcAft>
                <a:spcPts val="400"/>
              </a:spcAft>
            </a:pPr>
            <a:r>
              <a:rPr sz="1100" b="0" i="0">
                <a:solidFill>
                  <a:srgbClr val="4A5568"/>
                </a:solidFill>
              </a:rPr>
              <a:t>cycle life −20 / +20 %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SENSITIVITY</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The reliability target: what each step costs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25 / 34</a:t>
            </a:r>
          </a:p>
        </p:txBody>
      </p:sp>
      <p:pic>
        <p:nvPicPr>
          <p:cNvPr id="9" name="sens_reliability" descr="Project figure sens_reliability.png: sens reliability"/>
          <p:cNvPicPr>
            <a:picLocks noChangeAspect="1"/>
          </p:cNvPicPr>
          <p:nvPr/>
        </p:nvPicPr>
        <p:blipFill>
          <a:blip r:embed="rId2"/>
          <a:stretch>
            <a:fillRect/>
          </a:stretch>
        </p:blipFill>
        <p:spPr>
          <a:xfrm>
            <a:off x="609904" y="1261872"/>
            <a:ext cx="10972800" cy="3545058"/>
          </a:xfrm>
          <a:prstGeom prst="rect">
            <a:avLst/>
          </a:prstGeom>
          <a:ln w="9525">
            <a:solidFill>
              <a:srgbClr val="D5DBE1"/>
            </a:solidFill>
          </a:ln>
        </p:spPr>
      </p:pic>
      <p:sp>
        <p:nvSpPr>
          <p:cNvPr id="10" name="TextBox 9"/>
          <p:cNvSpPr txBox="1"/>
          <p:nvPr/>
        </p:nvSpPr>
        <p:spPr>
          <a:xfrm>
            <a:off x="609904" y="4825218"/>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Re-optimised NPC, PV and battery against the allowed unmet demand (log scale).</a:t>
            </a:r>
          </a:p>
        </p:txBody>
      </p:sp>
      <p:sp>
        <p:nvSpPr>
          <p:cNvPr id="11" name="Rounded Rectangle 10"/>
          <p:cNvSpPr/>
          <p:nvPr/>
        </p:nvSpPr>
        <p:spPr>
          <a:xfrm>
            <a:off x="609904" y="5120640"/>
            <a:ext cx="3511296"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7064" y="5193792"/>
            <a:ext cx="3236976" cy="528066"/>
          </a:xfrm>
          <a:prstGeom prst="rect">
            <a:avLst/>
          </a:prstGeom>
          <a:noFill/>
        </p:spPr>
        <p:txBody>
          <a:bodyPr wrap="square" lIns="27432" rIns="27432" tIns="27432" bIns="27432" anchor="b"/>
          <a:lstStyle/>
          <a:p>
            <a:pPr algn="l">
              <a:spcAft>
                <a:spcPts val="400"/>
              </a:spcAft>
            </a:pPr>
            <a:r>
              <a:rPr sz="2200" b="1" i="0">
                <a:solidFill>
                  <a:srgbClr val="E34948"/>
                </a:solidFill>
              </a:rPr>
              <a:t>+22 %</a:t>
            </a:r>
          </a:p>
        </p:txBody>
      </p:sp>
      <p:sp>
        <p:nvSpPr>
          <p:cNvPr id="13" name="TextBox 12"/>
          <p:cNvSpPr txBox="1"/>
          <p:nvPr/>
        </p:nvSpPr>
        <p:spPr>
          <a:xfrm>
            <a:off x="747064" y="5677509"/>
            <a:ext cx="3236976" cy="384048"/>
          </a:xfrm>
          <a:prstGeom prst="rect">
            <a:avLst/>
          </a:prstGeom>
          <a:noFill/>
        </p:spPr>
        <p:txBody>
          <a:bodyPr wrap="square" lIns="27432" rIns="27432" tIns="27432" bIns="27432" anchor="t"/>
          <a:lstStyle/>
          <a:p>
            <a:pPr algn="l">
              <a:spcAft>
                <a:spcPts val="400"/>
              </a:spcAft>
            </a:pPr>
            <a:r>
              <a:rPr sz="1200" b="0" i="0">
                <a:solidFill>
                  <a:srgbClr val="4A5568"/>
                </a:solidFill>
              </a:rPr>
              <a:t>1 % → 0.1 % unmet (₹469 M)</a:t>
            </a:r>
          </a:p>
        </p:txBody>
      </p:sp>
      <p:sp>
        <p:nvSpPr>
          <p:cNvPr id="14" name="Rounded Rectangle 13"/>
          <p:cNvSpPr/>
          <p:nvPr/>
        </p:nvSpPr>
        <p:spPr>
          <a:xfrm>
            <a:off x="4340656" y="5120640"/>
            <a:ext cx="3511296"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7816" y="5193792"/>
            <a:ext cx="3236976" cy="528066"/>
          </a:xfrm>
          <a:prstGeom prst="rect">
            <a:avLst/>
          </a:prstGeom>
          <a:noFill/>
        </p:spPr>
        <p:txBody>
          <a:bodyPr wrap="square" lIns="27432" rIns="27432" tIns="27432" bIns="27432" anchor="b"/>
          <a:lstStyle/>
          <a:p>
            <a:pPr algn="l">
              <a:spcAft>
                <a:spcPts val="400"/>
              </a:spcAft>
            </a:pPr>
            <a:r>
              <a:rPr sz="2200" b="1" i="0">
                <a:solidFill>
                  <a:srgbClr val="13233A"/>
                </a:solidFill>
              </a:rPr>
              <a:t>₹385.1 M</a:t>
            </a:r>
          </a:p>
        </p:txBody>
      </p:sp>
      <p:sp>
        <p:nvSpPr>
          <p:cNvPr id="16" name="TextBox 15"/>
          <p:cNvSpPr txBox="1"/>
          <p:nvPr/>
        </p:nvSpPr>
        <p:spPr>
          <a:xfrm>
            <a:off x="4477816" y="5677509"/>
            <a:ext cx="3236976" cy="384048"/>
          </a:xfrm>
          <a:prstGeom prst="rect">
            <a:avLst/>
          </a:prstGeom>
          <a:noFill/>
        </p:spPr>
        <p:txBody>
          <a:bodyPr wrap="square" lIns="27432" rIns="27432" tIns="27432" bIns="27432" anchor="t"/>
          <a:lstStyle/>
          <a:p>
            <a:pPr algn="l">
              <a:spcAft>
                <a:spcPts val="400"/>
              </a:spcAft>
            </a:pPr>
            <a:r>
              <a:rPr sz="1200" b="0" i="0">
                <a:solidFill>
                  <a:srgbClr val="4A5568"/>
                </a:solidFill>
              </a:rPr>
              <a:t>design target: 1 % unmet</a:t>
            </a:r>
          </a:p>
        </p:txBody>
      </p:sp>
      <p:sp>
        <p:nvSpPr>
          <p:cNvPr id="17" name="Rounded Rectangle 16"/>
          <p:cNvSpPr/>
          <p:nvPr/>
        </p:nvSpPr>
        <p:spPr>
          <a:xfrm>
            <a:off x="8071408" y="5120640"/>
            <a:ext cx="3511296" cy="9601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8568" y="5193792"/>
            <a:ext cx="3236976" cy="528066"/>
          </a:xfrm>
          <a:prstGeom prst="rect">
            <a:avLst/>
          </a:prstGeom>
          <a:noFill/>
        </p:spPr>
        <p:txBody>
          <a:bodyPr wrap="square" lIns="27432" rIns="27432" tIns="27432" bIns="27432" anchor="b"/>
          <a:lstStyle/>
          <a:p>
            <a:pPr algn="l">
              <a:spcAft>
                <a:spcPts val="400"/>
              </a:spcAft>
            </a:pPr>
            <a:r>
              <a:rPr sz="2200" b="1" i="0">
                <a:solidFill>
                  <a:srgbClr val="1BAF7A"/>
                </a:solidFill>
              </a:rPr>
              <a:t>-28 %</a:t>
            </a:r>
          </a:p>
        </p:txBody>
      </p:sp>
      <p:sp>
        <p:nvSpPr>
          <p:cNvPr id="19" name="TextBox 18"/>
          <p:cNvSpPr txBox="1"/>
          <p:nvPr/>
        </p:nvSpPr>
        <p:spPr>
          <a:xfrm>
            <a:off x="8208568" y="5677509"/>
            <a:ext cx="3236976" cy="384048"/>
          </a:xfrm>
          <a:prstGeom prst="rect">
            <a:avLst/>
          </a:prstGeom>
          <a:noFill/>
        </p:spPr>
        <p:txBody>
          <a:bodyPr wrap="square" lIns="27432" rIns="27432" tIns="27432" bIns="27432" anchor="t"/>
          <a:lstStyle/>
          <a:p>
            <a:pPr algn="l">
              <a:spcAft>
                <a:spcPts val="400"/>
              </a:spcAft>
            </a:pPr>
            <a:r>
              <a:rPr sz="1200" b="0" i="0">
                <a:solidFill>
                  <a:srgbClr val="4A5568"/>
                </a:solidFill>
              </a:rPr>
              <a:t>1 % → 10 % unmet (₹279 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UNCERTAINTY</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Monte Carlo uncertainty analysis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26 / 34</a:t>
            </a:r>
          </a:p>
        </p:txBody>
      </p:sp>
      <p:pic>
        <p:nvPicPr>
          <p:cNvPr id="9" name="sens_montecarlo" descr="Project figure sens_montecarlo.png: sens montecarlo"/>
          <p:cNvPicPr>
            <a:picLocks noChangeAspect="1"/>
          </p:cNvPicPr>
          <p:nvPr/>
        </p:nvPicPr>
        <p:blipFill>
          <a:blip r:embed="rId2"/>
          <a:stretch>
            <a:fillRect/>
          </a:stretch>
        </p:blipFill>
        <p:spPr>
          <a:xfrm>
            <a:off x="609904" y="1261872"/>
            <a:ext cx="10972800" cy="3413760"/>
          </a:xfrm>
          <a:prstGeom prst="rect">
            <a:avLst/>
          </a:prstGeom>
          <a:ln w="9525">
            <a:solidFill>
              <a:srgbClr val="D5DBE1"/>
            </a:solidFill>
          </a:ln>
        </p:spPr>
      </p:pic>
      <p:sp>
        <p:nvSpPr>
          <p:cNvPr id="10" name="TextBox 9"/>
          <p:cNvSpPr txBox="1"/>
          <p:nvPr/>
        </p:nvSpPr>
        <p:spPr>
          <a:xfrm>
            <a:off x="609904" y="4693920"/>
            <a:ext cx="10972800" cy="274320"/>
          </a:xfrm>
          <a:prstGeom prst="rect">
            <a:avLst/>
          </a:prstGeom>
          <a:noFill/>
        </p:spPr>
        <p:txBody>
          <a:bodyPr wrap="square" lIns="27432" rIns="27432" tIns="27432" bIns="27432" anchor="t"/>
          <a:lstStyle/>
          <a:p>
            <a:pPr algn="l">
              <a:spcAft>
                <a:spcPts val="400"/>
              </a:spcAft>
            </a:pPr>
            <a:r>
              <a:rPr sz="1100" b="0" i="1">
                <a:solidFill>
                  <a:srgbClr val="5F6B78"/>
                </a:solidFill>
              </a:rPr>
              <a:t>Distributions of NPC and LPSP, and the influence of each input (|Spearman ρ|).</a:t>
            </a:r>
          </a:p>
        </p:txBody>
      </p:sp>
      <p:graphicFrame>
        <p:nvGraphicFramePr>
          <p:cNvPr id="11" name="Table 10"/>
          <p:cNvGraphicFramePr>
            <a:graphicFrameLocks noGrp="1"/>
          </p:cNvGraphicFramePr>
          <p:nvPr/>
        </p:nvGraphicFramePr>
        <p:xfrm>
          <a:off x="609904" y="4873752"/>
          <a:ext cx="4846320" cy="1280160"/>
        </p:xfrm>
        <a:graphic>
          <a:graphicData uri="http://schemas.openxmlformats.org/drawingml/2006/table">
            <a:tbl>
              <a:tblPr firstRow="0" bandRow="0">
                <a:tableStyleId>{5940675A-B579-460E-94D1-54222C63F5DA}</a:tableStyleId>
              </a:tblPr>
              <a:tblGrid>
                <a:gridCol w="2743200"/>
                <a:gridCol w="2103120"/>
              </a:tblGrid>
              <a:tr h="256032">
                <a:tc>
                  <a:txBody>
                    <a:bodyPr wrap="square"/>
                    <a:lstStyle/>
                    <a:p>
                      <a:r>
                        <a:rPr sz="1100" b="1" i="0">
                          <a:solidFill>
                            <a:srgbClr val="FFFFFF"/>
                          </a:solidFill>
                        </a:rPr>
                        <a:t>Sampled input</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100" b="1" i="0">
                          <a:solidFill>
                            <a:srgbClr val="FFFFFF"/>
                          </a:solidFill>
                        </a:rPr>
                        <a:t>Distribution</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r>
              <a:tr h="256032">
                <a:tc>
                  <a:txBody>
                    <a:bodyPr wrap="square"/>
                    <a:lstStyle/>
                    <a:p>
                      <a:r>
                        <a:rPr sz="1100" b="1" i="0">
                          <a:solidFill>
                            <a:srgbClr val="13233A"/>
                          </a:solidFill>
                        </a:rPr>
                        <a:t>PV, battery, converter prices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100" b="0" i="0">
                          <a:solidFill>
                            <a:srgbClr val="4A5568"/>
                          </a:solidFill>
                        </a:rPr>
                        <a:t>uniform ±20 %</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256032">
                <a:tc>
                  <a:txBody>
                    <a:bodyPr wrap="square"/>
                    <a:lstStyle/>
                    <a:p>
                      <a:r>
                        <a:rPr sz="1100" b="1" i="0">
                          <a:solidFill>
                            <a:srgbClr val="13233A"/>
                          </a:solidFill>
                        </a:rPr>
                        <a:t>Real discount rate, cycle life</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100" b="0" i="0">
                          <a:solidFill>
                            <a:srgbClr val="4A5568"/>
                          </a:solidFill>
                        </a:rPr>
                        <a:t>uniform ±20 %</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256032">
                <a:tc>
                  <a:txBody>
                    <a:bodyPr wrap="square"/>
                    <a:lstStyle/>
                    <a:p>
                      <a:r>
                        <a:rPr sz="1100" b="1" i="0">
                          <a:solidFill>
                            <a:srgbClr val="13233A"/>
                          </a:solidFill>
                        </a:rPr>
                        <a:t>PV derating · demand</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100" b="0" i="0">
                          <a:solidFill>
                            <a:srgbClr val="4A5568"/>
                          </a:solidFill>
                        </a:rPr>
                        <a:t>±6 % · ±10 %</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256032">
                <a:tc>
                  <a:txBody>
                    <a:bodyPr wrap="square"/>
                    <a:lstStyle/>
                    <a:p>
                      <a:r>
                        <a:rPr sz="1100" b="1" i="0">
                          <a:solidFill>
                            <a:srgbClr val="13233A"/>
                          </a:solidFill>
                        </a:rPr>
                        <a:t>Weather year</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100" b="0" i="0">
                          <a:solidFill>
                            <a:srgbClr val="4A5568"/>
                          </a:solidFill>
                        </a:rPr>
                        <a:t>uniform, 2013–2024</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bl>
          </a:graphicData>
        </a:graphic>
      </p:graphicFrame>
      <p:sp>
        <p:nvSpPr>
          <p:cNvPr id="12" name="Rounded Rectangle 11"/>
          <p:cNvSpPr/>
          <p:nvPr/>
        </p:nvSpPr>
        <p:spPr>
          <a:xfrm>
            <a:off x="5684824" y="4873752"/>
            <a:ext cx="2834640" cy="12801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21984" y="4946904"/>
            <a:ext cx="2560320" cy="704088"/>
          </a:xfrm>
          <a:prstGeom prst="rect">
            <a:avLst/>
          </a:prstGeom>
          <a:noFill/>
        </p:spPr>
        <p:txBody>
          <a:bodyPr wrap="square" lIns="27432" rIns="27432" tIns="27432" bIns="27432" anchor="b"/>
          <a:lstStyle/>
          <a:p>
            <a:pPr algn="l">
              <a:spcAft>
                <a:spcPts val="400"/>
              </a:spcAft>
            </a:pPr>
            <a:r>
              <a:rPr sz="1900" b="1" i="0">
                <a:solidFill>
                  <a:srgbClr val="2E6F95"/>
                </a:solidFill>
              </a:rPr>
              <a:t>₹343 M–436 M</a:t>
            </a:r>
          </a:p>
        </p:txBody>
      </p:sp>
      <p:sp>
        <p:nvSpPr>
          <p:cNvPr id="14" name="TextBox 13"/>
          <p:cNvSpPr txBox="1"/>
          <p:nvPr/>
        </p:nvSpPr>
        <p:spPr>
          <a:xfrm>
            <a:off x="5821984" y="5616244"/>
            <a:ext cx="2560320" cy="512063"/>
          </a:xfrm>
          <a:prstGeom prst="rect">
            <a:avLst/>
          </a:prstGeom>
          <a:noFill/>
        </p:spPr>
        <p:txBody>
          <a:bodyPr wrap="square" lIns="27432" rIns="27432" tIns="27432" bIns="27432" anchor="t"/>
          <a:lstStyle/>
          <a:p>
            <a:pPr algn="l">
              <a:spcAft>
                <a:spcPts val="400"/>
              </a:spcAft>
            </a:pPr>
            <a:r>
              <a:rPr sz="1200" b="0" i="0">
                <a:solidFill>
                  <a:srgbClr val="4A5568"/>
                </a:solidFill>
              </a:rPr>
              <a:t>5th–95th percentile of NPC</a:t>
            </a:r>
          </a:p>
        </p:txBody>
      </p:sp>
      <p:sp>
        <p:nvSpPr>
          <p:cNvPr id="15" name="Rounded Rectangle 14"/>
          <p:cNvSpPr/>
          <p:nvPr/>
        </p:nvSpPr>
        <p:spPr>
          <a:xfrm>
            <a:off x="8702344" y="4873752"/>
            <a:ext cx="2880360" cy="12801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39504" y="4946904"/>
            <a:ext cx="2606040" cy="704088"/>
          </a:xfrm>
          <a:prstGeom prst="rect">
            <a:avLst/>
          </a:prstGeom>
          <a:noFill/>
        </p:spPr>
        <p:txBody>
          <a:bodyPr wrap="square" lIns="27432" rIns="27432" tIns="27432" bIns="27432" anchor="b"/>
          <a:lstStyle/>
          <a:p>
            <a:pPr algn="l">
              <a:spcAft>
                <a:spcPts val="400"/>
              </a:spcAft>
            </a:pPr>
            <a:r>
              <a:rPr sz="2200" b="1" i="0">
                <a:solidFill>
                  <a:srgbClr val="E34948"/>
                </a:solidFill>
              </a:rPr>
              <a:t>60 %</a:t>
            </a:r>
          </a:p>
        </p:txBody>
      </p:sp>
      <p:sp>
        <p:nvSpPr>
          <p:cNvPr id="17" name="TextBox 16"/>
          <p:cNvSpPr txBox="1"/>
          <p:nvPr/>
        </p:nvSpPr>
        <p:spPr>
          <a:xfrm>
            <a:off x="8839504" y="5616244"/>
            <a:ext cx="2606040" cy="512063"/>
          </a:xfrm>
          <a:prstGeom prst="rect">
            <a:avLst/>
          </a:prstGeom>
          <a:noFill/>
        </p:spPr>
        <p:txBody>
          <a:bodyPr wrap="square" lIns="27432" rIns="27432" tIns="27432" bIns="27432" anchor="t"/>
          <a:lstStyle/>
          <a:p>
            <a:pPr algn="l">
              <a:spcAft>
                <a:spcPts val="400"/>
              </a:spcAft>
            </a:pPr>
            <a:r>
              <a:rPr sz="1200" b="0" i="0">
                <a:solidFill>
                  <a:srgbClr val="4A5568"/>
                </a:solidFill>
              </a:rPr>
              <a:t>of samples miss the 1 % target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SCENARIOS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Load growth and staged expansion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27 / 34</a:t>
            </a:r>
          </a:p>
        </p:txBody>
      </p:sp>
      <p:pic>
        <p:nvPicPr>
          <p:cNvPr id="9" name="growth_npc" descr="Project figure growth_npc.png: growth npc"/>
          <p:cNvPicPr>
            <a:picLocks noChangeAspect="1"/>
          </p:cNvPicPr>
          <p:nvPr/>
        </p:nvPicPr>
        <p:blipFill>
          <a:blip r:embed="rId2"/>
          <a:stretch>
            <a:fillRect/>
          </a:stretch>
        </p:blipFill>
        <p:spPr>
          <a:xfrm>
            <a:off x="609904" y="1261872"/>
            <a:ext cx="5120640" cy="2530198"/>
          </a:xfrm>
          <a:prstGeom prst="rect">
            <a:avLst/>
          </a:prstGeom>
          <a:ln w="9525">
            <a:solidFill>
              <a:srgbClr val="D5DBE1"/>
            </a:solidFill>
          </a:ln>
        </p:spPr>
      </p:pic>
      <p:pic>
        <p:nvPicPr>
          <p:cNvPr id="10" name="growth_capacity" descr="Project figure growth_capacity.png: growth capacity"/>
          <p:cNvPicPr>
            <a:picLocks noChangeAspect="1"/>
          </p:cNvPicPr>
          <p:nvPr/>
        </p:nvPicPr>
        <p:blipFill>
          <a:blip r:embed="rId3"/>
          <a:stretch>
            <a:fillRect/>
          </a:stretch>
        </p:blipFill>
        <p:spPr>
          <a:xfrm>
            <a:off x="5913424" y="1552492"/>
            <a:ext cx="5669280" cy="2070519"/>
          </a:xfrm>
          <a:prstGeom prst="rect">
            <a:avLst/>
          </a:prstGeom>
          <a:ln w="9525">
            <a:solidFill>
              <a:srgbClr val="D5DBE1"/>
            </a:solidFill>
          </a:ln>
        </p:spPr>
      </p:pic>
      <p:sp>
        <p:nvSpPr>
          <p:cNvPr id="11" name="TextBox 10"/>
          <p:cNvSpPr txBox="1"/>
          <p:nvPr/>
        </p:nvSpPr>
        <p:spPr>
          <a:xfrm>
            <a:off x="609904" y="3819502"/>
            <a:ext cx="5120640" cy="274320"/>
          </a:xfrm>
          <a:prstGeom prst="rect">
            <a:avLst/>
          </a:prstGeom>
          <a:noFill/>
        </p:spPr>
        <p:txBody>
          <a:bodyPr wrap="square" lIns="27432" rIns="27432" tIns="27432" bIns="27432" anchor="t"/>
          <a:lstStyle/>
          <a:p>
            <a:pPr algn="l">
              <a:spcAft>
                <a:spcPts val="400"/>
              </a:spcAft>
            </a:pPr>
            <a:r>
              <a:rPr sz="1100" b="0" i="1">
                <a:solidFill>
                  <a:srgbClr val="5F6B78"/>
                </a:solidFill>
              </a:rPr>
              <a:t>NPC against growth rate.</a:t>
            </a:r>
          </a:p>
        </p:txBody>
      </p:sp>
      <p:sp>
        <p:nvSpPr>
          <p:cNvPr id="12" name="TextBox 11"/>
          <p:cNvSpPr txBox="1"/>
          <p:nvPr/>
        </p:nvSpPr>
        <p:spPr>
          <a:xfrm>
            <a:off x="5913424" y="3650443"/>
            <a:ext cx="5669280" cy="274320"/>
          </a:xfrm>
          <a:prstGeom prst="rect">
            <a:avLst/>
          </a:prstGeom>
          <a:noFill/>
        </p:spPr>
        <p:txBody>
          <a:bodyPr wrap="square" lIns="27432" rIns="27432" tIns="27432" bIns="27432" anchor="t"/>
          <a:lstStyle/>
          <a:p>
            <a:pPr algn="l">
              <a:spcAft>
                <a:spcPts val="400"/>
              </a:spcAft>
            </a:pPr>
            <a:r>
              <a:rPr sz="1100" b="0" i="1">
                <a:solidFill>
                  <a:srgbClr val="5F6B78"/>
                </a:solidFill>
              </a:rPr>
              <a:t>Installed PV and battery, year by year (10 %/yr).</a:t>
            </a:r>
          </a:p>
        </p:txBody>
      </p:sp>
      <p:sp>
        <p:nvSpPr>
          <p:cNvPr id="13" name="Rounded Rectangle 12"/>
          <p:cNvSpPr/>
          <p:nvPr/>
        </p:nvSpPr>
        <p:spPr>
          <a:xfrm>
            <a:off x="609904" y="434340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064" y="4416552"/>
            <a:ext cx="2331720" cy="578358"/>
          </a:xfrm>
          <a:prstGeom prst="rect">
            <a:avLst/>
          </a:prstGeom>
          <a:noFill/>
        </p:spPr>
        <p:txBody>
          <a:bodyPr wrap="square" lIns="27432" rIns="27432" tIns="27432" bIns="27432" anchor="b"/>
          <a:lstStyle/>
          <a:p>
            <a:pPr algn="l">
              <a:spcAft>
                <a:spcPts val="400"/>
              </a:spcAft>
            </a:pPr>
            <a:r>
              <a:rPr sz="2000" b="1" i="0">
                <a:solidFill>
                  <a:srgbClr val="13233A"/>
                </a:solidFill>
              </a:rPr>
              <a:t>₹1,305 M</a:t>
            </a:r>
          </a:p>
        </p:txBody>
      </p:sp>
      <p:sp>
        <p:nvSpPr>
          <p:cNvPr id="15" name="TextBox 14"/>
          <p:cNvSpPr txBox="1"/>
          <p:nvPr/>
        </p:nvSpPr>
        <p:spPr>
          <a:xfrm>
            <a:off x="747064" y="495330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build once for year 15</a:t>
            </a:r>
          </a:p>
        </p:txBody>
      </p:sp>
      <p:sp>
        <p:nvSpPr>
          <p:cNvPr id="16" name="Rounded Rectangle 15"/>
          <p:cNvSpPr/>
          <p:nvPr/>
        </p:nvSpPr>
        <p:spPr>
          <a:xfrm>
            <a:off x="3398824" y="434340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5984" y="4416552"/>
            <a:ext cx="2331720" cy="578358"/>
          </a:xfrm>
          <a:prstGeom prst="rect">
            <a:avLst/>
          </a:prstGeom>
          <a:noFill/>
        </p:spPr>
        <p:txBody>
          <a:bodyPr wrap="square" lIns="27432" rIns="27432" tIns="27432" bIns="27432" anchor="b"/>
          <a:lstStyle/>
          <a:p>
            <a:pPr algn="l">
              <a:spcAft>
                <a:spcPts val="400"/>
              </a:spcAft>
            </a:pPr>
            <a:r>
              <a:rPr sz="2000" b="1" i="0">
                <a:solidFill>
                  <a:srgbClr val="1BAF7A"/>
                </a:solidFill>
              </a:rPr>
              <a:t>₹880 M</a:t>
            </a:r>
          </a:p>
        </p:txBody>
      </p:sp>
      <p:sp>
        <p:nvSpPr>
          <p:cNvPr id="18" name="TextBox 17"/>
          <p:cNvSpPr txBox="1"/>
          <p:nvPr/>
        </p:nvSpPr>
        <p:spPr>
          <a:xfrm>
            <a:off x="3535984" y="495330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staged: years 1, 6, 11</a:t>
            </a:r>
          </a:p>
        </p:txBody>
      </p:sp>
      <p:sp>
        <p:nvSpPr>
          <p:cNvPr id="19" name="Rounded Rectangle 18"/>
          <p:cNvSpPr/>
          <p:nvPr/>
        </p:nvSpPr>
        <p:spPr>
          <a:xfrm>
            <a:off x="6187744" y="434340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4904" y="4416552"/>
            <a:ext cx="2331720" cy="578358"/>
          </a:xfrm>
          <a:prstGeom prst="rect">
            <a:avLst/>
          </a:prstGeom>
          <a:noFill/>
        </p:spPr>
        <p:txBody>
          <a:bodyPr wrap="square" lIns="27432" rIns="27432" tIns="27432" bIns="27432" anchor="b"/>
          <a:lstStyle/>
          <a:p>
            <a:pPr algn="l">
              <a:spcAft>
                <a:spcPts val="400"/>
              </a:spcAft>
            </a:pPr>
            <a:r>
              <a:rPr sz="2200" b="1" i="0">
                <a:solidFill>
                  <a:srgbClr val="1BAF7A"/>
                </a:solidFill>
              </a:rPr>
              <a:t>−33 %</a:t>
            </a:r>
          </a:p>
        </p:txBody>
      </p:sp>
      <p:sp>
        <p:nvSpPr>
          <p:cNvPr id="21" name="TextBox 20"/>
          <p:cNvSpPr txBox="1"/>
          <p:nvPr/>
        </p:nvSpPr>
        <p:spPr>
          <a:xfrm>
            <a:off x="6324904" y="495330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lifecycle cost saved</a:t>
            </a:r>
          </a:p>
        </p:txBody>
      </p:sp>
      <p:sp>
        <p:nvSpPr>
          <p:cNvPr id="22" name="Rounded Rectangle 21"/>
          <p:cNvSpPr/>
          <p:nvPr/>
        </p:nvSpPr>
        <p:spPr>
          <a:xfrm>
            <a:off x="8976664" y="4343400"/>
            <a:ext cx="2606040" cy="10515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3824" y="4416552"/>
            <a:ext cx="2331720" cy="578358"/>
          </a:xfrm>
          <a:prstGeom prst="rect">
            <a:avLst/>
          </a:prstGeom>
          <a:noFill/>
        </p:spPr>
        <p:txBody>
          <a:bodyPr wrap="square" lIns="27432" rIns="27432" tIns="27432" bIns="27432" anchor="b"/>
          <a:lstStyle/>
          <a:p>
            <a:pPr algn="l">
              <a:spcAft>
                <a:spcPts val="400"/>
              </a:spcAft>
            </a:pPr>
            <a:r>
              <a:rPr sz="2000" b="1" i="0">
                <a:solidFill>
                  <a:srgbClr val="2E6F95"/>
                </a:solidFill>
              </a:rPr>
              <a:t>₹13.08/kWh</a:t>
            </a:r>
          </a:p>
        </p:txBody>
      </p:sp>
      <p:sp>
        <p:nvSpPr>
          <p:cNvPr id="24" name="TextBox 23"/>
          <p:cNvSpPr txBox="1"/>
          <p:nvPr/>
        </p:nvSpPr>
        <p:spPr>
          <a:xfrm>
            <a:off x="9113824" y="4953304"/>
            <a:ext cx="2331720" cy="420623"/>
          </a:xfrm>
          <a:prstGeom prst="rect">
            <a:avLst/>
          </a:prstGeom>
          <a:noFill/>
        </p:spPr>
        <p:txBody>
          <a:bodyPr wrap="square" lIns="27432" rIns="27432" tIns="27432" bIns="27432" anchor="t"/>
          <a:lstStyle/>
          <a:p>
            <a:pPr algn="l">
              <a:spcAft>
                <a:spcPts val="400"/>
              </a:spcAft>
            </a:pPr>
            <a:r>
              <a:rPr sz="1200" b="0" i="0">
                <a:solidFill>
                  <a:srgbClr val="4A5568"/>
                </a:solidFill>
              </a:rPr>
              <a:t>staged LCOE (paper: 11.96–18.47)</a:t>
            </a:r>
          </a:p>
        </p:txBody>
      </p:sp>
      <p:sp>
        <p:nvSpPr>
          <p:cNvPr id="25" name="Rounded Rectangle 24"/>
          <p:cNvSpPr/>
          <p:nvPr/>
        </p:nvSpPr>
        <p:spPr>
          <a:xfrm>
            <a:off x="609904" y="5559552"/>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784" y="5559552"/>
            <a:ext cx="10607040" cy="566928"/>
          </a:xfrm>
          <a:prstGeom prst="rect">
            <a:avLst/>
          </a:prstGeom>
          <a:noFill/>
        </p:spPr>
        <p:txBody>
          <a:bodyPr wrap="square" lIns="27432" rIns="27432" tIns="27432" bIns="27432" anchor="ctr"/>
          <a:lstStyle/>
          <a:p>
            <a:pPr algn="l">
              <a:spcAft>
                <a:spcPts val="400"/>
              </a:spcAft>
            </a:pPr>
            <a:r>
              <a:rPr sz="1400" b="1" i="0">
                <a:solidFill>
                  <a:srgbClr val="E8A33D"/>
                </a:solidFill>
              </a:rPr>
              <a:t>Takeaway  </a:t>
            </a:r>
            <a:r>
              <a:rPr sz="1400" b="0" i="0">
                <a:solidFill>
                  <a:srgbClr val="FFFFFF"/>
                </a:solidFill>
              </a:rPr>
              <a:t>Under growth, build in stages: later spending is discounted and capacity is not idle for years.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SCENARIOS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Grid-connected alternatives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28 / 34</a:t>
            </a:r>
          </a:p>
        </p:txBody>
      </p:sp>
      <p:pic>
        <p:nvPicPr>
          <p:cNvPr id="9" name="grid_scenarios" descr="Project figure grid_scenarios.png: grid scenarios"/>
          <p:cNvPicPr>
            <a:picLocks noChangeAspect="1"/>
          </p:cNvPicPr>
          <p:nvPr/>
        </p:nvPicPr>
        <p:blipFill>
          <a:blip r:embed="rId2"/>
          <a:stretch>
            <a:fillRect/>
          </a:stretch>
        </p:blipFill>
        <p:spPr>
          <a:xfrm>
            <a:off x="609904" y="1261872"/>
            <a:ext cx="5394960" cy="2637536"/>
          </a:xfrm>
          <a:prstGeom prst="rect">
            <a:avLst/>
          </a:prstGeom>
          <a:ln w="9525">
            <a:solidFill>
              <a:srgbClr val="D5DBE1"/>
            </a:solidFill>
          </a:ln>
        </p:spPr>
      </p:pic>
      <p:pic>
        <p:nvPicPr>
          <p:cNvPr id="10" name="grid_battery" descr="Project figure grid_battery.png: grid battery"/>
          <p:cNvPicPr>
            <a:picLocks noChangeAspect="1"/>
          </p:cNvPicPr>
          <p:nvPr/>
        </p:nvPicPr>
        <p:blipFill>
          <a:blip r:embed="rId3"/>
          <a:stretch>
            <a:fillRect/>
          </a:stretch>
        </p:blipFill>
        <p:spPr>
          <a:xfrm>
            <a:off x="6187744" y="1261872"/>
            <a:ext cx="5394960" cy="2665744"/>
          </a:xfrm>
          <a:prstGeom prst="rect">
            <a:avLst/>
          </a:prstGeom>
          <a:ln w="9525">
            <a:solidFill>
              <a:srgbClr val="D5DBE1"/>
            </a:solidFill>
          </a:ln>
        </p:spPr>
      </p:pic>
      <p:sp>
        <p:nvSpPr>
          <p:cNvPr id="11" name="TextBox 10"/>
          <p:cNvSpPr txBox="1"/>
          <p:nvPr/>
        </p:nvSpPr>
        <p:spPr>
          <a:xfrm>
            <a:off x="609904" y="3926840"/>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Four ways to supply the same demand.</a:t>
            </a:r>
          </a:p>
        </p:txBody>
      </p:sp>
      <p:sp>
        <p:nvSpPr>
          <p:cNvPr id="12" name="TextBox 11"/>
          <p:cNvSpPr txBox="1"/>
          <p:nvPr/>
        </p:nvSpPr>
        <p:spPr>
          <a:xfrm>
            <a:off x="6187744" y="3955048"/>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NPC as battery is added on the grid.</a:t>
            </a:r>
          </a:p>
        </p:txBody>
      </p:sp>
      <p:sp>
        <p:nvSpPr>
          <p:cNvPr id="13" name="Rounded Rectangle 12"/>
          <p:cNvSpPr/>
          <p:nvPr/>
        </p:nvSpPr>
        <p:spPr>
          <a:xfrm>
            <a:off x="609904" y="4160520"/>
            <a:ext cx="5394960" cy="128016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 y="4270248"/>
            <a:ext cx="5065776" cy="365760"/>
          </a:xfrm>
          <a:prstGeom prst="rect">
            <a:avLst/>
          </a:prstGeom>
          <a:noFill/>
        </p:spPr>
        <p:txBody>
          <a:bodyPr wrap="square" lIns="27432" rIns="27432" tIns="27432" bIns="27432" anchor="t"/>
          <a:lstStyle/>
          <a:p>
            <a:pPr algn="l">
              <a:spcAft>
                <a:spcPts val="400"/>
              </a:spcAft>
            </a:pPr>
            <a:r>
              <a:rPr sz="1400" b="1" i="0">
                <a:solidFill>
                  <a:srgbClr val="13233A"/>
                </a:solidFill>
              </a:rPr>
              <a:t>Assumptions</a:t>
            </a:r>
          </a:p>
        </p:txBody>
      </p:sp>
      <p:sp>
        <p:nvSpPr>
          <p:cNvPr id="15" name="TextBox 14"/>
          <p:cNvSpPr txBox="1"/>
          <p:nvPr/>
        </p:nvSpPr>
        <p:spPr>
          <a:xfrm>
            <a:off x="774496" y="4681728"/>
            <a:ext cx="5065776" cy="685799"/>
          </a:xfrm>
          <a:prstGeom prst="rect">
            <a:avLst/>
          </a:prstGeom>
          <a:noFill/>
        </p:spPr>
        <p:txBody>
          <a:bodyPr wrap="square" lIns="27432" rIns="27432" tIns="27432" bIns="27432" anchor="t"/>
          <a:lstStyle/>
          <a:p>
            <a:pPr algn="l" marL="201168" indent="-182880">
              <a:spcAft>
                <a:spcPts val="400"/>
              </a:spcAft>
              <a:buChar char="•"/>
            </a:pPr>
            <a:r>
              <a:rPr sz="1300" b="0" i="0">
                <a:solidFill>
                  <a:srgbClr val="4A5568"/>
                </a:solidFill>
              </a:rPr>
              <a:t>Buy ₹5.96/kWh; export ₹5.96/kWh up to 644 kW</a:t>
            </a:r>
          </a:p>
          <a:p>
            <a:pPr algn="l" marL="201168" indent="-182880">
              <a:spcAft>
                <a:spcPts val="400"/>
              </a:spcAft>
              <a:buChar char="•"/>
            </a:pPr>
            <a:r>
              <a:rPr sz="1300" b="0" i="0">
                <a:solidFill>
                  <a:srgbClr val="4A5568"/>
                </a:solidFill>
              </a:rPr>
              <a:t>Grid always available: no outages modelled</a:t>
            </a:r>
          </a:p>
        </p:txBody>
      </p:sp>
      <p:sp>
        <p:nvSpPr>
          <p:cNvPr id="16" name="Rounded Rectangle 15"/>
          <p:cNvSpPr/>
          <p:nvPr/>
        </p:nvSpPr>
        <p:spPr>
          <a:xfrm>
            <a:off x="6187744" y="4160520"/>
            <a:ext cx="2606040" cy="12801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904" y="4233672"/>
            <a:ext cx="2331720" cy="704088"/>
          </a:xfrm>
          <a:prstGeom prst="rect">
            <a:avLst/>
          </a:prstGeom>
          <a:noFill/>
        </p:spPr>
        <p:txBody>
          <a:bodyPr wrap="square" lIns="27432" rIns="27432" tIns="27432" bIns="27432" anchor="b"/>
          <a:lstStyle/>
          <a:p>
            <a:pPr algn="l">
              <a:spcAft>
                <a:spcPts val="400"/>
              </a:spcAft>
            </a:pPr>
            <a:r>
              <a:rPr sz="2000" b="1" i="0">
                <a:solidFill>
                  <a:srgbClr val="1F7A72"/>
                </a:solidFill>
              </a:rPr>
              <a:t>₹142 M</a:t>
            </a:r>
          </a:p>
        </p:txBody>
      </p:sp>
      <p:sp>
        <p:nvSpPr>
          <p:cNvPr id="18" name="TextBox 17"/>
          <p:cNvSpPr txBox="1"/>
          <p:nvPr/>
        </p:nvSpPr>
        <p:spPr>
          <a:xfrm>
            <a:off x="6324904" y="4903012"/>
            <a:ext cx="2331720" cy="512063"/>
          </a:xfrm>
          <a:prstGeom prst="rect">
            <a:avLst/>
          </a:prstGeom>
          <a:noFill/>
        </p:spPr>
        <p:txBody>
          <a:bodyPr wrap="square" lIns="27432" rIns="27432" tIns="27432" bIns="27432" anchor="t"/>
          <a:lstStyle/>
          <a:p>
            <a:pPr algn="l">
              <a:spcAft>
                <a:spcPts val="400"/>
              </a:spcAft>
            </a:pPr>
            <a:r>
              <a:rPr sz="1200" b="0" i="0">
                <a:solidFill>
                  <a:srgbClr val="4A5568"/>
                </a:solidFill>
              </a:rPr>
              <a:t>grid + 2,400 kW PV (₹4.11/kWh)</a:t>
            </a:r>
          </a:p>
        </p:txBody>
      </p:sp>
      <p:sp>
        <p:nvSpPr>
          <p:cNvPr id="19" name="Rounded Rectangle 18"/>
          <p:cNvSpPr/>
          <p:nvPr/>
        </p:nvSpPr>
        <p:spPr>
          <a:xfrm>
            <a:off x="8976664" y="4160520"/>
            <a:ext cx="2606040" cy="128016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3824" y="4233672"/>
            <a:ext cx="2331720" cy="704088"/>
          </a:xfrm>
          <a:prstGeom prst="rect">
            <a:avLst/>
          </a:prstGeom>
          <a:noFill/>
        </p:spPr>
        <p:txBody>
          <a:bodyPr wrap="square" lIns="27432" rIns="27432" tIns="27432" bIns="27432" anchor="b"/>
          <a:lstStyle/>
          <a:p>
            <a:pPr algn="l">
              <a:spcAft>
                <a:spcPts val="400"/>
              </a:spcAft>
            </a:pPr>
            <a:r>
              <a:rPr sz="2200" b="1" i="0">
                <a:solidFill>
                  <a:srgbClr val="2A78D6"/>
                </a:solidFill>
              </a:rPr>
              <a:t>0 kWh</a:t>
            </a:r>
          </a:p>
        </p:txBody>
      </p:sp>
      <p:sp>
        <p:nvSpPr>
          <p:cNvPr id="21" name="TextBox 20"/>
          <p:cNvSpPr txBox="1"/>
          <p:nvPr/>
        </p:nvSpPr>
        <p:spPr>
          <a:xfrm>
            <a:off x="9113824" y="4903012"/>
            <a:ext cx="2331720" cy="512063"/>
          </a:xfrm>
          <a:prstGeom prst="rect">
            <a:avLst/>
          </a:prstGeom>
          <a:noFill/>
        </p:spPr>
        <p:txBody>
          <a:bodyPr wrap="square" lIns="27432" rIns="27432" tIns="27432" bIns="27432" anchor="t"/>
          <a:lstStyle/>
          <a:p>
            <a:pPr algn="l">
              <a:spcAft>
                <a:spcPts val="400"/>
              </a:spcAft>
            </a:pPr>
            <a:r>
              <a:rPr sz="1200" b="0" i="0">
                <a:solidFill>
                  <a:srgbClr val="4A5568"/>
                </a:solidFill>
              </a:rPr>
              <a:t>battery chosen at every export price</a:t>
            </a:r>
          </a:p>
        </p:txBody>
      </p:sp>
      <p:sp>
        <p:nvSpPr>
          <p:cNvPr id="22" name="Rounded Rectangle 21"/>
          <p:cNvSpPr/>
          <p:nvPr/>
        </p:nvSpPr>
        <p:spPr>
          <a:xfrm>
            <a:off x="609904" y="5577840"/>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784" y="5577840"/>
            <a:ext cx="10607040" cy="566928"/>
          </a:xfrm>
          <a:prstGeom prst="rect">
            <a:avLst/>
          </a:prstGeom>
          <a:noFill/>
        </p:spPr>
        <p:txBody>
          <a:bodyPr wrap="square" lIns="27432" rIns="27432" tIns="27432" bIns="27432" anchor="ctr"/>
          <a:lstStyle/>
          <a:p>
            <a:pPr algn="l">
              <a:spcAft>
                <a:spcPts val="400"/>
              </a:spcAft>
            </a:pPr>
            <a:r>
              <a:rPr sz="1400" b="1" i="0">
                <a:solidFill>
                  <a:srgbClr val="E8A33D"/>
                </a:solidFill>
              </a:rPr>
              <a:t>Takeaway  </a:t>
            </a:r>
            <a:r>
              <a:rPr sz="1400" b="0" i="0">
                <a:solidFill>
                  <a:srgbClr val="FFFFFF"/>
                </a:solidFill>
              </a:rPr>
              <a:t>With a reliable grid, storage is not worth it: the grid is the cheapest battery.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SUPERCAPACITOR</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Supercapacitor: what it would see</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29 / 34</a:t>
            </a:r>
          </a:p>
        </p:txBody>
      </p:sp>
      <p:pic>
        <p:nvPicPr>
          <p:cNvPr id="9" name="sc_resolution" descr="Project figure sc_resolution.png: sc resolution"/>
          <p:cNvPicPr>
            <a:picLocks noChangeAspect="1"/>
          </p:cNvPicPr>
          <p:nvPr/>
        </p:nvPicPr>
        <p:blipFill>
          <a:blip r:embed="rId2"/>
          <a:stretch>
            <a:fillRect/>
          </a:stretch>
        </p:blipFill>
        <p:spPr>
          <a:xfrm>
            <a:off x="609904" y="1261872"/>
            <a:ext cx="5394960" cy="1961803"/>
          </a:xfrm>
          <a:prstGeom prst="rect">
            <a:avLst/>
          </a:prstGeom>
          <a:ln w="9525">
            <a:solidFill>
              <a:srgbClr val="D5DBE1"/>
            </a:solidFill>
          </a:ln>
        </p:spPr>
      </p:pic>
      <p:pic>
        <p:nvPicPr>
          <p:cNvPr id="10" name="sc_power_split" descr="Project figure sc_power_split.png: sc power split"/>
          <p:cNvPicPr>
            <a:picLocks noChangeAspect="1"/>
          </p:cNvPicPr>
          <p:nvPr/>
        </p:nvPicPr>
        <p:blipFill>
          <a:blip r:embed="rId3"/>
          <a:stretch>
            <a:fillRect/>
          </a:stretch>
        </p:blipFill>
        <p:spPr>
          <a:xfrm>
            <a:off x="6187744" y="1261872"/>
            <a:ext cx="5394960" cy="2746525"/>
          </a:xfrm>
          <a:prstGeom prst="rect">
            <a:avLst/>
          </a:prstGeom>
          <a:ln w="9525">
            <a:solidFill>
              <a:srgbClr val="D5DBE1"/>
            </a:solidFill>
          </a:ln>
        </p:spPr>
      </p:pic>
      <p:sp>
        <p:nvSpPr>
          <p:cNvPr id="11" name="TextBox 10"/>
          <p:cNvSpPr txBox="1"/>
          <p:nvPr/>
        </p:nvSpPr>
        <p:spPr>
          <a:xfrm>
            <a:off x="609904" y="3251107"/>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Synthetic 1-s workshop load (from the equipment list).</a:t>
            </a:r>
          </a:p>
        </p:txBody>
      </p:sp>
      <p:sp>
        <p:nvSpPr>
          <p:cNvPr id="12" name="TextBox 11"/>
          <p:cNvSpPr txBox="1"/>
          <p:nvPr/>
        </p:nvSpPr>
        <p:spPr>
          <a:xfrm>
            <a:off x="6187744" y="4035829"/>
            <a:ext cx="5394960" cy="274320"/>
          </a:xfrm>
          <a:prstGeom prst="rect">
            <a:avLst/>
          </a:prstGeom>
          <a:noFill/>
        </p:spPr>
        <p:txBody>
          <a:bodyPr wrap="square" lIns="27432" rIns="27432" tIns="27432" bIns="27432" anchor="t"/>
          <a:lstStyle/>
          <a:p>
            <a:pPr algn="l">
              <a:spcAft>
                <a:spcPts val="400"/>
              </a:spcAft>
            </a:pPr>
            <a:r>
              <a:rPr sz="1100" b="0" i="1">
                <a:solidFill>
                  <a:srgbClr val="5F6B78"/>
                </a:solidFill>
              </a:rPr>
              <a:t>Low-pass split: battery share (blue) and SC share (purple), τ = 10 s.</a:t>
            </a:r>
          </a:p>
        </p:txBody>
      </p:sp>
      <p:sp>
        <p:nvSpPr>
          <p:cNvPr id="13" name="Rounded Rectangle 12"/>
          <p:cNvSpPr/>
          <p:nvPr/>
        </p:nvSpPr>
        <p:spPr>
          <a:xfrm>
            <a:off x="609904" y="4434840"/>
            <a:ext cx="2606040" cy="100584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064" y="4507992"/>
            <a:ext cx="2331720" cy="553212"/>
          </a:xfrm>
          <a:prstGeom prst="rect">
            <a:avLst/>
          </a:prstGeom>
          <a:noFill/>
        </p:spPr>
        <p:txBody>
          <a:bodyPr wrap="square" lIns="27432" rIns="27432" tIns="27432" bIns="27432" anchor="b"/>
          <a:lstStyle/>
          <a:p>
            <a:pPr algn="l">
              <a:spcAft>
                <a:spcPts val="400"/>
              </a:spcAft>
            </a:pPr>
            <a:r>
              <a:rPr sz="2200" b="1" i="0">
                <a:solidFill>
                  <a:srgbClr val="6250D6"/>
                </a:solidFill>
              </a:rPr>
              <a:t>93 kW</a:t>
            </a:r>
          </a:p>
        </p:txBody>
      </p:sp>
      <p:sp>
        <p:nvSpPr>
          <p:cNvPr id="15" name="TextBox 14"/>
          <p:cNvSpPr txBox="1"/>
          <p:nvPr/>
        </p:nvSpPr>
        <p:spPr>
          <a:xfrm>
            <a:off x="747064" y="5018227"/>
            <a:ext cx="2331720" cy="402336"/>
          </a:xfrm>
          <a:prstGeom prst="rect">
            <a:avLst/>
          </a:prstGeom>
          <a:noFill/>
        </p:spPr>
        <p:txBody>
          <a:bodyPr wrap="square" lIns="27432" rIns="27432" tIns="27432" bIns="27432" anchor="t"/>
          <a:lstStyle/>
          <a:p>
            <a:pPr algn="l">
              <a:spcAft>
                <a:spcPts val="400"/>
              </a:spcAft>
            </a:pPr>
            <a:r>
              <a:rPr sz="1200" b="0" i="0">
                <a:solidFill>
                  <a:srgbClr val="4A5568"/>
                </a:solidFill>
              </a:rPr>
              <a:t>coincident step, 5 s (465 kJ)</a:t>
            </a:r>
          </a:p>
        </p:txBody>
      </p:sp>
      <p:sp>
        <p:nvSpPr>
          <p:cNvPr id="16" name="Rounded Rectangle 15"/>
          <p:cNvSpPr/>
          <p:nvPr/>
        </p:nvSpPr>
        <p:spPr>
          <a:xfrm>
            <a:off x="3398824" y="4434840"/>
            <a:ext cx="2606040" cy="100584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5984" y="4507992"/>
            <a:ext cx="2331720" cy="553212"/>
          </a:xfrm>
          <a:prstGeom prst="rect">
            <a:avLst/>
          </a:prstGeom>
          <a:noFill/>
        </p:spPr>
        <p:txBody>
          <a:bodyPr wrap="square" lIns="27432" rIns="27432" tIns="27432" bIns="27432" anchor="b"/>
          <a:lstStyle/>
          <a:p>
            <a:pPr algn="l">
              <a:spcAft>
                <a:spcPts val="400"/>
              </a:spcAft>
            </a:pPr>
            <a:r>
              <a:rPr sz="2200" b="1" i="0">
                <a:solidFill>
                  <a:srgbClr val="6250D6"/>
                </a:solidFill>
              </a:rPr>
              <a:t>0.0088 C</a:t>
            </a:r>
          </a:p>
        </p:txBody>
      </p:sp>
      <p:sp>
        <p:nvSpPr>
          <p:cNvPr id="18" name="TextBox 17"/>
          <p:cNvSpPr txBox="1"/>
          <p:nvPr/>
        </p:nvSpPr>
        <p:spPr>
          <a:xfrm>
            <a:off x="3535984" y="5018227"/>
            <a:ext cx="2331720" cy="402336"/>
          </a:xfrm>
          <a:prstGeom prst="rect">
            <a:avLst/>
          </a:prstGeom>
          <a:noFill/>
        </p:spPr>
        <p:txBody>
          <a:bodyPr wrap="square" lIns="27432" rIns="27432" tIns="27432" bIns="27432" anchor="t"/>
          <a:lstStyle/>
          <a:p>
            <a:pPr algn="l">
              <a:spcAft>
                <a:spcPts val="400"/>
              </a:spcAft>
            </a:pPr>
            <a:r>
              <a:rPr sz="1200" b="0" i="0">
                <a:solidFill>
                  <a:srgbClr val="4A5568"/>
                </a:solidFill>
              </a:rPr>
              <a:t>step relative to the 10.6 MWh bank</a:t>
            </a:r>
          </a:p>
        </p:txBody>
      </p:sp>
      <p:sp>
        <p:nvSpPr>
          <p:cNvPr id="19" name="Rounded Rectangle 18"/>
          <p:cNvSpPr/>
          <p:nvPr/>
        </p:nvSpPr>
        <p:spPr>
          <a:xfrm>
            <a:off x="6187744" y="4434840"/>
            <a:ext cx="2606040" cy="100584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4904" y="4507992"/>
            <a:ext cx="2331720" cy="553212"/>
          </a:xfrm>
          <a:prstGeom prst="rect">
            <a:avLst/>
          </a:prstGeom>
          <a:noFill/>
        </p:spPr>
        <p:txBody>
          <a:bodyPr wrap="square" lIns="27432" rIns="27432" tIns="27432" bIns="27432" anchor="b"/>
          <a:lstStyle/>
          <a:p>
            <a:pPr algn="l">
              <a:spcAft>
                <a:spcPts val="400"/>
              </a:spcAft>
            </a:pPr>
            <a:r>
              <a:rPr sz="2200" b="1" i="0">
                <a:solidFill>
                  <a:srgbClr val="2A78D6"/>
                </a:solidFill>
              </a:rPr>
              <a:t>34 %</a:t>
            </a:r>
          </a:p>
        </p:txBody>
      </p:sp>
      <p:sp>
        <p:nvSpPr>
          <p:cNvPr id="21" name="TextBox 20"/>
          <p:cNvSpPr txBox="1"/>
          <p:nvPr/>
        </p:nvSpPr>
        <p:spPr>
          <a:xfrm>
            <a:off x="6324904" y="5018227"/>
            <a:ext cx="2331720" cy="402336"/>
          </a:xfrm>
          <a:prstGeom prst="rect">
            <a:avLst/>
          </a:prstGeom>
          <a:noFill/>
        </p:spPr>
        <p:txBody>
          <a:bodyPr wrap="square" lIns="27432" rIns="27432" tIns="27432" bIns="27432" anchor="t"/>
          <a:lstStyle/>
          <a:p>
            <a:pPr algn="l">
              <a:spcAft>
                <a:spcPts val="400"/>
              </a:spcAft>
            </a:pPr>
            <a:r>
              <a:rPr sz="1200" b="0" i="0">
                <a:solidFill>
                  <a:srgbClr val="4A5568"/>
                </a:solidFill>
              </a:rPr>
              <a:t>battery ramp left with τ = 2 s</a:t>
            </a:r>
          </a:p>
        </p:txBody>
      </p:sp>
      <p:sp>
        <p:nvSpPr>
          <p:cNvPr id="22" name="Rounded Rectangle 21"/>
          <p:cNvSpPr/>
          <p:nvPr/>
        </p:nvSpPr>
        <p:spPr>
          <a:xfrm>
            <a:off x="8976664" y="4434840"/>
            <a:ext cx="2606040" cy="100584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3824" y="4507992"/>
            <a:ext cx="2331720" cy="553212"/>
          </a:xfrm>
          <a:prstGeom prst="rect">
            <a:avLst/>
          </a:prstGeom>
          <a:noFill/>
        </p:spPr>
        <p:txBody>
          <a:bodyPr wrap="square" lIns="27432" rIns="27432" tIns="27432" bIns="27432" anchor="b"/>
          <a:lstStyle/>
          <a:p>
            <a:pPr algn="l">
              <a:spcAft>
                <a:spcPts val="400"/>
              </a:spcAft>
            </a:pPr>
            <a:r>
              <a:rPr sz="2200" b="1" i="0">
                <a:solidFill>
                  <a:srgbClr val="6250D6"/>
                </a:solidFill>
              </a:rPr>
              <a:t>4 × 24</a:t>
            </a:r>
          </a:p>
        </p:txBody>
      </p:sp>
      <p:sp>
        <p:nvSpPr>
          <p:cNvPr id="24" name="TextBox 23"/>
          <p:cNvSpPr txBox="1"/>
          <p:nvPr/>
        </p:nvSpPr>
        <p:spPr>
          <a:xfrm>
            <a:off x="9113824" y="5018227"/>
            <a:ext cx="2331720" cy="402336"/>
          </a:xfrm>
          <a:prstGeom prst="rect">
            <a:avLst/>
          </a:prstGeom>
          <a:noFill/>
        </p:spPr>
        <p:txBody>
          <a:bodyPr wrap="square" lIns="27432" rIns="27432" tIns="27432" bIns="27432" anchor="t"/>
          <a:lstStyle/>
          <a:p>
            <a:pPr algn="l">
              <a:spcAft>
                <a:spcPts val="400"/>
              </a:spcAft>
            </a:pPr>
            <a:r>
              <a:rPr sz="1200" b="0" i="0">
                <a:solidFill>
                  <a:srgbClr val="4A5568"/>
                </a:solidFill>
              </a:rPr>
              <a:t>strings × 16 V / 58 F modules</a:t>
            </a:r>
          </a:p>
        </p:txBody>
      </p:sp>
      <p:sp>
        <p:nvSpPr>
          <p:cNvPr id="25" name="Rounded Rectangle 24"/>
          <p:cNvSpPr/>
          <p:nvPr/>
        </p:nvSpPr>
        <p:spPr>
          <a:xfrm>
            <a:off x="609904" y="5596128"/>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784" y="5596128"/>
            <a:ext cx="10607040" cy="566928"/>
          </a:xfrm>
          <a:prstGeom prst="rect">
            <a:avLst/>
          </a:prstGeom>
          <a:noFill/>
        </p:spPr>
        <p:txBody>
          <a:bodyPr wrap="square" lIns="27432" rIns="27432" tIns="27432" bIns="27432" anchor="ctr"/>
          <a:lstStyle/>
          <a:p>
            <a:pPr algn="l">
              <a:spcAft>
                <a:spcPts val="400"/>
              </a:spcAft>
            </a:pPr>
            <a:r>
              <a:rPr sz="1400" b="1" i="0">
                <a:solidFill>
                  <a:srgbClr val="E8A33D"/>
                </a:solidFill>
              </a:rPr>
              <a:t>Takeaway  </a:t>
            </a:r>
            <a:r>
              <a:rPr sz="1400" b="0" i="0">
                <a:solidFill>
                  <a:srgbClr val="FFFFFF"/>
                </a:solidFill>
              </a:rPr>
              <a:t>Technically the SC smooths the battery's fastest ramps; the question is whether that pays.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SUPERCAPACITOR</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Is a supercapacitor economically justified?</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30 / 34</a:t>
            </a:r>
          </a:p>
        </p:txBody>
      </p:sp>
      <p:pic>
        <p:nvPicPr>
          <p:cNvPr id="9" name="sc_payback" descr="Project figure sc_payback.png: sc payback"/>
          <p:cNvPicPr>
            <a:picLocks noChangeAspect="1"/>
          </p:cNvPicPr>
          <p:nvPr/>
        </p:nvPicPr>
        <p:blipFill>
          <a:blip r:embed="rId2"/>
          <a:stretch>
            <a:fillRect/>
          </a:stretch>
        </p:blipFill>
        <p:spPr>
          <a:xfrm>
            <a:off x="609904" y="1261872"/>
            <a:ext cx="6675120" cy="2553958"/>
          </a:xfrm>
          <a:prstGeom prst="rect">
            <a:avLst/>
          </a:prstGeom>
          <a:ln w="9525">
            <a:solidFill>
              <a:srgbClr val="D5DBE1"/>
            </a:solidFill>
          </a:ln>
        </p:spPr>
      </p:pic>
      <p:sp>
        <p:nvSpPr>
          <p:cNvPr id="10" name="TextBox 9"/>
          <p:cNvSpPr txBox="1"/>
          <p:nvPr/>
        </p:nvSpPr>
        <p:spPr>
          <a:xfrm>
            <a:off x="609904" y="3843262"/>
            <a:ext cx="6675120" cy="274320"/>
          </a:xfrm>
          <a:prstGeom prst="rect">
            <a:avLst/>
          </a:prstGeom>
          <a:noFill/>
        </p:spPr>
        <p:txBody>
          <a:bodyPr wrap="square" lIns="27432" rIns="27432" tIns="27432" bIns="27432" anchor="t"/>
          <a:lstStyle/>
          <a:p>
            <a:pPr algn="l">
              <a:spcAft>
                <a:spcPts val="400"/>
              </a:spcAft>
            </a:pPr>
            <a:r>
              <a:rPr sz="1100" b="0" i="1">
                <a:solidFill>
                  <a:srgbClr val="5F6B78"/>
                </a:solidFill>
              </a:rPr>
              <a:t>SC + DC–DC cost against battery NPC saved, by filter τ and by bank size.</a:t>
            </a:r>
          </a:p>
        </p:txBody>
      </p:sp>
      <p:graphicFrame>
        <p:nvGraphicFramePr>
          <p:cNvPr id="11" name="Table 10"/>
          <p:cNvGraphicFramePr>
            <a:graphicFrameLocks noGrp="1"/>
          </p:cNvGraphicFramePr>
          <p:nvPr/>
        </p:nvGraphicFramePr>
        <p:xfrm>
          <a:off x="7513624" y="1261872"/>
          <a:ext cx="4069080" cy="1536192"/>
        </p:xfrm>
        <a:graphic>
          <a:graphicData uri="http://schemas.openxmlformats.org/drawingml/2006/table">
            <a:tbl>
              <a:tblPr firstRow="0" bandRow="0">
                <a:tableStyleId>{5940675A-B579-460E-94D1-54222C63F5DA}</a:tableStyleId>
              </a:tblPr>
              <a:tblGrid>
                <a:gridCol w="960120"/>
                <a:gridCol w="1371600"/>
                <a:gridCol w="1737360"/>
              </a:tblGrid>
              <a:tr h="384048">
                <a:tc>
                  <a:txBody>
                    <a:bodyPr wrap="square"/>
                    <a:lstStyle/>
                    <a:p>
                      <a:r>
                        <a:rPr sz="1200" b="1" i="0">
                          <a:solidFill>
                            <a:srgbClr val="FFFFFF"/>
                          </a:solidFill>
                        </a:rPr>
                        <a:t>Filter τ</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1" i="0">
                          <a:solidFill>
                            <a:srgbClr val="FFFFFF"/>
                          </a:solidFill>
                        </a:rPr>
                        <a:t>SC + DC–DC cost</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1" i="0">
                          <a:solidFill>
                            <a:srgbClr val="FFFFFF"/>
                          </a:solidFill>
                        </a:rPr>
                        <a:t>NPC saved (lower–upper)</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r>
              <a:tr h="384048">
                <a:tc>
                  <a:txBody>
                    <a:bodyPr wrap="square"/>
                    <a:lstStyle/>
                    <a:p>
                      <a:r>
                        <a:rPr sz="1200" b="1" i="0">
                          <a:solidFill>
                            <a:srgbClr val="13233A"/>
                          </a:solidFill>
                        </a:rPr>
                        <a:t>1 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₹2.59 M</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₹0.05–2.60 M</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384048">
                <a:tc>
                  <a:txBody>
                    <a:bodyPr wrap="square"/>
                    <a:lstStyle/>
                    <a:p>
                      <a:r>
                        <a:rPr sz="1200" b="1" i="0">
                          <a:solidFill>
                            <a:srgbClr val="13233A"/>
                          </a:solidFill>
                        </a:rPr>
                        <a:t>2 s</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₹3.82 M</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₹0.07–3.60 M</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r h="384048">
                <a:tc>
                  <a:txBody>
                    <a:bodyPr wrap="square"/>
                    <a:lstStyle/>
                    <a:p>
                      <a:r>
                        <a:rPr sz="1200" b="1" i="0">
                          <a:solidFill>
                            <a:srgbClr val="13233A"/>
                          </a:solidFill>
                        </a:rPr>
                        <a:t>10 s</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₹11.77 M</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200" b="0" i="0">
                          <a:solidFill>
                            <a:srgbClr val="4A5568"/>
                          </a:solidFill>
                        </a:rPr>
                        <a:t>₹0.20–5.94 M</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bl>
          </a:graphicData>
        </a:graphic>
      </p:graphicFrame>
      <p:sp>
        <p:nvSpPr>
          <p:cNvPr id="12" name="Rounded Rectangle 11"/>
          <p:cNvSpPr/>
          <p:nvPr/>
        </p:nvSpPr>
        <p:spPr>
          <a:xfrm>
            <a:off x="7513624" y="2971800"/>
            <a:ext cx="4069080" cy="182880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8216" y="3081528"/>
            <a:ext cx="3739896" cy="365760"/>
          </a:xfrm>
          <a:prstGeom prst="rect">
            <a:avLst/>
          </a:prstGeom>
          <a:noFill/>
        </p:spPr>
        <p:txBody>
          <a:bodyPr wrap="square" lIns="27432" rIns="27432" tIns="27432" bIns="27432" anchor="t"/>
          <a:lstStyle/>
          <a:p>
            <a:pPr algn="l">
              <a:spcAft>
                <a:spcPts val="400"/>
              </a:spcAft>
            </a:pPr>
            <a:r>
              <a:rPr sz="1400" b="1" i="0">
                <a:solidFill>
                  <a:srgbClr val="E34948"/>
                </a:solidFill>
              </a:rPr>
              <a:t>Unresolved assumptions</a:t>
            </a:r>
          </a:p>
        </p:txBody>
      </p:sp>
      <p:sp>
        <p:nvSpPr>
          <p:cNvPr id="14" name="TextBox 13"/>
          <p:cNvSpPr txBox="1"/>
          <p:nvPr/>
        </p:nvSpPr>
        <p:spPr>
          <a:xfrm>
            <a:off x="7678216" y="3493008"/>
            <a:ext cx="3739896" cy="1234439"/>
          </a:xfrm>
          <a:prstGeom prst="rect">
            <a:avLst/>
          </a:prstGeom>
          <a:noFill/>
        </p:spPr>
        <p:txBody>
          <a:bodyPr wrap="square" lIns="27432" rIns="27432" tIns="27432" bIns="27432" anchor="t"/>
          <a:lstStyle/>
          <a:p>
            <a:pPr algn="l" marL="201168" indent="-182880">
              <a:spcAft>
                <a:spcPts val="400"/>
              </a:spcAft>
              <a:buChar char="•"/>
            </a:pPr>
            <a:r>
              <a:rPr sz="1300" b="0" i="0">
                <a:solidFill>
                  <a:srgbClr val="4A5568"/>
                </a:solidFill>
              </a:rPr>
              <a:t>Module price ₹45,000 (placeholder)</a:t>
            </a:r>
          </a:p>
          <a:p>
            <a:pPr algn="l" marL="201168" indent="-182880">
              <a:spcAft>
                <a:spcPts val="400"/>
              </a:spcAft>
              <a:buChar char="•"/>
            </a:pPr>
            <a:r>
              <a:rPr sz="1300" b="0" i="0">
                <a:solidFill>
                  <a:srgbClr val="4A5568"/>
                </a:solidFill>
              </a:rPr>
              <a:t>Motor starting surge 5× rated</a:t>
            </a:r>
          </a:p>
          <a:p>
            <a:pPr algn="l" marL="201168" indent="-182880">
              <a:spcAft>
                <a:spcPts val="400"/>
              </a:spcAft>
              <a:buChar char="•"/>
            </a:pPr>
            <a:r>
              <a:rPr sz="1300" b="0" i="0">
                <a:solidFill>
                  <a:srgbClr val="4A5568"/>
                </a:solidFill>
              </a:rPr>
              <a:t>Machine on-times and power ratings</a:t>
            </a:r>
          </a:p>
        </p:txBody>
      </p:sp>
      <p:sp>
        <p:nvSpPr>
          <p:cNvPr id="15" name="Rounded Rectangle 14"/>
          <p:cNvSpPr/>
          <p:nvPr/>
        </p:nvSpPr>
        <p:spPr>
          <a:xfrm>
            <a:off x="609904" y="4434840"/>
            <a:ext cx="3246120" cy="100584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064" y="4507992"/>
            <a:ext cx="2971800" cy="553212"/>
          </a:xfrm>
          <a:prstGeom prst="rect">
            <a:avLst/>
          </a:prstGeom>
          <a:noFill/>
        </p:spPr>
        <p:txBody>
          <a:bodyPr wrap="square" lIns="27432" rIns="27432" tIns="27432" bIns="27432" anchor="b"/>
          <a:lstStyle/>
          <a:p>
            <a:pPr algn="l">
              <a:spcAft>
                <a:spcPts val="400"/>
              </a:spcAft>
            </a:pPr>
            <a:r>
              <a:rPr sz="1900" b="1" i="0">
                <a:solidFill>
                  <a:srgbClr val="6250D6"/>
                </a:solidFill>
              </a:rPr>
              <a:t>Break-even at best</a:t>
            </a:r>
          </a:p>
        </p:txBody>
      </p:sp>
      <p:sp>
        <p:nvSpPr>
          <p:cNvPr id="17" name="TextBox 16"/>
          <p:cNvSpPr txBox="1"/>
          <p:nvPr/>
        </p:nvSpPr>
        <p:spPr>
          <a:xfrm>
            <a:off x="747064" y="5018227"/>
            <a:ext cx="2971800" cy="402336"/>
          </a:xfrm>
          <a:prstGeom prst="rect">
            <a:avLst/>
          </a:prstGeom>
          <a:noFill/>
        </p:spPr>
        <p:txBody>
          <a:bodyPr wrap="square" lIns="27432" rIns="27432" tIns="27432" bIns="27432" anchor="t"/>
          <a:lstStyle/>
          <a:p>
            <a:pPr algn="l">
              <a:spcAft>
                <a:spcPts val="400"/>
              </a:spcAft>
            </a:pPr>
            <a:r>
              <a:rPr sz="1200" b="0" i="0">
                <a:solidFill>
                  <a:srgbClr val="4A5568"/>
                </a:solidFill>
              </a:rPr>
              <a:t>only with the upper bound, τ ≈ 1–2 s</a:t>
            </a:r>
          </a:p>
        </p:txBody>
      </p:sp>
      <p:sp>
        <p:nvSpPr>
          <p:cNvPr id="18" name="Rounded Rectangle 17"/>
          <p:cNvSpPr/>
          <p:nvPr/>
        </p:nvSpPr>
        <p:spPr>
          <a:xfrm>
            <a:off x="4038904" y="4434840"/>
            <a:ext cx="3246120" cy="100584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76064" y="4507992"/>
            <a:ext cx="2971800" cy="553212"/>
          </a:xfrm>
          <a:prstGeom prst="rect">
            <a:avLst/>
          </a:prstGeom>
          <a:noFill/>
        </p:spPr>
        <p:txBody>
          <a:bodyPr wrap="square" lIns="27432" rIns="27432" tIns="27432" bIns="27432" anchor="b"/>
          <a:lstStyle/>
          <a:p>
            <a:pPr algn="l">
              <a:spcAft>
                <a:spcPts val="400"/>
              </a:spcAft>
            </a:pPr>
            <a:r>
              <a:rPr sz="2000" b="1" i="0">
                <a:solidFill>
                  <a:srgbClr val="6250D6"/>
                </a:solidFill>
              </a:rPr>
              <a:t>0.0088 C</a:t>
            </a:r>
          </a:p>
        </p:txBody>
      </p:sp>
      <p:sp>
        <p:nvSpPr>
          <p:cNvPr id="20" name="TextBox 19"/>
          <p:cNvSpPr txBox="1"/>
          <p:nvPr/>
        </p:nvSpPr>
        <p:spPr>
          <a:xfrm>
            <a:off x="4176064" y="5018227"/>
            <a:ext cx="2971800" cy="402336"/>
          </a:xfrm>
          <a:prstGeom prst="rect">
            <a:avLst/>
          </a:prstGeom>
          <a:noFill/>
        </p:spPr>
        <p:txBody>
          <a:bodyPr wrap="square" lIns="27432" rIns="27432" tIns="27432" bIns="27432" anchor="t"/>
          <a:lstStyle/>
          <a:p>
            <a:pPr algn="l">
              <a:spcAft>
                <a:spcPts val="400"/>
              </a:spcAft>
            </a:pPr>
            <a:r>
              <a:rPr sz="1200" b="0" i="0">
                <a:solidFill>
                  <a:srgbClr val="4A5568"/>
                </a:solidFill>
              </a:rPr>
              <a:t>the step is no stress for this bank</a:t>
            </a:r>
          </a:p>
        </p:txBody>
      </p:sp>
      <p:sp>
        <p:nvSpPr>
          <p:cNvPr id="21" name="Rounded Rectangle 20"/>
          <p:cNvSpPr/>
          <p:nvPr/>
        </p:nvSpPr>
        <p:spPr>
          <a:xfrm>
            <a:off x="609904" y="5596128"/>
            <a:ext cx="10972800" cy="566928"/>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2784" y="5596128"/>
            <a:ext cx="10607040" cy="566928"/>
          </a:xfrm>
          <a:prstGeom prst="rect">
            <a:avLst/>
          </a:prstGeom>
          <a:noFill/>
        </p:spPr>
        <p:txBody>
          <a:bodyPr wrap="square" lIns="27432" rIns="27432" tIns="27432" bIns="27432" anchor="ctr"/>
          <a:lstStyle/>
          <a:p>
            <a:pPr algn="l">
              <a:spcAft>
                <a:spcPts val="400"/>
              </a:spcAft>
            </a:pPr>
            <a:r>
              <a:rPr sz="1300" b="1" i="0">
                <a:solidFill>
                  <a:srgbClr val="E8A33D"/>
                </a:solidFill>
              </a:rPr>
              <a:t>Takeaway  </a:t>
            </a:r>
            <a:r>
              <a:rPr sz="1300" b="0" i="0">
                <a:solidFill>
                  <a:srgbClr val="FFFFFF"/>
                </a:solidFill>
              </a:rPr>
              <a:t>Not justified on cost for this design. Revisit with real prices, or for small banks whose current limit the surge exceeds.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SOURCE VALIDATION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Checking the reference paper against CERC</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31 / 34</a:t>
            </a:r>
          </a:p>
        </p:txBody>
      </p:sp>
      <p:graphicFrame>
        <p:nvGraphicFramePr>
          <p:cNvPr id="9" name="Table 8"/>
          <p:cNvGraphicFramePr>
            <a:graphicFrameLocks noGrp="1"/>
          </p:cNvGraphicFramePr>
          <p:nvPr/>
        </p:nvGraphicFramePr>
        <p:xfrm>
          <a:off x="609904" y="1325880"/>
          <a:ext cx="10972800" cy="1645920"/>
        </p:xfrm>
        <a:graphic>
          <a:graphicData uri="http://schemas.openxmlformats.org/drawingml/2006/table">
            <a:tbl>
              <a:tblPr firstRow="0" bandRow="0">
                <a:tableStyleId>{5940675A-B579-460E-94D1-54222C63F5DA}</a:tableStyleId>
              </a:tblPr>
              <a:tblGrid>
                <a:gridCol w="2194560"/>
                <a:gridCol w="2560320"/>
                <a:gridCol w="3566160"/>
                <a:gridCol w="2651760"/>
              </a:tblGrid>
              <a:tr h="548640">
                <a:tc>
                  <a:txBody>
                    <a:bodyPr wrap="square"/>
                    <a:lstStyle/>
                    <a:p>
                      <a:r>
                        <a:rPr sz="1400" b="1" i="0">
                          <a:solidFill>
                            <a:srgbClr val="FFFFFF"/>
                          </a:solidFill>
                        </a:rPr>
                        <a:t>Input</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1" i="0">
                          <a:solidFill>
                            <a:srgbClr val="FFFFFF"/>
                          </a:solidFill>
                        </a:rPr>
                        <a:t>Kumar et al. (2018)</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1" i="0">
                          <a:solidFill>
                            <a:srgbClr val="FFFFFF"/>
                          </a:solidFill>
                        </a:rPr>
                        <a:t>CERC order (primary)</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1" i="0">
                          <a:solidFill>
                            <a:srgbClr val="FFFFFF"/>
                          </a:solidFill>
                        </a:rPr>
                        <a:t>Used in this project</a:t>
                      </a:r>
                    </a:p>
                  </a:txBody>
                  <a:tcPr marL="64008" marR="64008" marT="27432" marB="27432" anchor="ctr">
                    <a:solidFill>
                      <a:srgbClr val="13233A"/>
                    </a:solidFill>
                    <a:lnL w="6350">
                      <a:solidFill>
                        <a:srgbClr val="D5DBE1"/>
                      </a:solidFill>
                    </a:lnL>
                    <a:lnR w="6350">
                      <a:solidFill>
                        <a:srgbClr val="D5DBE1"/>
                      </a:solidFill>
                    </a:lnR>
                    <a:lnT w="6350">
                      <a:solidFill>
                        <a:srgbClr val="D5DBE1"/>
                      </a:solidFill>
                    </a:lnT>
                    <a:lnB w="6350">
                      <a:solidFill>
                        <a:srgbClr val="D5DBE1"/>
                      </a:solidFill>
                    </a:lnB>
                  </a:tcPr>
                </a:tc>
              </a:tr>
              <a:tr h="548640">
                <a:tc>
                  <a:txBody>
                    <a:bodyPr wrap="square"/>
                    <a:lstStyle/>
                    <a:p>
                      <a:r>
                        <a:rPr sz="1400" b="1" i="0">
                          <a:solidFill>
                            <a:srgbClr val="13233A"/>
                          </a:solidFill>
                        </a:rPr>
                        <a:t>PV capital cost</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0" i="0">
                          <a:solidFill>
                            <a:srgbClr val="4A5568"/>
                          </a:solidFill>
                        </a:rPr>
                        <a:t>₹50,502 / kW</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0" i="0">
                          <a:solidFill>
                            <a:srgbClr val="4A5568"/>
                          </a:solidFill>
                        </a:rPr>
                        <a:t>₹53,002 / kW (₹530.02 lakh/MW)</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0" i="0">
                          <a:solidFill>
                            <a:srgbClr val="4A5568"/>
                          </a:solidFill>
                        </a:rPr>
                        <a:t>Paper value (base)</a:t>
                      </a:r>
                    </a:p>
                  </a:txBody>
                  <a:tcPr marL="64008" marR="64008" marT="27432" marB="27432" anchor="ctr">
                    <a:solidFill>
                      <a:srgbClr val="FFFFFF"/>
                    </a:solidFill>
                    <a:lnL w="6350">
                      <a:solidFill>
                        <a:srgbClr val="D5DBE1"/>
                      </a:solidFill>
                    </a:lnL>
                    <a:lnR w="6350">
                      <a:solidFill>
                        <a:srgbClr val="D5DBE1"/>
                      </a:solidFill>
                    </a:lnR>
                    <a:lnT w="6350">
                      <a:solidFill>
                        <a:srgbClr val="D5DBE1"/>
                      </a:solidFill>
                    </a:lnT>
                    <a:lnB w="6350">
                      <a:solidFill>
                        <a:srgbClr val="D5DBE1"/>
                      </a:solidFill>
                    </a:lnB>
                  </a:tcPr>
                </a:tc>
              </a:tr>
              <a:tr h="548640">
                <a:tc>
                  <a:txBody>
                    <a:bodyPr wrap="square"/>
                    <a:lstStyle/>
                    <a:p>
                      <a:r>
                        <a:rPr sz="1400" b="1" i="0">
                          <a:solidFill>
                            <a:srgbClr val="13233A"/>
                          </a:solidFill>
                        </a:rPr>
                        <a:t>Discount factor</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0" i="0">
                          <a:solidFill>
                            <a:srgbClr val="4A5568"/>
                          </a:solidFill>
                        </a:rPr>
                        <a:t>10.70 %</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0" i="0">
                          <a:solidFill>
                            <a:srgbClr val="4A5568"/>
                          </a:solidFill>
                        </a:rPr>
                        <a:t>10.64 %</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c>
                  <a:txBody>
                    <a:bodyPr wrap="square"/>
                    <a:lstStyle/>
                    <a:p>
                      <a:r>
                        <a:rPr sz="1400" b="0" i="0">
                          <a:solidFill>
                            <a:srgbClr val="4A5568"/>
                          </a:solidFill>
                        </a:rPr>
                        <a:t>Paper value (base)</a:t>
                      </a:r>
                    </a:p>
                  </a:txBody>
                  <a:tcPr marL="64008" marR="64008" marT="27432" marB="27432" anchor="ctr">
                    <a:solidFill>
                      <a:srgbClr val="F2F4F7"/>
                    </a:solidFill>
                    <a:lnL w="6350">
                      <a:solidFill>
                        <a:srgbClr val="D5DBE1"/>
                      </a:solidFill>
                    </a:lnL>
                    <a:lnR w="6350">
                      <a:solidFill>
                        <a:srgbClr val="D5DBE1"/>
                      </a:solidFill>
                    </a:lnR>
                    <a:lnT w="6350">
                      <a:solidFill>
                        <a:srgbClr val="D5DBE1"/>
                      </a:solidFill>
                    </a:lnT>
                    <a:lnB w="6350">
                      <a:solidFill>
                        <a:srgbClr val="D5DBE1"/>
                      </a:solidFill>
                    </a:lnB>
                  </a:tcPr>
                </a:tc>
              </a:tr>
            </a:tbl>
          </a:graphicData>
        </a:graphic>
      </p:graphicFrame>
      <p:sp>
        <p:nvSpPr>
          <p:cNvPr id="10" name="Rounded Rectangle 9"/>
          <p:cNvSpPr/>
          <p:nvPr/>
        </p:nvSpPr>
        <p:spPr>
          <a:xfrm>
            <a:off x="609904" y="3246120"/>
            <a:ext cx="3511296" cy="11887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 y="3319272"/>
            <a:ext cx="3236976" cy="653796"/>
          </a:xfrm>
          <a:prstGeom prst="rect">
            <a:avLst/>
          </a:prstGeom>
          <a:noFill/>
        </p:spPr>
        <p:txBody>
          <a:bodyPr wrap="square" lIns="27432" rIns="27432" tIns="27432" bIns="27432" anchor="b"/>
          <a:lstStyle/>
          <a:p>
            <a:pPr algn="l">
              <a:spcAft>
                <a:spcPts val="400"/>
              </a:spcAft>
            </a:pPr>
            <a:r>
              <a:rPr sz="2600" b="1" i="0">
                <a:solidFill>
                  <a:srgbClr val="E8A33D"/>
                </a:solidFill>
              </a:rPr>
              <a:t>+2.3 %</a:t>
            </a:r>
          </a:p>
        </p:txBody>
      </p:sp>
      <p:sp>
        <p:nvSpPr>
          <p:cNvPr id="12" name="TextBox 11"/>
          <p:cNvSpPr txBox="1"/>
          <p:nvPr/>
        </p:nvSpPr>
        <p:spPr>
          <a:xfrm>
            <a:off x="747064" y="3935577"/>
            <a:ext cx="3236976" cy="475488"/>
          </a:xfrm>
          <a:prstGeom prst="rect">
            <a:avLst/>
          </a:prstGeom>
          <a:noFill/>
        </p:spPr>
        <p:txBody>
          <a:bodyPr wrap="square" lIns="27432" rIns="27432" tIns="27432" bIns="27432" anchor="t"/>
          <a:lstStyle/>
          <a:p>
            <a:pPr algn="l">
              <a:spcAft>
                <a:spcPts val="400"/>
              </a:spcAft>
            </a:pPr>
            <a:r>
              <a:rPr sz="1200" b="0" i="0">
                <a:solidFill>
                  <a:srgbClr val="4A5568"/>
                </a:solidFill>
              </a:rPr>
              <a:t>NPC with CERC values</a:t>
            </a:r>
          </a:p>
        </p:txBody>
      </p:sp>
      <p:sp>
        <p:nvSpPr>
          <p:cNvPr id="13" name="Rounded Rectangle 12"/>
          <p:cNvSpPr/>
          <p:nvPr/>
        </p:nvSpPr>
        <p:spPr>
          <a:xfrm>
            <a:off x="4340656" y="3246120"/>
            <a:ext cx="3511296" cy="11887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7816" y="3319272"/>
            <a:ext cx="3236976" cy="653796"/>
          </a:xfrm>
          <a:prstGeom prst="rect">
            <a:avLst/>
          </a:prstGeom>
          <a:noFill/>
        </p:spPr>
        <p:txBody>
          <a:bodyPr wrap="square" lIns="27432" rIns="27432" tIns="27432" bIns="27432" anchor="b"/>
          <a:lstStyle/>
          <a:p>
            <a:pPr algn="l">
              <a:spcAft>
                <a:spcPts val="400"/>
              </a:spcAft>
            </a:pPr>
            <a:r>
              <a:rPr sz="2400" b="1" i="0">
                <a:solidFill>
                  <a:srgbClr val="13233A"/>
                </a:solidFill>
              </a:rPr>
              <a:t>₹393.9 M</a:t>
            </a:r>
          </a:p>
        </p:txBody>
      </p:sp>
      <p:sp>
        <p:nvSpPr>
          <p:cNvPr id="15" name="TextBox 14"/>
          <p:cNvSpPr txBox="1"/>
          <p:nvPr/>
        </p:nvSpPr>
        <p:spPr>
          <a:xfrm>
            <a:off x="4477816" y="3935577"/>
            <a:ext cx="3236976" cy="475488"/>
          </a:xfrm>
          <a:prstGeom prst="rect">
            <a:avLst/>
          </a:prstGeom>
          <a:noFill/>
        </p:spPr>
        <p:txBody>
          <a:bodyPr wrap="square" lIns="27432" rIns="27432" tIns="27432" bIns="27432" anchor="t"/>
          <a:lstStyle/>
          <a:p>
            <a:pPr algn="l">
              <a:spcAft>
                <a:spcPts val="400"/>
              </a:spcAft>
            </a:pPr>
            <a:r>
              <a:rPr sz="1200" b="0" i="0">
                <a:solidFill>
                  <a:srgbClr val="4A5568"/>
                </a:solidFill>
              </a:rPr>
              <a:t>vs base ₹385.1 M</a:t>
            </a:r>
          </a:p>
        </p:txBody>
      </p:sp>
      <p:sp>
        <p:nvSpPr>
          <p:cNvPr id="16" name="Rounded Rectangle 15"/>
          <p:cNvSpPr/>
          <p:nvPr/>
        </p:nvSpPr>
        <p:spPr>
          <a:xfrm>
            <a:off x="8071408" y="3246120"/>
            <a:ext cx="3511296" cy="1188720"/>
          </a:xfrm>
          <a:prstGeom prst="roundRect">
            <a:avLst>
              <a:gd name="adj" fmla="val 8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8568" y="3319272"/>
            <a:ext cx="3236976" cy="653796"/>
          </a:xfrm>
          <a:prstGeom prst="rect">
            <a:avLst/>
          </a:prstGeom>
          <a:noFill/>
        </p:spPr>
        <p:txBody>
          <a:bodyPr wrap="square" lIns="27432" rIns="27432" tIns="27432" bIns="27432" anchor="b"/>
          <a:lstStyle/>
          <a:p>
            <a:pPr algn="l">
              <a:spcAft>
                <a:spcPts val="400"/>
              </a:spcAft>
            </a:pPr>
            <a:r>
              <a:rPr sz="2400" b="1" i="0">
                <a:solidFill>
                  <a:srgbClr val="1BAF7A"/>
                </a:solidFill>
              </a:rPr>
              <a:t>Unchanged</a:t>
            </a:r>
          </a:p>
        </p:txBody>
      </p:sp>
      <p:sp>
        <p:nvSpPr>
          <p:cNvPr id="18" name="TextBox 17"/>
          <p:cNvSpPr txBox="1"/>
          <p:nvPr/>
        </p:nvSpPr>
        <p:spPr>
          <a:xfrm>
            <a:off x="8208568" y="3935577"/>
            <a:ext cx="3236976" cy="475488"/>
          </a:xfrm>
          <a:prstGeom prst="rect">
            <a:avLst/>
          </a:prstGeom>
          <a:noFill/>
        </p:spPr>
        <p:txBody>
          <a:bodyPr wrap="square" lIns="27432" rIns="27432" tIns="27432" bIns="27432" anchor="t"/>
          <a:lstStyle/>
          <a:p>
            <a:pPr algn="l">
              <a:spcAft>
                <a:spcPts val="400"/>
              </a:spcAft>
            </a:pPr>
            <a:r>
              <a:rPr sz="1200" b="0" i="0">
                <a:solidFill>
                  <a:srgbClr val="4A5568"/>
                </a:solidFill>
              </a:rPr>
              <a:t>re-optimised design: same sizes</a:t>
            </a:r>
          </a:p>
        </p:txBody>
      </p:sp>
      <p:sp>
        <p:nvSpPr>
          <p:cNvPr id="19" name="Rounded Rectangle 18"/>
          <p:cNvSpPr/>
          <p:nvPr/>
        </p:nvSpPr>
        <p:spPr>
          <a:xfrm>
            <a:off x="609904" y="4663440"/>
            <a:ext cx="10972800" cy="1417320"/>
          </a:xfrm>
          <a:prstGeom prst="roundRect">
            <a:avLst>
              <a:gd name="adj" fmla="val 5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4496" y="4773168"/>
            <a:ext cx="10643616" cy="365760"/>
          </a:xfrm>
          <a:prstGeom prst="rect">
            <a:avLst/>
          </a:prstGeom>
          <a:noFill/>
        </p:spPr>
        <p:txBody>
          <a:bodyPr wrap="square" lIns="27432" rIns="27432" tIns="27432" bIns="27432" anchor="t"/>
          <a:lstStyle/>
          <a:p>
            <a:pPr algn="l">
              <a:spcAft>
                <a:spcPts val="400"/>
              </a:spcAft>
            </a:pPr>
            <a:r>
              <a:rPr sz="1400" b="1" i="0">
                <a:solidFill>
                  <a:srgbClr val="13233A"/>
                </a:solidFill>
              </a:rPr>
              <a:t>Sources</a:t>
            </a:r>
          </a:p>
        </p:txBody>
      </p:sp>
      <p:sp>
        <p:nvSpPr>
          <p:cNvPr id="21" name="TextBox 20"/>
          <p:cNvSpPr txBox="1"/>
          <p:nvPr/>
        </p:nvSpPr>
        <p:spPr>
          <a:xfrm>
            <a:off x="774496" y="5184648"/>
            <a:ext cx="10643616" cy="822959"/>
          </a:xfrm>
          <a:prstGeom prst="rect">
            <a:avLst/>
          </a:prstGeom>
          <a:noFill/>
        </p:spPr>
        <p:txBody>
          <a:bodyPr wrap="square" lIns="27432" rIns="27432" tIns="27432" bIns="27432" anchor="t"/>
          <a:lstStyle/>
          <a:p>
            <a:pPr algn="l">
              <a:spcAft>
                <a:spcPts val="400"/>
              </a:spcAft>
            </a:pPr>
            <a:r>
              <a:rPr sz="1300" b="0" i="0">
                <a:solidFill>
                  <a:srgbClr val="4A5568"/>
                </a:solidFill>
              </a:rPr>
              <a:t>CERC, Petition SM/03/2016, order 29 Apr 2016, para 9 (discount factor) and para 27 (PV cost); CERC, Petition 17/SM/2015, order 23 Mar 2016 (PV cost breakdown). Both PDFs are in resources/.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DISCUSSION</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Integrated engineering discussion</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32 / 34</a:t>
            </a:r>
          </a:p>
        </p:txBody>
      </p:sp>
      <p:sp>
        <p:nvSpPr>
          <p:cNvPr id="9" name="Rounded Rectangle 8"/>
          <p:cNvSpPr/>
          <p:nvPr/>
        </p:nvSpPr>
        <p:spPr>
          <a:xfrm>
            <a:off x="609904" y="1280160"/>
            <a:ext cx="3511296" cy="1691640"/>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2784" y="1463039"/>
            <a:ext cx="292608" cy="292608"/>
          </a:xfrm>
          <a:prstGeom prst="ellipse">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4264" y="1408176"/>
            <a:ext cx="2779776" cy="365760"/>
          </a:xfrm>
          <a:prstGeom prst="rect">
            <a:avLst/>
          </a:prstGeom>
          <a:noFill/>
        </p:spPr>
        <p:txBody>
          <a:bodyPr wrap="square" lIns="27432" rIns="27432" tIns="27432" bIns="27432" anchor="t"/>
          <a:lstStyle/>
          <a:p>
            <a:pPr algn="l">
              <a:spcAft>
                <a:spcPts val="400"/>
              </a:spcAft>
            </a:pPr>
            <a:r>
              <a:rPr sz="1600" b="1" i="0">
                <a:solidFill>
                  <a:srgbClr val="13233A"/>
                </a:solidFill>
              </a:rPr>
              <a:t>Cost</a:t>
            </a:r>
          </a:p>
        </p:txBody>
      </p:sp>
      <p:sp>
        <p:nvSpPr>
          <p:cNvPr id="12" name="TextBox 11"/>
          <p:cNvSpPr txBox="1"/>
          <p:nvPr/>
        </p:nvSpPr>
        <p:spPr>
          <a:xfrm>
            <a:off x="792784" y="1901952"/>
            <a:ext cx="3145536" cy="1005840"/>
          </a:xfrm>
          <a:prstGeom prst="rect">
            <a:avLst/>
          </a:prstGeom>
          <a:noFill/>
        </p:spPr>
        <p:txBody>
          <a:bodyPr wrap="square" lIns="27432" rIns="27432" tIns="27432" bIns="27432" anchor="t"/>
          <a:lstStyle/>
          <a:p>
            <a:pPr algn="l">
              <a:spcAft>
                <a:spcPts val="400"/>
              </a:spcAft>
            </a:pPr>
            <a:r>
              <a:rPr sz="1400" b="0" i="0">
                <a:solidFill>
                  <a:srgbClr val="4A5568"/>
                </a:solidFill>
              </a:rPr>
              <a:t>Demand ±20 % → ±20 % NPC; then PV price, battery price, cycle life.</a:t>
            </a:r>
          </a:p>
        </p:txBody>
      </p:sp>
      <p:sp>
        <p:nvSpPr>
          <p:cNvPr id="13" name="Rounded Rectangle 12"/>
          <p:cNvSpPr/>
          <p:nvPr/>
        </p:nvSpPr>
        <p:spPr>
          <a:xfrm>
            <a:off x="4340656" y="1280160"/>
            <a:ext cx="3511296" cy="1691640"/>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23536" y="1463039"/>
            <a:ext cx="292608" cy="292608"/>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5016" y="1408176"/>
            <a:ext cx="2779776" cy="365760"/>
          </a:xfrm>
          <a:prstGeom prst="rect">
            <a:avLst/>
          </a:prstGeom>
          <a:noFill/>
        </p:spPr>
        <p:txBody>
          <a:bodyPr wrap="square" lIns="27432" rIns="27432" tIns="27432" bIns="27432" anchor="t"/>
          <a:lstStyle/>
          <a:p>
            <a:pPr algn="l">
              <a:spcAft>
                <a:spcPts val="400"/>
              </a:spcAft>
            </a:pPr>
            <a:r>
              <a:rPr sz="1600" b="1" i="0">
                <a:solidFill>
                  <a:srgbClr val="13233A"/>
                </a:solidFill>
              </a:rPr>
              <a:t>Reliability</a:t>
            </a:r>
          </a:p>
        </p:txBody>
      </p:sp>
      <p:sp>
        <p:nvSpPr>
          <p:cNvPr id="16" name="TextBox 15"/>
          <p:cNvSpPr txBox="1"/>
          <p:nvPr/>
        </p:nvSpPr>
        <p:spPr>
          <a:xfrm>
            <a:off x="4523536" y="1901952"/>
            <a:ext cx="3145536" cy="1005840"/>
          </a:xfrm>
          <a:prstGeom prst="rect">
            <a:avLst/>
          </a:prstGeom>
          <a:noFill/>
        </p:spPr>
        <p:txBody>
          <a:bodyPr wrap="square" lIns="27432" rIns="27432" tIns="27432" bIns="27432" anchor="t"/>
          <a:lstStyle/>
          <a:p>
            <a:pPr algn="l">
              <a:spcAft>
                <a:spcPts val="400"/>
              </a:spcAft>
            </a:pPr>
            <a:r>
              <a:rPr sz="1400" b="0" i="0">
                <a:solidFill>
                  <a:srgbClr val="4A5568"/>
                </a:solidFill>
              </a:rPr>
              <a:t>Nominal optimum sits on the 1 % edge; misses it in 8 of 12 years.</a:t>
            </a:r>
          </a:p>
        </p:txBody>
      </p:sp>
      <p:sp>
        <p:nvSpPr>
          <p:cNvPr id="17" name="Rounded Rectangle 16"/>
          <p:cNvSpPr/>
          <p:nvPr/>
        </p:nvSpPr>
        <p:spPr>
          <a:xfrm>
            <a:off x="8071408" y="1280160"/>
            <a:ext cx="3511296" cy="1691640"/>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54288" y="1463039"/>
            <a:ext cx="292608" cy="29260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65768" y="1408176"/>
            <a:ext cx="2779776" cy="365760"/>
          </a:xfrm>
          <a:prstGeom prst="rect">
            <a:avLst/>
          </a:prstGeom>
          <a:noFill/>
        </p:spPr>
        <p:txBody>
          <a:bodyPr wrap="square" lIns="27432" rIns="27432" tIns="27432" bIns="27432" anchor="t"/>
          <a:lstStyle/>
          <a:p>
            <a:pPr algn="l">
              <a:spcAft>
                <a:spcPts val="400"/>
              </a:spcAft>
            </a:pPr>
            <a:r>
              <a:rPr sz="1600" b="1" i="0">
                <a:solidFill>
                  <a:srgbClr val="13233A"/>
                </a:solidFill>
              </a:rPr>
              <a:t>Robustness</a:t>
            </a:r>
          </a:p>
        </p:txBody>
      </p:sp>
      <p:sp>
        <p:nvSpPr>
          <p:cNvPr id="20" name="TextBox 19"/>
          <p:cNvSpPr txBox="1"/>
          <p:nvPr/>
        </p:nvSpPr>
        <p:spPr>
          <a:xfrm>
            <a:off x="8254288" y="1901952"/>
            <a:ext cx="3145536" cy="1005840"/>
          </a:xfrm>
          <a:prstGeom prst="rect">
            <a:avLst/>
          </a:prstGeom>
          <a:noFill/>
        </p:spPr>
        <p:txBody>
          <a:bodyPr wrap="square" lIns="27432" rIns="27432" tIns="27432" bIns="27432" anchor="t"/>
          <a:lstStyle/>
          <a:p>
            <a:pPr algn="l">
              <a:spcAft>
                <a:spcPts val="400"/>
              </a:spcAft>
            </a:pPr>
            <a:r>
              <a:rPr sz="1400" b="0" i="0">
                <a:solidFill>
                  <a:srgbClr val="4A5568"/>
                </a:solidFill>
              </a:rPr>
              <a:t>+14 % buys 1 % in every weather year; Monte Carlo misses 60 %.</a:t>
            </a:r>
          </a:p>
        </p:txBody>
      </p:sp>
      <p:sp>
        <p:nvSpPr>
          <p:cNvPr id="21" name="Rounded Rectangle 20"/>
          <p:cNvSpPr/>
          <p:nvPr/>
        </p:nvSpPr>
        <p:spPr>
          <a:xfrm>
            <a:off x="609904" y="3154680"/>
            <a:ext cx="3511296" cy="1691640"/>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2784" y="3337560"/>
            <a:ext cx="292608" cy="29260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4264" y="3282696"/>
            <a:ext cx="2779776" cy="365760"/>
          </a:xfrm>
          <a:prstGeom prst="rect">
            <a:avLst/>
          </a:prstGeom>
          <a:noFill/>
        </p:spPr>
        <p:txBody>
          <a:bodyPr wrap="square" lIns="27432" rIns="27432" tIns="27432" bIns="27432" anchor="t"/>
          <a:lstStyle/>
          <a:p>
            <a:pPr algn="l">
              <a:spcAft>
                <a:spcPts val="400"/>
              </a:spcAft>
            </a:pPr>
            <a:r>
              <a:rPr sz="1600" b="1" i="0">
                <a:solidFill>
                  <a:srgbClr val="13233A"/>
                </a:solidFill>
              </a:rPr>
              <a:t>Demand growth</a:t>
            </a:r>
          </a:p>
        </p:txBody>
      </p:sp>
      <p:sp>
        <p:nvSpPr>
          <p:cNvPr id="24" name="TextBox 23"/>
          <p:cNvSpPr txBox="1"/>
          <p:nvPr/>
        </p:nvSpPr>
        <p:spPr>
          <a:xfrm>
            <a:off x="792784" y="3776472"/>
            <a:ext cx="3145536" cy="1005840"/>
          </a:xfrm>
          <a:prstGeom prst="rect">
            <a:avLst/>
          </a:prstGeom>
          <a:noFill/>
        </p:spPr>
        <p:txBody>
          <a:bodyPr wrap="square" lIns="27432" rIns="27432" tIns="27432" bIns="27432" anchor="t"/>
          <a:lstStyle/>
          <a:p>
            <a:pPr algn="l">
              <a:spcAft>
                <a:spcPts val="400"/>
              </a:spcAft>
            </a:pPr>
            <a:r>
              <a:rPr sz="1400" b="0" i="0">
                <a:solidFill>
                  <a:srgbClr val="4A5568"/>
                </a:solidFill>
              </a:rPr>
              <a:t>Staged expansion saves 33 % at 10 %/yr.</a:t>
            </a:r>
          </a:p>
        </p:txBody>
      </p:sp>
      <p:sp>
        <p:nvSpPr>
          <p:cNvPr id="25" name="Rounded Rectangle 24"/>
          <p:cNvSpPr/>
          <p:nvPr/>
        </p:nvSpPr>
        <p:spPr>
          <a:xfrm>
            <a:off x="4340656" y="3154680"/>
            <a:ext cx="3511296" cy="1691640"/>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23536" y="3337560"/>
            <a:ext cx="292608" cy="292608"/>
          </a:xfrm>
          <a:prstGeom prst="ellipse">
            <a:avLst/>
          </a:prstGeom>
          <a:solidFill>
            <a:srgbClr val="1F7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5016" y="3282696"/>
            <a:ext cx="2779776" cy="365760"/>
          </a:xfrm>
          <a:prstGeom prst="rect">
            <a:avLst/>
          </a:prstGeom>
          <a:noFill/>
        </p:spPr>
        <p:txBody>
          <a:bodyPr wrap="square" lIns="27432" rIns="27432" tIns="27432" bIns="27432" anchor="t"/>
          <a:lstStyle/>
          <a:p>
            <a:pPr algn="l">
              <a:spcAft>
                <a:spcPts val="400"/>
              </a:spcAft>
            </a:pPr>
            <a:r>
              <a:rPr sz="1600" b="1" i="0">
                <a:solidFill>
                  <a:srgbClr val="13233A"/>
                </a:solidFill>
              </a:rPr>
              <a:t>Grid access</a:t>
            </a:r>
          </a:p>
        </p:txBody>
      </p:sp>
      <p:sp>
        <p:nvSpPr>
          <p:cNvPr id="28" name="TextBox 27"/>
          <p:cNvSpPr txBox="1"/>
          <p:nvPr/>
        </p:nvSpPr>
        <p:spPr>
          <a:xfrm>
            <a:off x="4523536" y="3776472"/>
            <a:ext cx="3145536" cy="1005840"/>
          </a:xfrm>
          <a:prstGeom prst="rect">
            <a:avLst/>
          </a:prstGeom>
          <a:noFill/>
        </p:spPr>
        <p:txBody>
          <a:bodyPr wrap="square" lIns="27432" rIns="27432" tIns="27432" bIns="27432" anchor="t"/>
          <a:lstStyle/>
          <a:p>
            <a:pPr algn="l">
              <a:spcAft>
                <a:spcPts val="400"/>
              </a:spcAft>
            </a:pPr>
            <a:r>
              <a:rPr sz="1400" b="0" i="0">
                <a:solidFill>
                  <a:srgbClr val="4A5568"/>
                </a:solidFill>
              </a:rPr>
              <a:t>Grid + PV is 63 % cheaper than off-grid; no battery.</a:t>
            </a:r>
          </a:p>
        </p:txBody>
      </p:sp>
      <p:sp>
        <p:nvSpPr>
          <p:cNvPr id="29" name="Rounded Rectangle 28"/>
          <p:cNvSpPr/>
          <p:nvPr/>
        </p:nvSpPr>
        <p:spPr>
          <a:xfrm>
            <a:off x="8071408" y="3154680"/>
            <a:ext cx="3511296" cy="1691640"/>
          </a:xfrm>
          <a:prstGeom prst="roundRect">
            <a:avLst>
              <a:gd name="adj" fmla="val 6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54288" y="3337560"/>
            <a:ext cx="292608" cy="292608"/>
          </a:xfrm>
          <a:prstGeom prst="ellipse">
            <a:avLst/>
          </a:prstGeom>
          <a:solidFill>
            <a:srgbClr val="625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65768" y="3282696"/>
            <a:ext cx="2779776" cy="365760"/>
          </a:xfrm>
          <a:prstGeom prst="rect">
            <a:avLst/>
          </a:prstGeom>
          <a:noFill/>
        </p:spPr>
        <p:txBody>
          <a:bodyPr wrap="square" lIns="27432" rIns="27432" tIns="27432" bIns="27432" anchor="t"/>
          <a:lstStyle/>
          <a:p>
            <a:pPr algn="l">
              <a:spcAft>
                <a:spcPts val="400"/>
              </a:spcAft>
            </a:pPr>
            <a:r>
              <a:rPr sz="1600" b="1" i="0">
                <a:solidFill>
                  <a:srgbClr val="13233A"/>
                </a:solidFill>
              </a:rPr>
              <a:t>Supercapacitor</a:t>
            </a:r>
          </a:p>
        </p:txBody>
      </p:sp>
      <p:sp>
        <p:nvSpPr>
          <p:cNvPr id="32" name="TextBox 31"/>
          <p:cNvSpPr txBox="1"/>
          <p:nvPr/>
        </p:nvSpPr>
        <p:spPr>
          <a:xfrm>
            <a:off x="8254288" y="3776472"/>
            <a:ext cx="3145536" cy="1005840"/>
          </a:xfrm>
          <a:prstGeom prst="rect">
            <a:avLst/>
          </a:prstGeom>
          <a:noFill/>
        </p:spPr>
        <p:txBody>
          <a:bodyPr wrap="square" lIns="27432" rIns="27432" tIns="27432" bIns="27432" anchor="t"/>
          <a:lstStyle/>
          <a:p>
            <a:pPr algn="l">
              <a:spcAft>
                <a:spcPts val="400"/>
              </a:spcAft>
            </a:pPr>
            <a:r>
              <a:rPr sz="1400" b="0" i="0">
                <a:solidFill>
                  <a:srgbClr val="4A5568"/>
                </a:solidFill>
              </a:rPr>
              <a:t>Technical benefit is real; economic benefit is at best break-even.</a:t>
            </a:r>
          </a:p>
        </p:txBody>
      </p:sp>
      <p:sp>
        <p:nvSpPr>
          <p:cNvPr id="33" name="Rounded Rectangle 32"/>
          <p:cNvSpPr/>
          <p:nvPr/>
        </p:nvSpPr>
        <p:spPr>
          <a:xfrm>
            <a:off x="609904" y="5074920"/>
            <a:ext cx="10972800" cy="1024128"/>
          </a:xfrm>
          <a:prstGeom prst="roundRect">
            <a:avLst>
              <a:gd name="adj" fmla="val 8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4224" y="5074920"/>
            <a:ext cx="10424160" cy="1024128"/>
          </a:xfrm>
          <a:prstGeom prst="rect">
            <a:avLst/>
          </a:prstGeom>
          <a:noFill/>
        </p:spPr>
        <p:txBody>
          <a:bodyPr wrap="square" lIns="27432" rIns="27432" tIns="27432" bIns="27432" anchor="ctr"/>
          <a:lstStyle/>
          <a:p>
            <a:pPr algn="l">
              <a:spcAft>
                <a:spcPts val="400"/>
              </a:spcAft>
            </a:pPr>
            <a:r>
              <a:rPr sz="1900" b="0" i="0">
                <a:solidFill>
                  <a:srgbClr val="FFFFFF"/>
                </a:solidFill>
              </a:rPr>
              <a:t>Optimal microgrid sizing is a trade-off between </a:t>
            </a:r>
            <a:r>
              <a:rPr sz="1900" b="1" i="0">
                <a:solidFill>
                  <a:srgbClr val="E8A33D"/>
                </a:solidFill>
              </a:rPr>
              <a:t>lifecycle cost, reliability and robustness</a:t>
            </a:r>
            <a:r>
              <a:rPr sz="1900" b="0" i="0">
                <a:solidFill>
                  <a:srgbClr val="FFFFFF"/>
                </a:solidFill>
              </a:rPr>
              <a:t> to changing operating conditions.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CONCLUSIONS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Conclusions, limitations and future work</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33 / 34</a:t>
            </a:r>
          </a:p>
        </p:txBody>
      </p:sp>
      <p:sp>
        <p:nvSpPr>
          <p:cNvPr id="9" name="Rounded Rectangle 8"/>
          <p:cNvSpPr/>
          <p:nvPr/>
        </p:nvSpPr>
        <p:spPr>
          <a:xfrm>
            <a:off x="609904" y="1280160"/>
            <a:ext cx="3511296" cy="484632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784" y="1389888"/>
            <a:ext cx="3145536" cy="384048"/>
          </a:xfrm>
          <a:prstGeom prst="rect">
            <a:avLst/>
          </a:prstGeom>
          <a:noFill/>
        </p:spPr>
        <p:txBody>
          <a:bodyPr wrap="square" lIns="27432" rIns="27432" tIns="27432" bIns="27432" anchor="t"/>
          <a:lstStyle/>
          <a:p>
            <a:pPr algn="l">
              <a:spcAft>
                <a:spcPts val="400"/>
              </a:spcAft>
            </a:pPr>
            <a:r>
              <a:rPr sz="1800" b="1" i="0">
                <a:solidFill>
                  <a:srgbClr val="1F7A72"/>
                </a:solidFill>
              </a:rPr>
              <a:t>Conclusions</a:t>
            </a:r>
          </a:p>
        </p:txBody>
      </p:sp>
      <p:sp>
        <p:nvSpPr>
          <p:cNvPr id="11" name="TextBox 10"/>
          <p:cNvSpPr txBox="1"/>
          <p:nvPr/>
        </p:nvSpPr>
        <p:spPr>
          <a:xfrm>
            <a:off x="792784" y="1874519"/>
            <a:ext cx="3145536" cy="4160520"/>
          </a:xfrm>
          <a:prstGeom prst="rect">
            <a:avLst/>
          </a:prstGeom>
          <a:noFill/>
        </p:spPr>
        <p:txBody>
          <a:bodyPr wrap="square" lIns="27432" rIns="27432" tIns="27432" bIns="27432" anchor="t"/>
          <a:lstStyle/>
          <a:p>
            <a:pPr algn="l" marL="201168" indent="-182880">
              <a:spcAft>
                <a:spcPts val="900"/>
              </a:spcAft>
              <a:buClr>
                <a:srgbClr val="1F7A72"/>
              </a:buClr>
              <a:buChar char="•"/>
            </a:pPr>
            <a:r>
              <a:rPr sz="1400" b="0" i="0">
                <a:solidFill>
                  <a:srgbClr val="4A5568"/>
                </a:solidFill>
              </a:rPr>
              <a:t>Optimum: 4,368 kW PV, 10.6 MWh, 998 kW; ₹385.1 M, ₹11.25/kWh</a:t>
            </a:r>
          </a:p>
          <a:p>
            <a:pPr algn="l" marL="201168" indent="-182880">
              <a:spcAft>
                <a:spcPts val="900"/>
              </a:spcAft>
              <a:buClr>
                <a:srgbClr val="1F7A72"/>
              </a:buClr>
              <a:buChar char="•"/>
            </a:pPr>
            <a:r>
              <a:rPr sz="1400" b="0" i="0">
                <a:solidFill>
                  <a:srgbClr val="4A5568"/>
                </a:solidFill>
              </a:rPr>
              <a:t>PSO matches and improves on grid search (5/5 seeds)</a:t>
            </a:r>
          </a:p>
          <a:p>
            <a:pPr algn="l" marL="201168" indent="-182880">
              <a:spcAft>
                <a:spcPts val="900"/>
              </a:spcAft>
              <a:buClr>
                <a:srgbClr val="1F7A72"/>
              </a:buClr>
              <a:buChar char="•"/>
            </a:pPr>
            <a:r>
              <a:rPr sz="1400" b="0" i="0">
                <a:solidFill>
                  <a:srgbClr val="4A5568"/>
                </a:solidFill>
              </a:rPr>
              <a:t>Robust to 12 weather years: +14 % cost</a:t>
            </a:r>
          </a:p>
          <a:p>
            <a:pPr algn="l" marL="201168" indent="-182880">
              <a:spcAft>
                <a:spcPts val="900"/>
              </a:spcAft>
              <a:buClr>
                <a:srgbClr val="1F7A72"/>
              </a:buClr>
              <a:buChar char="•"/>
            </a:pPr>
            <a:r>
              <a:rPr sz="1400" b="0" i="0">
                <a:solidFill>
                  <a:srgbClr val="4A5568"/>
                </a:solidFill>
              </a:rPr>
              <a:t>Staging saves 33 % under 10 % growth</a:t>
            </a:r>
          </a:p>
          <a:p>
            <a:pPr algn="l" marL="201168" indent="-182880">
              <a:spcAft>
                <a:spcPts val="900"/>
              </a:spcAft>
              <a:buClr>
                <a:srgbClr val="1F7A72"/>
              </a:buClr>
              <a:buChar char="•"/>
            </a:pPr>
            <a:r>
              <a:rPr sz="1400" b="0" i="0">
                <a:solidFill>
                  <a:srgbClr val="4A5568"/>
                </a:solidFill>
              </a:rPr>
              <a:t>Grid + PV: ₹142 M, no battery</a:t>
            </a:r>
          </a:p>
          <a:p>
            <a:pPr algn="l" marL="201168" indent="-182880">
              <a:spcAft>
                <a:spcPts val="900"/>
              </a:spcAft>
              <a:buClr>
                <a:srgbClr val="1F7A72"/>
              </a:buClr>
              <a:buChar char="•"/>
            </a:pPr>
            <a:r>
              <a:rPr sz="1400" b="0" i="0">
                <a:solidFill>
                  <a:srgbClr val="4A5568"/>
                </a:solidFill>
              </a:rPr>
              <a:t>Supercapacitor: at best break-even</a:t>
            </a:r>
          </a:p>
        </p:txBody>
      </p:sp>
      <p:sp>
        <p:nvSpPr>
          <p:cNvPr id="12" name="Rounded Rectangle 11"/>
          <p:cNvSpPr/>
          <p:nvPr/>
        </p:nvSpPr>
        <p:spPr>
          <a:xfrm>
            <a:off x="4340656" y="1280160"/>
            <a:ext cx="3511296" cy="484632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3536" y="1389888"/>
            <a:ext cx="3145536" cy="384048"/>
          </a:xfrm>
          <a:prstGeom prst="rect">
            <a:avLst/>
          </a:prstGeom>
          <a:noFill/>
        </p:spPr>
        <p:txBody>
          <a:bodyPr wrap="square" lIns="27432" rIns="27432" tIns="27432" bIns="27432" anchor="t"/>
          <a:lstStyle/>
          <a:p>
            <a:pPr algn="l">
              <a:spcAft>
                <a:spcPts val="400"/>
              </a:spcAft>
            </a:pPr>
            <a:r>
              <a:rPr sz="1800" b="1" i="0">
                <a:solidFill>
                  <a:srgbClr val="E34948"/>
                </a:solidFill>
              </a:rPr>
              <a:t>Limitations</a:t>
            </a:r>
          </a:p>
        </p:txBody>
      </p:sp>
      <p:sp>
        <p:nvSpPr>
          <p:cNvPr id="14" name="TextBox 13"/>
          <p:cNvSpPr txBox="1"/>
          <p:nvPr/>
        </p:nvSpPr>
        <p:spPr>
          <a:xfrm>
            <a:off x="4523536" y="1874519"/>
            <a:ext cx="3145536" cy="4160520"/>
          </a:xfrm>
          <a:prstGeom prst="rect">
            <a:avLst/>
          </a:prstGeom>
          <a:noFill/>
        </p:spPr>
        <p:txBody>
          <a:bodyPr wrap="square" lIns="27432" rIns="27432" tIns="27432" bIns="27432" anchor="t"/>
          <a:lstStyle/>
          <a:p>
            <a:pPr algn="l" marL="201168" indent="-182880">
              <a:spcAft>
                <a:spcPts val="900"/>
              </a:spcAft>
              <a:buClr>
                <a:srgbClr val="E34948"/>
              </a:buClr>
              <a:buChar char="•"/>
            </a:pPr>
            <a:r>
              <a:rPr sz="1400" b="0" i="0">
                <a:solidFill>
                  <a:srgbClr val="4A5568"/>
                </a:solidFill>
              </a:rPr>
              <a:t>Synthetic load, not metered</a:t>
            </a:r>
          </a:p>
          <a:p>
            <a:pPr algn="l" marL="201168" indent="-182880">
              <a:spcAft>
                <a:spcPts val="900"/>
              </a:spcAft>
              <a:buClr>
                <a:srgbClr val="E34948"/>
              </a:buClr>
              <a:buChar char="•"/>
            </a:pPr>
            <a:r>
              <a:rPr sz="1400" b="0" i="0">
                <a:solidFill>
                  <a:srgbClr val="4A5568"/>
                </a:solidFill>
              </a:rPr>
              <a:t>Verified (35 checks), not externally validated</a:t>
            </a:r>
          </a:p>
          <a:p>
            <a:pPr algn="l" marL="201168" indent="-182880">
              <a:spcAft>
                <a:spcPts val="900"/>
              </a:spcAft>
              <a:buClr>
                <a:srgbClr val="E34948"/>
              </a:buClr>
              <a:buChar char="•"/>
            </a:pPr>
            <a:r>
              <a:rPr sz="1400" b="0" i="0">
                <a:solidFill>
                  <a:srgbClr val="4A5568"/>
                </a:solidFill>
              </a:rPr>
              <a:t>SC price, surge, on-times are placeholders</a:t>
            </a:r>
          </a:p>
          <a:p>
            <a:pPr algn="l" marL="201168" indent="-182880">
              <a:spcAft>
                <a:spcPts val="900"/>
              </a:spcAft>
              <a:buClr>
                <a:srgbClr val="E34948"/>
              </a:buClr>
              <a:buChar char="•"/>
            </a:pPr>
            <a:r>
              <a:rPr sz="1400" b="0" i="0">
                <a:solidFill>
                  <a:srgbClr val="4A5568"/>
                </a:solidFill>
              </a:rPr>
              <a:t>Costs from 2016–17; lead-acid only</a:t>
            </a:r>
          </a:p>
          <a:p>
            <a:pPr algn="l" marL="201168" indent="-182880">
              <a:spcAft>
                <a:spcPts val="900"/>
              </a:spcAft>
              <a:buClr>
                <a:srgbClr val="E34948"/>
              </a:buClr>
              <a:buChar char="•"/>
            </a:pPr>
            <a:r>
              <a:rPr sz="1400" b="0" i="0">
                <a:solidFill>
                  <a:srgbClr val="4A5568"/>
                </a:solidFill>
              </a:rPr>
              <a:t>Grid case ignores outages</a:t>
            </a:r>
          </a:p>
          <a:p>
            <a:pPr algn="l" marL="201168" indent="-182880">
              <a:spcAft>
                <a:spcPts val="900"/>
              </a:spcAft>
              <a:buClr>
                <a:srgbClr val="E34948"/>
              </a:buClr>
              <a:buChar char="•"/>
            </a:pPr>
            <a:r>
              <a:rPr sz="1400" b="0" i="0">
                <a:solidFill>
                  <a:srgbClr val="4A5568"/>
                </a:solidFill>
              </a:rPr>
              <a:t>Hourly model; one load shape for all years</a:t>
            </a:r>
          </a:p>
        </p:txBody>
      </p:sp>
      <p:sp>
        <p:nvSpPr>
          <p:cNvPr id="15" name="Rounded Rectangle 14"/>
          <p:cNvSpPr/>
          <p:nvPr/>
        </p:nvSpPr>
        <p:spPr>
          <a:xfrm>
            <a:off x="8071408" y="1280160"/>
            <a:ext cx="3511296" cy="4846320"/>
          </a:xfrm>
          <a:prstGeom prst="roundRect">
            <a:avLst>
              <a:gd name="adj" fmla="val 4000"/>
            </a:avLst>
          </a:prstGeom>
          <a:solidFill>
            <a:srgbClr val="FBFBF8"/>
          </a:solidFill>
          <a:ln w="9525">
            <a:solidFill>
              <a:srgbClr val="D5DB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4288" y="1389888"/>
            <a:ext cx="3145536" cy="384048"/>
          </a:xfrm>
          <a:prstGeom prst="rect">
            <a:avLst/>
          </a:prstGeom>
          <a:noFill/>
        </p:spPr>
        <p:txBody>
          <a:bodyPr wrap="square" lIns="27432" rIns="27432" tIns="27432" bIns="27432" anchor="t"/>
          <a:lstStyle/>
          <a:p>
            <a:pPr algn="l">
              <a:spcAft>
                <a:spcPts val="400"/>
              </a:spcAft>
            </a:pPr>
            <a:r>
              <a:rPr sz="1800" b="1" i="0">
                <a:solidFill>
                  <a:srgbClr val="2E6F95"/>
                </a:solidFill>
              </a:rPr>
              <a:t>Future work</a:t>
            </a:r>
          </a:p>
        </p:txBody>
      </p:sp>
      <p:sp>
        <p:nvSpPr>
          <p:cNvPr id="17" name="TextBox 16"/>
          <p:cNvSpPr txBox="1"/>
          <p:nvPr/>
        </p:nvSpPr>
        <p:spPr>
          <a:xfrm>
            <a:off x="8254288" y="1874519"/>
            <a:ext cx="3145536" cy="4160520"/>
          </a:xfrm>
          <a:prstGeom prst="rect">
            <a:avLst/>
          </a:prstGeom>
          <a:noFill/>
        </p:spPr>
        <p:txBody>
          <a:bodyPr wrap="square" lIns="27432" rIns="27432" tIns="27432" bIns="27432" anchor="t"/>
          <a:lstStyle/>
          <a:p>
            <a:pPr algn="l" marL="201168" indent="-182880">
              <a:spcAft>
                <a:spcPts val="900"/>
              </a:spcAft>
              <a:buClr>
                <a:srgbClr val="2E6F95"/>
              </a:buClr>
              <a:buChar char="•"/>
            </a:pPr>
            <a:r>
              <a:rPr sz="1400" b="0" i="0">
                <a:solidFill>
                  <a:srgbClr val="4A5568"/>
                </a:solidFill>
              </a:rPr>
              <a:t>Calibrate with department meter data</a:t>
            </a:r>
          </a:p>
          <a:p>
            <a:pPr algn="l" marL="201168" indent="-182880">
              <a:spcAft>
                <a:spcPts val="900"/>
              </a:spcAft>
              <a:buClr>
                <a:srgbClr val="2E6F95"/>
              </a:buClr>
              <a:buChar char="•"/>
            </a:pPr>
            <a:r>
              <a:rPr sz="1400" b="0" i="0">
                <a:solidFill>
                  <a:srgbClr val="4A5568"/>
                </a:solidFill>
              </a:rPr>
              <a:t>Adopt the multi-year design as the main result</a:t>
            </a:r>
          </a:p>
          <a:p>
            <a:pPr algn="l" marL="201168" indent="-182880">
              <a:spcAft>
                <a:spcPts val="900"/>
              </a:spcAft>
              <a:buClr>
                <a:srgbClr val="2E6F95"/>
              </a:buClr>
              <a:buChar char="•"/>
            </a:pPr>
            <a:r>
              <a:rPr sz="1400" b="0" i="0">
                <a:solidFill>
                  <a:srgbClr val="4A5568"/>
                </a:solidFill>
              </a:rPr>
              <a:t>Compare LFP batteries at today's prices</a:t>
            </a:r>
          </a:p>
          <a:p>
            <a:pPr algn="l" marL="201168" indent="-182880">
              <a:spcAft>
                <a:spcPts val="900"/>
              </a:spcAft>
              <a:buClr>
                <a:srgbClr val="2E6F95"/>
              </a:buClr>
              <a:buChar char="•"/>
            </a:pPr>
            <a:r>
              <a:rPr sz="1400" b="0" i="0">
                <a:solidFill>
                  <a:srgbClr val="4A5568"/>
                </a:solidFill>
              </a:rPr>
              <a:t>Add diesel backup, as in Kumar et al.</a:t>
            </a:r>
          </a:p>
          <a:p>
            <a:pPr algn="l" marL="201168" indent="-182880">
              <a:spcAft>
                <a:spcPts val="900"/>
              </a:spcAft>
              <a:buClr>
                <a:srgbClr val="2E6F95"/>
              </a:buClr>
              <a:buChar char="•"/>
            </a:pPr>
            <a:r>
              <a:rPr sz="1400" b="0" i="0">
                <a:solidFill>
                  <a:srgbClr val="4A5568"/>
                </a:solidFill>
              </a:rPr>
              <a:t>CO₂ savings and cost–emission trade-off</a:t>
            </a:r>
          </a:p>
          <a:p>
            <a:pPr algn="l" marL="201168" indent="-182880">
              <a:spcAft>
                <a:spcPts val="900"/>
              </a:spcAft>
              <a:buClr>
                <a:srgbClr val="2E6F95"/>
              </a:buClr>
              <a:buChar char="•"/>
            </a:pPr>
            <a:r>
              <a:rPr sz="1400" b="0" i="0">
                <a:solidFill>
                  <a:srgbClr val="4A5568"/>
                </a:solidFill>
              </a:rPr>
              <a:t>Supplier quotes for SC and DC–DC stage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2191695" cy="952530"/>
          </a:xfrm>
          <a:prstGeom prst="rect">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ader rule"/>
          <p:cNvSpPr/>
          <p:nvPr/>
        </p:nvSpPr>
        <p:spPr>
          <a:xfrm>
            <a:off x="0" y="952530"/>
            <a:ext cx="12191695" cy="3813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yebrow"/>
          <p:cNvSpPr txBox="1"/>
          <p:nvPr/>
        </p:nvSpPr>
        <p:spPr>
          <a:xfrm>
            <a:off x="609904" y="177393"/>
            <a:ext cx="9811512" cy="237744"/>
          </a:xfrm>
          <a:prstGeom prst="rect">
            <a:avLst/>
          </a:prstGeom>
          <a:noFill/>
        </p:spPr>
        <p:txBody>
          <a:bodyPr wrap="square" lIns="27432" rIns="27432" tIns="27432" bIns="27432" anchor="t"/>
          <a:lstStyle/>
          <a:p>
            <a:pPr algn="l">
              <a:spcAft>
                <a:spcPts val="400"/>
              </a:spcAft>
            </a:pPr>
            <a:r>
              <a:rPr sz="1200" b="1" i="0">
                <a:solidFill>
                  <a:srgbClr val="E8A33D"/>
                </a:solidFill>
              </a:rPr>
              <a:t>REFERENCES</a:t>
            </a:r>
          </a:p>
        </p:txBody>
      </p:sp>
      <p:sp>
        <p:nvSpPr>
          <p:cNvPr id="5" name="Title"/>
          <p:cNvSpPr txBox="1"/>
          <p:nvPr/>
        </p:nvSpPr>
        <p:spPr>
          <a:xfrm>
            <a:off x="609904" y="393192"/>
            <a:ext cx="9966960" cy="457200"/>
          </a:xfrm>
          <a:prstGeom prst="rect">
            <a:avLst/>
          </a:prstGeom>
          <a:noFill/>
        </p:spPr>
        <p:txBody>
          <a:bodyPr wrap="square" lIns="27432" rIns="27432" tIns="27432" bIns="27432" anchor="t"/>
          <a:lstStyle/>
          <a:p>
            <a:pPr algn="l">
              <a:spcAft>
                <a:spcPts val="400"/>
              </a:spcAft>
            </a:pPr>
            <a:r>
              <a:rPr sz="2600" b="1" i="0">
                <a:solidFill>
                  <a:srgbClr val="FFFFFF"/>
                </a:solidFill>
              </a:rPr>
              <a:t>References and acknowledgements</a:t>
            </a:r>
          </a:p>
        </p:txBody>
      </p:sp>
      <p:sp>
        <p:nvSpPr>
          <p:cNvPr id="6" name="Logo slot"/>
          <p:cNvSpPr/>
          <p:nvPr/>
        </p:nvSpPr>
        <p:spPr>
          <a:xfrm>
            <a:off x="10917936" y="146304"/>
            <a:ext cx="658368" cy="65836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609904" y="6365138"/>
            <a:ext cx="9144000" cy="237744"/>
          </a:xfrm>
          <a:prstGeom prst="rect">
            <a:avLst/>
          </a:prstGeom>
          <a:noFill/>
        </p:spPr>
        <p:txBody>
          <a:bodyPr wrap="square" lIns="27432" rIns="27432" tIns="27432" bIns="27432" anchor="t"/>
          <a:lstStyle/>
          <a:p>
            <a:pPr algn="l">
              <a:spcAft>
                <a:spcPts val="400"/>
              </a:spcAft>
            </a:pPr>
            <a:r>
              <a:rPr sz="1200" b="0" i="0">
                <a:solidFill>
                  <a:srgbClr val="5F6B78"/>
                </a:solidFill>
              </a:rPr>
              <a:t>Amit Raj · Optimal Cost Sizing of a PV–Battery Microgrid · B.Tech Project, IIT Guwahati</a:t>
            </a:r>
          </a:p>
        </p:txBody>
      </p:sp>
      <p:sp>
        <p:nvSpPr>
          <p:cNvPr id="8" name="Page number"/>
          <p:cNvSpPr txBox="1"/>
          <p:nvPr/>
        </p:nvSpPr>
        <p:spPr>
          <a:xfrm>
            <a:off x="10261396" y="6365138"/>
            <a:ext cx="1320393" cy="237744"/>
          </a:xfrm>
          <a:prstGeom prst="rect">
            <a:avLst/>
          </a:prstGeom>
          <a:noFill/>
        </p:spPr>
        <p:txBody>
          <a:bodyPr wrap="square" lIns="27432" rIns="27432" tIns="27432" bIns="27432" anchor="t"/>
          <a:lstStyle/>
          <a:p>
            <a:pPr algn="r">
              <a:spcAft>
                <a:spcPts val="400"/>
              </a:spcAft>
            </a:pPr>
            <a:r>
              <a:rPr sz="1200" b="0" i="0">
                <a:solidFill>
                  <a:srgbClr val="5F6B78"/>
                </a:solidFill>
              </a:rPr>
              <a:t/>
            </a:r>
            <a:r>
              <a:rPr sz="1200" b="0" i="0">
                <a:solidFill>
                  <a:srgbClr val="5F6B78"/>
                </a:solidFill>
              </a:rPr>
              <a:t>34 / 34</a:t>
            </a:r>
          </a:p>
        </p:txBody>
      </p:sp>
      <p:sp>
        <p:nvSpPr>
          <p:cNvPr id="9" name="TextBox 8"/>
          <p:cNvSpPr txBox="1"/>
          <p:nvPr/>
        </p:nvSpPr>
        <p:spPr>
          <a:xfrm>
            <a:off x="609904" y="1207008"/>
            <a:ext cx="5394960" cy="4206240"/>
          </a:xfrm>
          <a:prstGeom prst="rect">
            <a:avLst/>
          </a:prstGeom>
          <a:noFill/>
        </p:spPr>
        <p:txBody>
          <a:bodyPr wrap="square" lIns="27432" rIns="27432" tIns="27432" bIns="27432" anchor="t"/>
          <a:lstStyle/>
          <a:p>
            <a:pPr algn="l">
              <a:spcAft>
                <a:spcPts val="300"/>
              </a:spcAft>
            </a:pPr>
            <a:r>
              <a:rPr sz="1000" b="1" i="0">
                <a:solidFill>
                  <a:srgbClr val="13233A"/>
                </a:solidFill>
              </a:rPr>
              <a:t>[1] </a:t>
            </a:r>
            <a:r>
              <a:rPr sz="1000" b="0" i="0">
                <a:solidFill>
                  <a:srgbClr val="4A5568"/>
                </a:solidFill>
              </a:rPr>
              <a:t>A. Kumar, A. R. Singh, Y. Deng, X. He, P. Kumar, R. C. Bansal, “Multiyear load growth based techno-financial evaluation of a microgrid for an academic institution,” IEEE Access, vol. 6, pp. 37533–37555, 2018. doi:10.1109/ACCESS.2018.2849411</a:t>
            </a:r>
          </a:p>
          <a:p>
            <a:pPr algn="l">
              <a:spcAft>
                <a:spcPts val="300"/>
              </a:spcAft>
            </a:pPr>
            <a:r>
              <a:rPr sz="1000" b="1" i="0">
                <a:solidFill>
                  <a:srgbClr val="13233A"/>
                </a:solidFill>
              </a:rPr>
              <a:t>[2] </a:t>
            </a:r>
            <a:r>
              <a:rPr sz="1000" b="0" i="0">
                <a:solidFill>
                  <a:srgbClr val="4A5568"/>
                </a:solidFill>
              </a:rPr>
              <a:t>CERC, Determination of levellised generic tariff for FY 2016-17, Petition No. SM/03/2016, order 29 Apr 2016. cercind.gov.in/2016/orders/SORE.pdf</a:t>
            </a:r>
          </a:p>
          <a:p>
            <a:pPr algn="l">
              <a:spcAft>
                <a:spcPts val="300"/>
              </a:spcAft>
            </a:pPr>
            <a:r>
              <a:rPr sz="1000" b="1" i="0">
                <a:solidFill>
                  <a:srgbClr val="13233A"/>
                </a:solidFill>
              </a:rPr>
              <a:t>[3] </a:t>
            </a:r>
            <a:r>
              <a:rPr sz="1000" b="0" i="0">
                <a:solidFill>
                  <a:srgbClr val="4A5568"/>
                </a:solidFill>
              </a:rPr>
              <a:t>CERC, Benchmark capital cost norm for solar PV and solar thermal projects, FY 2016-17, Petition No. 17/SM/2015, order 23 Mar 2016.</a:t>
            </a:r>
          </a:p>
          <a:p>
            <a:pPr algn="l">
              <a:spcAft>
                <a:spcPts val="300"/>
              </a:spcAft>
            </a:pPr>
            <a:r>
              <a:rPr sz="1000" b="1" i="0">
                <a:solidFill>
                  <a:srgbClr val="13233A"/>
                </a:solidFill>
              </a:rPr>
              <a:t>[4] </a:t>
            </a:r>
            <a:r>
              <a:rPr sz="1000" b="0" i="0">
                <a:solidFill>
                  <a:srgbClr val="4A5568"/>
                </a:solidFill>
              </a:rPr>
              <a:t>NASA POWER Project, hourly all-sky irradiance (CERES SYN1deg) and 2 m temperature (MERRA-2), 26.162 N 91.7668 E, 2013–2024. power.larc.nasa.gov</a:t>
            </a:r>
          </a:p>
          <a:p>
            <a:pPr algn="l">
              <a:spcAft>
                <a:spcPts val="300"/>
              </a:spcAft>
            </a:pPr>
            <a:r>
              <a:rPr sz="1000" b="1" i="0">
                <a:solidFill>
                  <a:srgbClr val="13233A"/>
                </a:solidFill>
              </a:rPr>
              <a:t>[5] </a:t>
            </a:r>
            <a:r>
              <a:rPr sz="1000" b="0" i="0">
                <a:solidFill>
                  <a:srgbClr val="4A5568"/>
                </a:solidFill>
              </a:rPr>
              <a:t>Discover Energy Corp., 12VRE-3000TF-L Tubular Flooded RE Series datasheet, 12 Nov 2013.</a:t>
            </a:r>
          </a:p>
          <a:p>
            <a:pPr algn="l">
              <a:spcAft>
                <a:spcPts val="300"/>
              </a:spcAft>
            </a:pPr>
            <a:r>
              <a:rPr sz="1000" b="1" i="0">
                <a:solidFill>
                  <a:srgbClr val="13233A"/>
                </a:solidFill>
              </a:rPr>
              <a:t>[6] </a:t>
            </a:r>
            <a:r>
              <a:rPr sz="1000" b="0" i="0">
                <a:solidFill>
                  <a:srgbClr val="4A5568"/>
                </a:solidFill>
              </a:rPr>
              <a:t>B. S. Borowy, Z. M. Salameh, “Methodology for optimally sizing the combination of a battery bank and PV array in a wind/PV hybrid system,” IEEE Trans. Energy Convers., vol. 11, no. 2, pp. 367–375, 1996. doi:10.1109/60.507648</a:t>
            </a:r>
          </a:p>
          <a:p>
            <a:pPr algn="l">
              <a:spcAft>
                <a:spcPts val="300"/>
              </a:spcAft>
            </a:pPr>
            <a:r>
              <a:rPr sz="1000" b="1" i="0">
                <a:solidFill>
                  <a:srgbClr val="13233A"/>
                </a:solidFill>
              </a:rPr>
              <a:t>[7] </a:t>
            </a:r>
            <a:r>
              <a:rPr sz="1000" b="0" i="0">
                <a:solidFill>
                  <a:srgbClr val="4A5568"/>
                </a:solidFill>
              </a:rPr>
              <a:t>H. Yang, W. Zhou, L. Lu, Z. Fang, “Optimal sizing method for stand-alone hybrid solar–wind system with LPSP technology by using genetic algorithm,” Solar Energy, vol. 82, no. 4, pp. 354–367, 2008. doi:10.1016/j.solener.2007.08.005</a:t>
            </a:r>
          </a:p>
          <a:p>
            <a:pPr algn="l">
              <a:spcAft>
                <a:spcPts val="300"/>
              </a:spcAft>
            </a:pPr>
            <a:r>
              <a:rPr sz="1000" b="1" i="0">
                <a:solidFill>
                  <a:srgbClr val="13233A"/>
                </a:solidFill>
              </a:rPr>
              <a:t>[8] </a:t>
            </a:r>
            <a:r>
              <a:rPr sz="1000" b="0" i="0">
                <a:solidFill>
                  <a:srgbClr val="4A5568"/>
                </a:solidFill>
              </a:rPr>
              <a:t>R. Dufo-López, J. L. Bernal-Agustín, “Multi-objective design of PV–wind–diesel–hydrogen–battery systems,” Renewable Energy, vol. 33, no. 12, pp. 2559–2572, 2008. doi:10.1016/j.renene.2008.02.027</a:t>
            </a:r>
          </a:p>
        </p:txBody>
      </p:sp>
      <p:sp>
        <p:nvSpPr>
          <p:cNvPr id="10" name="TextBox 9"/>
          <p:cNvSpPr txBox="1"/>
          <p:nvPr/>
        </p:nvSpPr>
        <p:spPr>
          <a:xfrm>
            <a:off x="6187744" y="1207008"/>
            <a:ext cx="5394960" cy="4206240"/>
          </a:xfrm>
          <a:prstGeom prst="rect">
            <a:avLst/>
          </a:prstGeom>
          <a:noFill/>
        </p:spPr>
        <p:txBody>
          <a:bodyPr wrap="square" lIns="27432" rIns="27432" tIns="27432" bIns="27432" anchor="t"/>
          <a:lstStyle/>
          <a:p>
            <a:pPr algn="l">
              <a:spcAft>
                <a:spcPts val="300"/>
              </a:spcAft>
            </a:pPr>
            <a:r>
              <a:rPr sz="1000" b="1" i="0">
                <a:solidFill>
                  <a:srgbClr val="13233A"/>
                </a:solidFill>
              </a:rPr>
              <a:t>[9] </a:t>
            </a:r>
            <a:r>
              <a:rPr sz="1000" b="0" i="0">
                <a:solidFill>
                  <a:srgbClr val="4A5568"/>
                </a:solidFill>
              </a:rPr>
              <a:t>B. Xu, A. Oudalov, A. Ulbig, G. Andersson, D. S. Kirschen, “Modeling of lithium-ion battery degradation for cell life assessment,” IEEE Trans. Smart Grid, vol. 9, no. 2, pp. 1131–1140, 2018. doi:10.1109/TSG.2016.2578950</a:t>
            </a:r>
          </a:p>
          <a:p>
            <a:pPr algn="l">
              <a:spcAft>
                <a:spcPts val="300"/>
              </a:spcAft>
            </a:pPr>
            <a:r>
              <a:rPr sz="1000" b="1" i="0">
                <a:solidFill>
                  <a:srgbClr val="13233A"/>
                </a:solidFill>
              </a:rPr>
              <a:t>[10] </a:t>
            </a:r>
            <a:r>
              <a:rPr sz="1000" b="0" i="0">
                <a:solidFill>
                  <a:srgbClr val="4A5568"/>
                </a:solidFill>
              </a:rPr>
              <a:t>J. Kennedy, R. Eberhart, “Particle swarm optimization,” Proc. ICNN’95, vol. 4, pp. 1942–1948, 1995. doi:10.1109/ICNN.1995.488968</a:t>
            </a:r>
          </a:p>
          <a:p>
            <a:pPr algn="l">
              <a:spcAft>
                <a:spcPts val="300"/>
              </a:spcAft>
            </a:pPr>
            <a:r>
              <a:rPr sz="1000" b="1" i="0">
                <a:solidFill>
                  <a:srgbClr val="13233A"/>
                </a:solidFill>
              </a:rPr>
              <a:t>[11] </a:t>
            </a:r>
            <a:r>
              <a:rPr sz="1000" b="0" i="0">
                <a:solidFill>
                  <a:srgbClr val="4A5568"/>
                </a:solidFill>
              </a:rPr>
              <a:t>M. Clerc, J. Kennedy, “The particle swarm — explosion, stability, and convergence in a multidimensional complex space,” IEEE Trans. Evol. Comput., vol. 6, no. 1, pp. 58–73, 2002. doi:10.1109/4235.985692</a:t>
            </a:r>
          </a:p>
          <a:p>
            <a:pPr algn="l">
              <a:spcAft>
                <a:spcPts val="300"/>
              </a:spcAft>
            </a:pPr>
            <a:r>
              <a:rPr sz="1000" b="1" i="0">
                <a:solidFill>
                  <a:srgbClr val="13233A"/>
                </a:solidFill>
              </a:rPr>
              <a:t>[12] </a:t>
            </a:r>
            <a:r>
              <a:rPr sz="1000" b="0" i="0">
                <a:solidFill>
                  <a:srgbClr val="4A5568"/>
                </a:solidFill>
              </a:rPr>
              <a:t>R. H. Lasseter, “MicroGrids,” IEEE PES Winter Meeting, vol. 1, pp. 305–308, 2002. doi:10.1109/PESW.2002.985003</a:t>
            </a:r>
          </a:p>
          <a:p>
            <a:pPr algn="l">
              <a:spcAft>
                <a:spcPts val="300"/>
              </a:spcAft>
            </a:pPr>
            <a:r>
              <a:rPr sz="1000" b="1" i="0">
                <a:solidFill>
                  <a:srgbClr val="13233A"/>
                </a:solidFill>
              </a:rPr>
              <a:t>[13] </a:t>
            </a:r>
            <a:r>
              <a:rPr sz="1000" b="0" i="0">
                <a:solidFill>
                  <a:srgbClr val="4A5568"/>
                </a:solidFill>
              </a:rPr>
              <a:t>N. Hatziargyriou, H. Asano, R. Iravani, C. Marnay, “Microgrids,” IEEE Power Energy Mag., vol. 5, no. 4, pp. 78–94, 2007. doi:10.1109/MPAE.2007.376583</a:t>
            </a:r>
          </a:p>
          <a:p>
            <a:pPr algn="l">
              <a:spcAft>
                <a:spcPts val="300"/>
              </a:spcAft>
            </a:pPr>
            <a:r>
              <a:rPr sz="1000" b="1" i="0">
                <a:solidFill>
                  <a:srgbClr val="13233A"/>
                </a:solidFill>
              </a:rPr>
              <a:t>[14] </a:t>
            </a:r>
            <a:r>
              <a:rPr sz="1000" b="0" i="0">
                <a:solidFill>
                  <a:srgbClr val="4A5568"/>
                </a:solidFill>
              </a:rPr>
              <a:t>T. Dragičević, X. Lu, J. C. Vasquez, J. M. Guerrero, “DC microgrids—Part I: A review of control strategies and stabilization techniques,” IEEE Trans. Power Electron., vol. 31, no. 7, pp. 4876–4891, 2016. doi:10.1109/TPEL.2015.2478859</a:t>
            </a:r>
          </a:p>
          <a:p>
            <a:pPr algn="l">
              <a:spcAft>
                <a:spcPts val="300"/>
              </a:spcAft>
            </a:pPr>
            <a:r>
              <a:rPr sz="1000" b="1" i="0">
                <a:solidFill>
                  <a:srgbClr val="13233A"/>
                </a:solidFill>
              </a:rPr>
              <a:t>[15] </a:t>
            </a:r>
            <a:r>
              <a:rPr sz="1000" b="0" i="0">
                <a:solidFill>
                  <a:srgbClr val="4A5568"/>
                </a:solidFill>
              </a:rPr>
              <a:t>T. Lambert, P. Gilman, P. Lilienthal, “Micropower system modeling with HOMER,” in Integration of Alternative Sources of Energy, Wiley, 2006, ch. 15. doi:10.1002/0471755621.ch15</a:t>
            </a:r>
          </a:p>
          <a:p>
            <a:pPr algn="l">
              <a:spcAft>
                <a:spcPts val="300"/>
              </a:spcAft>
            </a:pPr>
            <a:r>
              <a:rPr sz="1000" b="1" i="0">
                <a:solidFill>
                  <a:srgbClr val="13233A"/>
                </a:solidFill>
              </a:rPr>
              <a:t>[16] </a:t>
            </a:r>
            <a:r>
              <a:rPr sz="1000" b="0" i="0">
                <a:solidFill>
                  <a:srgbClr val="4A5568"/>
                </a:solidFill>
              </a:rPr>
              <a:t>M. A. Miner, “Cumulative damage in fatigue,” J. Appl. Mech., vol. 12, pp. A159–A164, 1945.  ·  ASTM E1049-85, Standard practices for cycle counting in fatigue analysis.</a:t>
            </a:r>
          </a:p>
        </p:txBody>
      </p:sp>
      <p:sp>
        <p:nvSpPr>
          <p:cNvPr id="11" name="Rounded Rectangle 10"/>
          <p:cNvSpPr/>
          <p:nvPr/>
        </p:nvSpPr>
        <p:spPr>
          <a:xfrm>
            <a:off x="609904" y="5440680"/>
            <a:ext cx="10972800" cy="777240"/>
          </a:xfrm>
          <a:prstGeom prst="roundRect">
            <a:avLst>
              <a:gd name="adj" fmla="val 10000"/>
            </a:avLst>
          </a:prstGeom>
          <a:solidFill>
            <a:srgbClr val="13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504" y="5440680"/>
            <a:ext cx="10515600" cy="777240"/>
          </a:xfrm>
          <a:prstGeom prst="rect">
            <a:avLst/>
          </a:prstGeom>
          <a:noFill/>
        </p:spPr>
        <p:txBody>
          <a:bodyPr wrap="square" lIns="27432" rIns="27432" tIns="27432" bIns="27432" anchor="ctr"/>
          <a:lstStyle/>
          <a:p>
            <a:pPr algn="l">
              <a:spcAft>
                <a:spcPts val="400"/>
              </a:spcAft>
            </a:pPr>
            <a:r>
              <a:rPr sz="1400" b="1" i="0">
                <a:solidFill>
                  <a:srgbClr val="E8A33D"/>
                </a:solidFill>
              </a:rPr>
              <a:t>Acknowledgements  </a:t>
            </a:r>
            <a:r>
              <a:rPr sz="1400" b="0" i="0">
                <a:solidFill>
                  <a:srgbClr val="FFFFFF"/>
                </a:solidFill>
              </a:rPr>
              <a:t>Supervisor Kuldeep Kumar · Department of Energy Engineering, IIT Guwahati · NASA POWER open data. </a:t>
            </a:r>
            <a:r>
              <a:rPr sz="1400" b="1" i="0">
                <a:solidFill>
                  <a:srgbClr val="E8A33D"/>
                </a:solidFill>
              </a:rPr>
              <a:t>Thank you — questions welcome.</a:t>
            </a:r>
          </a:p>
        </p:txBody>
      </p:sp>
    </p:spTree>
  </p:cSld>
  <p:clrMapOvr>
    <a:masterClrMapping/>
  </p:clrMapOvr>
</p:sld>
</file>

<file path=ppt/theme/theme1.xml><?xml version="1.0" encoding="utf-8"?>
<a:theme xmlns:a="http://schemas.openxmlformats.org/drawingml/2006/main" name="Hybrid Energy Storage Application in Microgrid — BTP Final Presentation">
  <a:themeElements>
    <a:clrScheme name="Hybrid Energy Storage Application in Microgrid — BTP Final Presentation">
      <a:dk1>
        <a:srgbClr val="13233A"/>
      </a:dk1>
      <a:lt1>
        <a:srgbClr val="FFFFFF"/>
      </a:lt1>
      <a:dk2>
        <a:srgbClr val="4E5A6B"/>
      </a:dk2>
      <a:lt2>
        <a:srgbClr val="E7E9EB"/>
      </a:lt2>
      <a:accent1>
        <a:srgbClr val="E8A33D"/>
      </a:accent1>
      <a:accent2>
        <a:srgbClr val="2E6F95"/>
      </a:accent2>
      <a:accent3>
        <a:srgbClr val="4A5568"/>
      </a:accent3>
      <a:accent4>
        <a:srgbClr val="5F6B78"/>
      </a:accent4>
      <a:accent5>
        <a:srgbClr val="D5DBE1"/>
      </a:accent5>
      <a:accent6>
        <a:srgbClr val="E4EAF0"/>
      </a:accent6>
      <a:hlink>
        <a:srgbClr val="0563C1"/>
      </a:hlink>
      <a:folHlink>
        <a:srgbClr val="954F72"/>
      </a:folHlink>
    </a:clrScheme>
    <a:fontScheme name="Hybrid Energy Storage Application in Microgrid — BTP Final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Energy Storage Application in Microgrid — BTP Final Presentation</dc:title>
  <dc:subject/>
  <dc:creator/>
  <cp:lastModifiedBy/>
  <cp:revision>1</cp:revision>
  <dcterms:created xsi:type="dcterms:W3CDTF">2026-10-29T05:39:17Z</dcterms:created>
  <dcterms:modified xsi:type="dcterms:W3CDTF">2026-10-29T05:39:17Z</dcterms:modified>
</cp:coreProperties>
</file>